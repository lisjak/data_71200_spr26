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78" r:id="rId3"/>
    <p:sldId id="280" r:id="rId4"/>
    <p:sldId id="281" r:id="rId5"/>
    <p:sldId id="282" r:id="rId6"/>
    <p:sldId id="284" r:id="rId7"/>
    <p:sldId id="285" r:id="rId8"/>
    <p:sldId id="286" r:id="rId9"/>
    <p:sldId id="288" r:id="rId10"/>
    <p:sldId id="289" r:id="rId11"/>
    <p:sldId id="290" r:id="rId12"/>
    <p:sldId id="291" r:id="rId13"/>
    <p:sldId id="292" r:id="rId14"/>
    <p:sldId id="293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191" d="100"/>
          <a:sy n="191" d="100"/>
        </p:scale>
        <p:origin x="208" y="1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7" d="100"/>
        <a:sy n="18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Typical Performance by Sample Size (stylized)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 ML</c:v>
                </c:pt>
              </c:strCache>
            </c:strRef>
          </c:tx>
          <c:spPr>
            <a:solidFill>
              <a:srgbClr val="2E6DAD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n=100</c:v>
                </c:pt>
                <c:pt idx="1">
                  <c:v>n=1K</c:v>
                </c:pt>
                <c:pt idx="2">
                  <c:v>n=10K</c:v>
                </c:pt>
                <c:pt idx="3">
                  <c:v>n=100K</c:v>
                </c:pt>
                <c:pt idx="4">
                  <c:v>n=1M+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82</c:v>
                </c:pt>
                <c:pt idx="2">
                  <c:v>84</c:v>
                </c:pt>
                <c:pt idx="3">
                  <c:v>85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35-C94A-B2D6-D463CEE6E9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Shallow NN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n=100</c:v>
                </c:pt>
                <c:pt idx="1">
                  <c:v>n=1K</c:v>
                </c:pt>
                <c:pt idx="2">
                  <c:v>n=10K</c:v>
                </c:pt>
                <c:pt idx="3">
                  <c:v>n=100K</c:v>
                </c:pt>
                <c:pt idx="4">
                  <c:v>n=1M+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</c:v>
                </c:pt>
                <c:pt idx="1">
                  <c:v>79</c:v>
                </c:pt>
                <c:pt idx="2">
                  <c:v>86</c:v>
                </c:pt>
                <c:pt idx="3">
                  <c:v>88</c:v>
                </c:pt>
                <c:pt idx="4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35-C94A-B2D6-D463CEE6E93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 NN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n=100</c:v>
                </c:pt>
                <c:pt idx="1">
                  <c:v>n=1K</c:v>
                </c:pt>
                <c:pt idx="2">
                  <c:v>n=10K</c:v>
                </c:pt>
                <c:pt idx="3">
                  <c:v>n=100K</c:v>
                </c:pt>
                <c:pt idx="4">
                  <c:v>n=1M+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72</c:v>
                </c:pt>
                <c:pt idx="2">
                  <c:v>85</c:v>
                </c:pt>
                <c:pt idx="3">
                  <c:v>91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35-C94A-B2D6-D463CEE6E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60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 vs.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Machine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514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Framework for Supervised,</a:t>
            </a:r>
            <a:endParaRPr lang="en-US" sz="1700" dirty="0"/>
          </a:p>
          <a:p>
            <a:pPr marL="0" indent="0" algn="l">
              <a:buNone/>
            </a:pPr>
            <a:r>
              <a:rPr lang="en-US" sz="17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Unsupervised, and Deep Learning Approaches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50292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Seminar in Applied Machine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Everson · CUNY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Concepts: Refresher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126187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inputs the model can actually learn from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96012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08760" y="240487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Learning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8072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the model discover its own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8046720" cy="96012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354787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 Tradeoff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95020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tension in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Feature Engineering?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art of transforming raw data into meaningful inputs for a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 rarely model-ready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243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decide what distinctions matter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369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features → better predictions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962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8313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is essential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977640" cy="379476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4813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child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sort fruit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83480" y="2304288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hand them each piece and say 'figure it out.' Or you could first point out: look at the color, feel the weight, check for a stem.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guidance is feature engineering.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in Practice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06040" cy="960120"/>
          </a:xfrm>
          <a:prstGeom prst="rect">
            <a:avLst/>
          </a:prstGeom>
          <a:solidFill>
            <a:srgbClr val="D1D5DB"/>
          </a:solidFill>
          <a:ln w="63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2024-03-15 Friday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2103120"/>
            <a:ext cx="0" cy="22860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2606040" cy="1645920"/>
          </a:xfrm>
          <a:prstGeom prst="rect">
            <a:avLst/>
          </a:prstGeom>
          <a:solidFill>
            <a:srgbClr val="0B3D91"/>
          </a:solidFill>
          <a:ln w="63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4871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770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Day of week = Friday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Is weekend = 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Days to holiday =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879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960120"/>
            <a:ext cx="2606040" cy="960120"/>
          </a:xfrm>
          <a:prstGeom prst="rect">
            <a:avLst/>
          </a:prstGeom>
          <a:solidFill>
            <a:srgbClr val="D1D5DB"/>
          </a:solidFill>
          <a:ln w="63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64992" y="1005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64992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175 cm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70 kg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103120"/>
            <a:ext cx="0" cy="22860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2103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2450592"/>
            <a:ext cx="2606040" cy="1645920"/>
          </a:xfrm>
          <a:prstGeom prst="rect">
            <a:avLst/>
          </a:prstGeom>
          <a:solidFill>
            <a:srgbClr val="0B3D91"/>
          </a:solidFill>
          <a:ln w="63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4992" y="24871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2770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BMI = 22.9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1638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Height-to-weight ratio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1879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measurements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960120"/>
            <a:ext cx="2606040" cy="960120"/>
          </a:xfrm>
          <a:prstGeom prst="rect">
            <a:avLst/>
          </a:prstGeom>
          <a:solidFill>
            <a:srgbClr val="D1D5DB"/>
          </a:solidFill>
          <a:ln w="63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99632" y="1005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9632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loved it!!"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2103120"/>
            <a:ext cx="0" cy="22860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2103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2450592"/>
            <a:ext cx="2606040" cy="1645920"/>
          </a:xfrm>
          <a:prstGeom prst="rect">
            <a:avLst/>
          </a:prstGeom>
          <a:solidFill>
            <a:srgbClr val="0B3D91"/>
          </a:solidFill>
          <a:ln w="6350">
            <a:solidFill>
              <a:srgbClr val="1E5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9632" y="24871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0" y="2770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Exclamation count =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316382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Sentiment = Positive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5570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Word count =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41879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only work with what you give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 Engineering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brilliant algorithm fed poor features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consistently lose to a modest algorithm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brilliant features."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2606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6118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noise; confuse the model; inflate computation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3017520"/>
            <a:ext cx="2606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3090672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6118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signal is absent; no algorithm can recover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017520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3090672"/>
            <a:ext cx="260604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61188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simple models generalize well; results are interpretable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Representational Learning?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humans deciding which features matter,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to build its own internal vocabulary for the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029200" cy="7315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2128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choose what to look for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029200" cy="7315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Learning: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discovers its own representations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06440" y="960120"/>
            <a:ext cx="3017520" cy="384048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1371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Sommelier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0" y="2212848"/>
            <a:ext cx="2788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sommelier has learned — through years of experience — which sensory signals actually predict quality.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can't fully explain how they know; they learned to represent wine in a rich internal language.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learning does the same.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Neural Networks Build Representations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2560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1371600" cy="256032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4520" y="1005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2286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011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66160" y="914400"/>
            <a:ext cx="1554480" cy="256032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1005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011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40680" y="914400"/>
            <a:ext cx="1645920" cy="256032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0" y="1005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2011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914400"/>
            <a:ext cx="1188720" cy="2560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2286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Cat, dog,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0D4F4A">
              <a:alpha val="85000"/>
            </a:srgbClr>
          </a:solidFill>
          <a:ln w="6350">
            <a:solidFill>
              <a:srgbClr val="0F6B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82219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Each layer builds richer, more abstract representations — and no human wrote these rules.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Representational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645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216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6184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learn to detect edges → textures → objects automatically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164592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73752" y="1216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73752" y="16184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learn semantic embeddings: words with similar meanings cluster together in vector space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977640" cy="164592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3090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Speech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34930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Spectrograms feed networks that learn phoneme representations without explicit rules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3977640" cy="1645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73752" y="3090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3752" y="349300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response patterns can reveal latent skill structures without pre-specified Q-matrices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of Error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3794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makes the same kind of mistake consistently — it has oversimplified the problem.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 analogy: shots always land off-center in the same direction.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model assumptions too rigid.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underfitting — bad on both training and new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3977640" cy="379476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38988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too sensitive to the exact training data — it learns the noise as well as the signal.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 analogy: shots scatter randomly all over the target.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model too complex.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overfitting — great on training data, poor on new data.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Bias &amp; Variance: The Archery Analogy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50392" y="1170432"/>
            <a:ext cx="1097280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3272" y="1389888"/>
            <a:ext cx="731520" cy="87782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16152" y="1609344"/>
            <a:ext cx="365760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1737360"/>
            <a:ext cx="146304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35024" y="176479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67942" y="17165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56970" y="1807037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96619" y="1782897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62456" y="17406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1170432"/>
            <a:ext cx="1097280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37560" y="1389888"/>
            <a:ext cx="731520" cy="87782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20440" y="1609344"/>
            <a:ext cx="365760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30168" y="1737360"/>
            <a:ext cx="146304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47288" y="155356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19856" y="1601846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0" y="153546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47288" y="1571671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0" y="1583741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1752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58968" y="1170432"/>
            <a:ext cx="1097280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41848" y="1389888"/>
            <a:ext cx="731520" cy="87782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24728" y="1609344"/>
            <a:ext cx="365760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34456" y="1737360"/>
            <a:ext cx="146304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90488" y="167426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35117" y="1933773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09437" y="20665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680253" y="1644091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64301" y="14871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21808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21808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63256" y="1170432"/>
            <a:ext cx="1097280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946136" y="1389888"/>
            <a:ext cx="731520" cy="877824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29016" y="1609344"/>
            <a:ext cx="365760" cy="43891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238744" y="1737360"/>
            <a:ext cx="146304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522208" y="1945843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01000" y="2018264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439912" y="146304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110728" y="147511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511235" y="1692372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626096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26096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dot = correct answer  ·  Colored dots = model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vs Overfitting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3749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Bias)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9933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Model is too simple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615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Missing real patterns in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323697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Performs poorly on training data too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858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Need a more complex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06040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143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5727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(Sweet Spot)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9933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Captures true signal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615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Generalizes to new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323697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Low training &amp; test error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3858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Validation error is minimized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06040" cy="37490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1143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15727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Variance)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19933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Model is too complex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2615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Memorized the training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323697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Great on training, poor on 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9632" y="3858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Need regularization or less complexity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Sweet Spot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7772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Simple models                Model complexity                Complex models 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960120"/>
            <a:ext cx="0" cy="35204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1772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3840480" cy="3063240"/>
          </a:xfrm>
          <a:prstGeom prst="rect">
            <a:avLst/>
          </a:prstGeom>
          <a:solidFill>
            <a:srgbClr val="DBEAFE">
              <a:alpha val="80000"/>
            </a:srgbClr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Zone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(Underfitting)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error:</a:t>
            </a: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
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error:</a:t>
            </a: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
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complexity, more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749040" cy="3063240"/>
          </a:xfrm>
          <a:prstGeom prst="rect">
            <a:avLst/>
          </a:prstGeom>
          <a:solidFill>
            <a:srgbClr val="FAE8FF">
              <a:alpha val="80000"/>
            </a:srgbClr>
          </a:solidFill>
          <a:ln w="635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Zone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(Overfitting)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error:</a:t>
            </a: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
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error:</a:t>
            </a: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
</a:t>
            </a: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Regularize, simplify, more data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Concepts Connect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2070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72768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what the model receives. High-quality features reduce the burden on the model — even simple models can generalize well when features are rich and relevant.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8046720" cy="1097280"/>
          </a:xfrm>
          <a:prstGeom prst="rect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Representational Learning: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feature discovery. Deep networks sidestep manual feature engineering by learning representations layer by layer — but they still face the bias–variance tradeoff.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8046720" cy="109728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712464"/>
            <a:ext cx="594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7307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 Tradeoff: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096512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every model, always. No matter how features were produced — manually or learned — the fundamental tension between underfitting and overfitting never disappears.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75488" cy="475488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what the model sees. Garbage in, garbage out — no algorithm can compensate for a bad feature set.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75488" cy="475488"/>
          </a:xfrm>
          <a:prstGeom prst="ellipse">
            <a:avLst/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can be learned. Deep networks sidestep manual feature design — but require large data and compute.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75488" cy="475488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0632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variance always trade off. The art of ML is finding the complexity sweet spot for your specific problem and dataset size.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475488" cy="47548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interact. Better features shift the bias–variance curve favorably; representational learning is itself subject to the tradeoff.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84048" cy="96012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ML Landscape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8013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of learning paradigms &amp; where neural nets fit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384048" cy="96012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28986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algorithms: regression, SVMs, decision trees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6118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384048" cy="96012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61188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39959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dimensionality reduction, density estimation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384048" cy="96012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4173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38928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38928" y="18013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forward pass, backpropagation, depth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384048" cy="96012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251460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8928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38928" y="28986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Bias-variance, data regimes, interpretability, compute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611880"/>
            <a:ext cx="384048" cy="96012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61188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38928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Guidance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39959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reach for which toolkit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Machine Learning Taxonomy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2432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624328" cy="438912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3500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X → 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classification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minimization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OLS, SVM, trees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417320"/>
            <a:ext cx="262432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18688" y="1417320"/>
            <a:ext cx="262432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18688" y="1417320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965960"/>
            <a:ext cx="23500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required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structure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reduction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/ manifold learning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K-Means, PCA, GMM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417320"/>
            <a:ext cx="262432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25896" y="1417320"/>
            <a:ext cx="2624328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25896" y="1417320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63056" y="1965960"/>
            <a:ext cx="235000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function composition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optimization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data &amp; compute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CNN, RNN, Transformer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Deep learning is a subset of neural networks, itself spanning supervised and unsupervised settings.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Learning: Foundations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663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554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f: X → Y minimizing expected risk E[L(f(x), y)]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762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176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for regression; cross-entropy for classification; hinge for SVM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9806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Algorithms: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798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Linear/logistic regression, decision trees, random forests, SVMs, kNN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19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4198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control is explicit (depth, regularization λ, kernel bandwidth)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0416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 Link: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40416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models are supervised: P(correct | θ, item params)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417320"/>
            <a:ext cx="3474720" cy="150876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Empirical Risk Minimization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f̂ = argmin_f  (1/n) Σᵢ L(f(xᵢ), yᵢ)  +  λ Ω(f)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fit term  ←                →  Regularizer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3063240"/>
            <a:ext cx="3474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3154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Snapshot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4930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44768" y="349300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Max-margin linear separator; kernel trick for nonlinearity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49240" y="390448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Trees/RF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39044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partitioning; ensemble via bagging + random features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49240" y="431596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Ridge/Lasso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43159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Penalized OLS; shrinkage toward zero or exact sparsity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Learning: Structure Without Labels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partition via Euclidean centroid assignment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Models: soft probabilistic membership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Hierarchical: agglomerative or divisive dendrograms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density-based, handles arbitrary shapes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6908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4173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Dimensionality Reduction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linear projection maximizing variance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Analysis: latent variable structure (psychometric workhorse)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UMAP: nonlinear neighborhood-preserving embeddings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Autoencoders: neural bottleneck = nonlinear PCA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 parallel: EFA ≈ factor analysis (unsupervised); IRT ≈ latent variable model (can be semi-supervised via EM)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 Architecture: Key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80260"/>
            <a:ext cx="347472" cy="347472"/>
          </a:xfrm>
          <a:prstGeom prst="ellipse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628900"/>
            <a:ext cx="347472" cy="347472"/>
          </a:xfrm>
          <a:prstGeom prst="ellipse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3177540"/>
            <a:ext cx="347472" cy="347472"/>
          </a:xfrm>
          <a:prstGeom prst="ellipse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3726180"/>
            <a:ext cx="347472" cy="347472"/>
          </a:xfrm>
          <a:prstGeom prst="ellipse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005840" y="2834640"/>
            <a:ext cx="137160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80594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235458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03120" y="290322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03120" y="345186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40005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20240" y="4480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2834640"/>
            <a:ext cx="137160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566160" y="180594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66160" y="235458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66160" y="290322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66160" y="345186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6160" y="40005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0" y="4480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31920" y="2834640"/>
            <a:ext cx="137160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180594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0" y="235458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0" y="290322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0" y="345186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0" y="40005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4480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0" y="2834640"/>
            <a:ext cx="137160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92240" y="26289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92240" y="317754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44805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9768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223760" y="1417320"/>
            <a:ext cx="1508760" cy="34747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23760" y="14813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Properties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69480" y="1920240"/>
            <a:ext cx="1417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Approximation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Representations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Training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Compositionality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via Backprop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662940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617720"/>
            <a:ext cx="6629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pass:  h⁽ˡ⁾ = σ( W⁽ˡ⁾ h⁽ˡ⁻¹⁾ + b⁽ˡ⁾ )   |   Loss: ℒ = (1/n) Σ L(ŷᵢ, yᵢ)   |   Update: θ ← θ − η ∇_θ ℒ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Backpropagation &amp;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206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206240" cy="34747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Chain Rule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Forward pass: compute activations layer by layer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scalar loss ℒ at output layer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Backward pass: apply chain rule recursively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E6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∂ℒ/∂W⁽ˡ⁾ = δ⁽ˡ⁾ (h⁽ˡ⁻¹⁾)ᵀ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 all weights simultaneously via SGD / Adam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O(n params) gradient, same cost as forward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3931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3931920" cy="347472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Landscape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019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19019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stochastic gradient; noisy but generalizes well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moving average of gradients; faster convergence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28529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285292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rates per parameter; dominant default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332841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332841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hyperparameter; schedules (cosine, warmup) matter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38039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380390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= variance–bias tradeoff in gradient estimates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427939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42793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weight decay, batch norm — all implicit or explicit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Architecture Families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658368" cy="1078992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508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Convolutional Neural Network · Images, spatial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61288" y="181965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sharing via learned filters; translation equivariance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587752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587752"/>
            <a:ext cx="65836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RNN/LSTM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" y="2679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Recurrent Networks · Sequences, time series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61288" y="299008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carries context across time steps; gating prevents vanishing gradient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758184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758184"/>
            <a:ext cx="65836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58184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61288" y="38496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Attention-Based Models · NLP, multimodal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61288" y="41605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O(n²) pairwise interactions; positional encoding; foundation of LLMs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658368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417320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VAE/GAN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1508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Models · Synthesis, density estimation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13248" y="181965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VAE: ELBO objective; GAN: minimax adversarial game; both are unsupervised NN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587752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587752"/>
            <a:ext cx="658368" cy="10789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2587752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26791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Neural Network · Social/citation networks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13248" y="299008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 over graph topology; generalizes CNN to irregular structures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58184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758184"/>
            <a:ext cx="658368" cy="10789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758184"/>
            <a:ext cx="6583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384962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Multilayer Perceptron · Tabular / general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13248" y="41605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connected; baseline for all structured data; universal approximator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Head-to-Head: Classical ML vs. Neural Networks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417320"/>
            <a:ext cx="1920240" cy="38404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417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48840" y="1417320"/>
            <a:ext cx="3200400" cy="384048"/>
          </a:xfrm>
          <a:prstGeom prst="rect">
            <a:avLst/>
          </a:prstGeom>
          <a:solidFill>
            <a:srgbClr val="2E6DAD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Supervised / Unsupervised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94960" y="1417320"/>
            <a:ext cx="32004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1801368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8013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1801368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94560" y="180136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with n &lt; 10,000; feature engineering critical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0" y="1801368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0680" y="180136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Shines at n &gt; 10⁵–10⁶; learns features automatically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203704"/>
            <a:ext cx="192024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22037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2203704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94560" y="22037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(trees, regression coefficients, factor loadings)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2203704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40680" y="22037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low; post-hoc methods (SHAP, LIME, attention) approximate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2606040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26060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606040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94560" y="260604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(linearity, kernel, tree depth)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94960" y="2606040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0680" y="260604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via architecture &amp; initialization; weaker, more flexible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2880" y="3008376"/>
            <a:ext cx="192024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" y="3008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3008376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194560" y="300837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via λ, depth, kernel — well-understood tradeoff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94960" y="3008376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40680" y="300837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Overparameterized regime; double-descent curve; less transparent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3410712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28600" y="34107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48840" y="3410712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194560" y="341071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 moderate; closed-form solutions exist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94960" y="3410712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40680" y="341071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(GPU/TPU); scales quadratically with attention; energy-intensive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82880" y="3813048"/>
            <a:ext cx="192024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8600" y="38130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48840" y="3813048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194560" y="381304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Few, interpretable (λ, C, k, bandwidth)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94960" y="3813048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40680" y="381304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Many; architecture search often needed; sensitive to lr &amp; batch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82880" y="4215384"/>
            <a:ext cx="19202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8600" y="4215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Guarantees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48840" y="4215384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194560" y="421538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bounds, VC dimension, convergence proofs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94960" y="4215384"/>
            <a:ext cx="32004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40680" y="421538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Emerging; generalization theory incomplete; empirically strong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82880" y="4617720"/>
            <a:ext cx="192024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28600" y="4617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 Fit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48840" y="4617720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194560" y="461772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IRT, CFA, LCA all classical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94960" y="4617720"/>
            <a:ext cx="3200400" cy="402336"/>
          </a:xfrm>
          <a:prstGeom prst="rect">
            <a:avLst/>
          </a:prstGeom>
          <a:solidFill>
            <a:srgbClr val="F4F7FB"/>
          </a:solidFill>
          <a:ln w="635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440680" y="461772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analysis, NLP scoring, automated essay scoring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Bias-Variance Tradeoff: Classical vs. Modern Regimes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931920" cy="384048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U-Curve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Bias² + Variance + Irreducible noise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Low-complexity model → high bias (underfitting)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High-complexity model → high variance (overfitting)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complexity at the valley of test error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(λ) explicitly navigates this curve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Well-validated in linear models, SVMs, shallow trees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psychometric model selection logic (AIC/BIC)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4206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14173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Double-Descent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can decrease again after interpolation threshold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Overparameterized NNs (params &gt;&gt; n) still generalize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regularization from SGD and architecture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overfitting: fit training data + generalize well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Belkin et al. (2019): classical + modern in one curve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bigger is often better for NNs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understanding still developing (NTK, mean-field)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 vs. Representation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0482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Pixels, tokens, item responses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49961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 + hand-crafted transformations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9961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Classical ML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logistic regression, random forest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0" y="29260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29626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Representation Learning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learn hierarchical features automatically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0" y="29260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29626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291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Transformer, MLP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06640" y="210312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213969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/ Output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246888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converge at task output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4251960"/>
            <a:ext cx="8321040" cy="6858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27939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NNs learn representations optimized for the task; classical ML requires representation to be specified before learning begins. This distinction drives most practical performance differences.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Interpretability: The Central Trade-Off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5146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Interpretable by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901952"/>
            <a:ext cx="229514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β̂ = (XᵀX)⁻¹Xᵀy — coefficients are effect sizes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log-odds linear in features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explicit IF–THEN rules, human readable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Lasso: β = 0 for irrelevant features (built-in selection)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 / IRT: latent dimensions have substantive meaning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inference: p-values, CIs, likelihood ratio tests available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25146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1417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Post-Hoc Approximations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72968" y="1901952"/>
            <a:ext cx="229514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Shapley values — local feature attributions, game-theoretic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LIME: local linear surrogate around any prediction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gradient-weighted class activation maps (vision)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weights: often cited but not reliably explanatory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classifiers: test what information layers encode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explanations are approximations, not ground truth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417320"/>
            <a:ext cx="2514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15000" y="1417320"/>
            <a:ext cx="2514600" cy="384048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15000" y="1417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 Constraints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24728" y="1901952"/>
            <a:ext cx="229514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NNs: enforce direction of effect (e.g., scoring rubrics)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Bottleneck Models: intermediate human-interpretable concepts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additive models: sum of shape functions (≈ GAM for NNs)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toward sparsity (L1, group lasso in NNs)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distillation: compress NN into interpretable surrogate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research area; no universal solution yet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Regimes: When Each Approach Wins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4173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41732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2834640" cy="38404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97880" y="14173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Rules of Thumb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61888" y="1901952"/>
            <a:ext cx="685800" cy="45720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61888" y="19019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1K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93408" y="1901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ML; logistic regression as baseline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61888" y="2450592"/>
            <a:ext cx="6858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61888" y="24505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1K–10K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93408" y="2450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XGBoost; try shallow NN with heavy regularization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61888" y="2999232"/>
            <a:ext cx="685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61888" y="29992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10K–100K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693408" y="2999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NNs competitive; architecture matters; use cross-validation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61888" y="3547872"/>
            <a:ext cx="6858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61888" y="35478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693408" y="35478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NNs dominate unstructured data (images, text, audio)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61888" y="4096512"/>
            <a:ext cx="685800" cy="45720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61888" y="40965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93408" y="4096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still competitive even at large n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Connections to Psychometrics &amp; Measurement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09728" cy="54864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Response Theory (IRT)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51760" y="1417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6D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6324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 / Supervised ML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8348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estimate P(correct | θ); IRT adds latent variable structure. 2PL is a single sigmoid unit.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832104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011680"/>
            <a:ext cx="10972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Analysis / CFA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324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Autoencoders / VAE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find low-dimensional representations of high-dimensional response data. FA = linear VAE with Gaussian priors.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60604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10972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606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Latent Class Analysis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26060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63240" y="2606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Mixture Models / Clustering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generalizes LCA to continuous latent variables. K-Means ≈ hard LCA assignment.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832104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200400"/>
            <a:ext cx="10972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Plausible Values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51760" y="3200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063240" y="32004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Posterior Predictive Draws / Bayesian NN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8348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propagate measurement uncertainty into downstream estimation rather than treating point estimates as observed.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9476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794760"/>
            <a:ext cx="109728" cy="54864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Essay Scoring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51760" y="3794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E18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063240" y="3794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/ BERT Fine-tuning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art AES systems (e-rater → BERT) represent the direct application of deep NLP to constructed response scoring.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4389120"/>
            <a:ext cx="832104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1480" y="4389120"/>
            <a:ext cx="109728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4389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Data / Log Analysis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51760" y="4389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06324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RNN / Sequence Models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83480" y="4389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Clickstream, keystroke, and action sequences in digital assessments are natural inputs for recurrent architectures.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Decision Framework: Which Toolkit?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0" y="141732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0" y="1417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data labeled?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965960"/>
            <a:ext cx="0" cy="18288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993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0" cy="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1691640"/>
            <a:ext cx="0" cy="45720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2148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&gt; 50K?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697480"/>
            <a:ext cx="0" cy="18288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743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2423160"/>
            <a:ext cx="0" cy="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2423160"/>
            <a:ext cx="0" cy="45720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" y="28803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(CNN/Transformer)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2743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2423160"/>
            <a:ext cx="0" cy="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834640" y="2423160"/>
            <a:ext cx="0" cy="45720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148840" y="28803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4884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 / 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Reg. Logistic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19933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0" y="1691640"/>
            <a:ext cx="731520" cy="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1691640"/>
            <a:ext cx="0" cy="45720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03520" y="2148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035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697480"/>
            <a:ext cx="0" cy="18288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0" y="2743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03520" y="2423160"/>
            <a:ext cx="0" cy="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2423160"/>
            <a:ext cx="0" cy="45720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0" y="28803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/ FA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/ LCA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2743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98080" y="2423160"/>
            <a:ext cx="365760" cy="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863840" y="2423160"/>
            <a:ext cx="0" cy="457200"/>
          </a:xfrm>
          <a:prstGeom prst="line">
            <a:avLst/>
          </a:prstGeom>
          <a:noFill/>
          <a:ln w="12700">
            <a:solidFill>
              <a:srgbClr val="6C7A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040880" y="28803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4088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VAE / GAN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Autoencoder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526280"/>
            <a:ext cx="8321040" cy="41148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5445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a simple baseline (linear/logistic regression). Complexity is only justified by measurable improvement on held-out data.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Learning &amp; Foundation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09728" cy="658368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Transfer Learning?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84708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a large model on massive data (e.g., GPT on 570GB text, ViT on ImageNet-21K). Fine-tune on small domain-specific dataset. Bypasses the data requirements of training from scratch.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0972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 vs. Classical 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requires task-specific features from scratch. Transfer learning provides a strong prior from the pre-trained representation. This fundamentally changes the small-data regime — NNs can now win with n &lt; 1K when fine-tuning.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0972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Implications for Educational Measurement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37216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BERT/RoBERTa for AES and constructed response; GPT-class models for content generation and adaptive feedback; embeddings as feature vectors for downstream psychometric models; CLIP for multimodal assessment content.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Pitfalls &amp; Misconceptions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02920" cy="10789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NNs Always Win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81965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underperforms classical methods on small tabular datasets. Random forests and gradient boosting (XGBoost) routinely beat NNs on structured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587752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587752"/>
            <a:ext cx="502920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5877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6791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Data = More Depth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99008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should match problem structure, not just data volume. Throwing depth at a linear relationship introduces optimization difficulty without benefit.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758184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758184"/>
            <a:ext cx="502920" cy="1078992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5818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8496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= Test Set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41605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on the validation set induces overfitting to it. Use nested CV or a held-out test set never seen during model selection.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17320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50292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14173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57800" y="15087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Explains the Model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181965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explain the model's behavior, not the data-generating process. Model explanations and causal inference are fundamentally different tasks.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587752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2587752"/>
            <a:ext cx="50292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25877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26791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Accuracy = Valid Model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57800" y="299008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not validity. Models can achieve high accuracy via spurious correlations (shortcut learning). This is especially acute in educational and psychological measurement.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58184"/>
            <a:ext cx="40690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758184"/>
            <a:ext cx="502920" cy="10789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758184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57800" y="38496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= No Assumptions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57800" y="41605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and dimensionality reduction embed strong assumptions (distance metric, k, manifold). These choices are consequential and should be theoretically justified.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Problems &amp; Active Research Directions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0972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Theoretical Foundations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81965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bounds for overparameterized models; NTK and mean-field theory; understanding implicit regularization of SGD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60604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10972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" y="2697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Causality × 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" y="300837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Pearl's do-calculus vs. correlation-based prediction; causal representation learning; do NNs learn causal features or shortcuts?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79476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794760"/>
            <a:ext cx="10972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3886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Fairness &amp; Bias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" y="419709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vs. equalized odds trade-off; disparate impact of automated systems in hiring, admissions, and assessment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10972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Data-Efficient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181965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/ zero-shot via meta-learning; in-context learning in LLMs; sample complexity of fine-tuning large models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606040"/>
            <a:ext cx="10972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2697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300837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shift, adversarial examples, covariate shift; NNs brittle under small perturbations; classical models often more robust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794760"/>
            <a:ext cx="10972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38862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Neuro-Symbolic AI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419709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differentiable NNs with symbolic/logical reasoning; structured world models; constraint-satisfying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Readings &amp; References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09728" cy="1143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Foundational Texts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Bishop, C.M. (2006). Pattern Recognition and Machine Learning. Springer.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 [deeplearningbook.org]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Hastie, T., Tibshirani, R., &amp; Friedman, J. (2009). Elements of Statistical Learning (2nd ed.). Springer.</a:t>
            </a:r>
            <a:endParaRPr lang="en-US" sz="950" dirty="0">
              <a:highlight>
                <a:srgbClr val="FFFF00"/>
              </a:highlight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651760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109728" cy="1143000"/>
          </a:xfrm>
          <a:prstGeom prst="rect">
            <a:avLst/>
          </a:prstGeom>
          <a:solidFill>
            <a:srgbClr val="2E6DAD"/>
          </a:solidFill>
          <a:ln w="12700">
            <a:solidFill>
              <a:srgbClr val="2E6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D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Papers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Rumelhart, Hinton &amp; Williams (1986). Learning representations by back-propagating errors. Nature.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Belkin et al. (2019). Reconciling modern machine-learning practice and the classical bias-variance trade-off. PNAS.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(2017). Attention is all you need. NeurIPS. [Transformer architecture]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886200"/>
            <a:ext cx="10972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 &amp;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Mislevy, R.J. (2018). Sociocognitive Foundations of Educational Measurement. Routledge.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Davier, M. &amp; Mislevy, R.J. (Eds.) (2023). Computational Psychometrics. Springer.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Settles, B. et al. (2020). Machine learning–driven language assessment. TACL.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91056"/>
            <a:ext cx="32918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double-descent phenomenon, how should we think about model selection in educational measurement contexts where n is typically small?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32918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231136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for a neural network to "learn a representation"? How does this compare to the latent variable framework in psychometrics?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71216"/>
            <a:ext cx="32918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71216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interpretability a scientific requirement vs. a practical preference? What are the stakes in high-stakes testing contexts?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11296"/>
            <a:ext cx="32918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dramatically changes the small-data calculus. Should psychometricians adopt pre-trained language models as standard tools for constructed-response scoring?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151376"/>
            <a:ext cx="32918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151376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11480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coherent notion of "validity" (in the Messick/Kane sense) for a neural scoring system? What evidence would an argument-based validity chain require?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321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supervised &amp; unsupervised methods remain powerful, interpretable, and data-efficient baselines — never skip them.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learn hierarchical representations end-to-end; their advantage is structural, not just parametric.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bias-variance framework applies to both, but the modern overparameterized regime introduces the double-descent phenomenon.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volume, interpretability requirements, compute constraints, and domain structure jointly determine the appropriate toolkit.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Psychometrics and ML share deep conceptual foundations (latent variables, loss minimization, generalization) — bridging them is productive.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educational measurement, validity, fairness, and uncertainty quantification are non-negotiable requirements for any model.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4663440"/>
            <a:ext cx="50292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Advanced Data Analytic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3595</Words>
  <Application>Microsoft Macintosh PowerPoint</Application>
  <PresentationFormat>On-screen Show (16:9)</PresentationFormat>
  <Paragraphs>584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 vs. Classical ML: A Comparative Framework</dc:title>
  <dc:subject>PptxGenJS Presentation</dc:subject>
  <dc:creator>PptxGenJS</dc:creator>
  <cp:lastModifiedBy>Howard Everson</cp:lastModifiedBy>
  <cp:revision>5</cp:revision>
  <cp:lastPrinted>2026-05-14T18:57:01Z</cp:lastPrinted>
  <dcterms:created xsi:type="dcterms:W3CDTF">2026-05-12T21:23:00Z</dcterms:created>
  <dcterms:modified xsi:type="dcterms:W3CDTF">2026-05-14T19:37:16Z</dcterms:modified>
</cp:coreProperties>
</file>