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034"/>
    <p:restoredTop sz="94610"/>
  </p:normalViewPr>
  <p:slideViewPr>
    <p:cSldViewPr snapToGrid="0" snapToObjects="1">
      <p:cViewPr varScale="1">
        <p:scale>
          <a:sx n="253" d="100"/>
          <a:sy n="253" d="100"/>
        </p:scale>
        <p:origin x="1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F4E"/>
                </a:solidFill>
                <a:latin typeface="Arial"/>
              </a:defRPr>
            </a:pPr>
            <a:r>
              <a:rPr lang="en-US" sz="1200" b="0" i="0" u="none" strike="noStrike">
                <a:solidFill>
                  <a:srgbClr val="1B2F4E"/>
                </a:solidFill>
                <a:latin typeface="Arial"/>
              </a:rPr>
              <a:t>CI Width: OLS vs. BCa Bootstrap</a:t>
            </a:r>
          </a:p>
        </c:rich>
      </c:tx>
      <c:overlay val="0"/>
    </c:title>
    <c:autoTitleDeleted val="0"/>
    <c:plotArea>
      <c:layout/>
      <c:barChart>
        <c:barDir val="col"/>
        <c:grouping val="clustered"/>
        <c:varyColors val="0"/>
        <c:ser>
          <c:idx val="0"/>
          <c:order val="0"/>
          <c:tx>
            <c:strRef>
              <c:f>Sheet1!$B$1</c:f>
              <c:strCache>
                <c:ptCount val="1"/>
                <c:pt idx="0">
                  <c:v>OLS CI Width</c:v>
                </c:pt>
              </c:strCache>
            </c:strRef>
          </c:tx>
          <c:spPr>
            <a:solidFill>
              <a:srgbClr val="0D6E8C"/>
            </a:solidFill>
            <a:effectLst/>
          </c:spPr>
          <c:invertIfNegative val="0"/>
          <c:cat>
            <c:strRef>
              <c:f>Sheet1!$A$2:$A$5</c:f>
              <c:strCache>
                <c:ptCount val="4"/>
                <c:pt idx="0">
                  <c:v>SES</c:v>
                </c:pt>
                <c:pt idx="1">
                  <c:v>Prior Score</c:v>
                </c:pt>
                <c:pt idx="2">
                  <c:v>Instr. Quality</c:v>
                </c:pt>
                <c:pt idx="3">
                  <c:v>Class Size</c:v>
                </c:pt>
              </c:strCache>
            </c:strRef>
          </c:cat>
          <c:val>
            <c:numRef>
              <c:f>Sheet1!$B$2:$B$5</c:f>
              <c:numCache>
                <c:formatCode>General</c:formatCode>
                <c:ptCount val="4"/>
                <c:pt idx="0">
                  <c:v>0.26</c:v>
                </c:pt>
                <c:pt idx="1">
                  <c:v>0.24</c:v>
                </c:pt>
                <c:pt idx="2">
                  <c:v>0.3</c:v>
                </c:pt>
                <c:pt idx="3">
                  <c:v>0.24</c:v>
                </c:pt>
              </c:numCache>
            </c:numRef>
          </c:val>
          <c:extLst>
            <c:ext xmlns:c16="http://schemas.microsoft.com/office/drawing/2014/chart" uri="{C3380CC4-5D6E-409C-BE32-E72D297353CC}">
              <c16:uniqueId val="{00000000-9C86-A94F-94BC-2B4EDA032369}"/>
            </c:ext>
          </c:extLst>
        </c:ser>
        <c:ser>
          <c:idx val="1"/>
          <c:order val="1"/>
          <c:tx>
            <c:strRef>
              <c:f>Sheet1!$C$1</c:f>
              <c:strCache>
                <c:ptCount val="1"/>
                <c:pt idx="0">
                  <c:v>BCa CI Width</c:v>
                </c:pt>
              </c:strCache>
            </c:strRef>
          </c:tx>
          <c:spPr>
            <a:solidFill>
              <a:srgbClr val="E8A020"/>
            </a:solidFill>
            <a:effectLst/>
          </c:spPr>
          <c:invertIfNegative val="0"/>
          <c:cat>
            <c:strRef>
              <c:f>Sheet1!$A$2:$A$5</c:f>
              <c:strCache>
                <c:ptCount val="4"/>
                <c:pt idx="0">
                  <c:v>SES</c:v>
                </c:pt>
                <c:pt idx="1">
                  <c:v>Prior Score</c:v>
                </c:pt>
                <c:pt idx="2">
                  <c:v>Instr. Quality</c:v>
                </c:pt>
                <c:pt idx="3">
                  <c:v>Class Size</c:v>
                </c:pt>
              </c:strCache>
            </c:strRef>
          </c:cat>
          <c:val>
            <c:numRef>
              <c:f>Sheet1!$C$2:$C$5</c:f>
              <c:numCache>
                <c:formatCode>General</c:formatCode>
                <c:ptCount val="4"/>
                <c:pt idx="0">
                  <c:v>0.27</c:v>
                </c:pt>
                <c:pt idx="1">
                  <c:v>0.23</c:v>
                </c:pt>
                <c:pt idx="2">
                  <c:v>0.35</c:v>
                </c:pt>
                <c:pt idx="3">
                  <c:v>0.28000000000000003</c:v>
                </c:pt>
              </c:numCache>
            </c:numRef>
          </c:val>
          <c:extLst>
            <c:ext xmlns:c16="http://schemas.microsoft.com/office/drawing/2014/chart" uri="{C3380CC4-5D6E-409C-BE32-E72D297353CC}">
              <c16:uniqueId val="{00000001-9C86-A94F-94BC-2B4EDA03236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2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4F8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094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F4E"/>
        </a:solidFill>
        <a:effectLst/>
      </p:bgPr>
    </p:bg>
    <p:spTree>
      <p:nvGrpSpPr>
        <p:cNvPr id="1" name=""/>
        <p:cNvGrpSpPr/>
        <p:nvPr/>
      </p:nvGrpSpPr>
      <p:grpSpPr>
        <a:xfrm>
          <a:off x="0" y="0"/>
          <a:ext cx="0" cy="0"/>
          <a:chOff x="0" y="0"/>
          <a:chExt cx="0" cy="0"/>
        </a:xfrm>
      </p:grpSpPr>
      <p:sp>
        <p:nvSpPr>
          <p:cNvPr id="2" name="Shape 0"/>
          <p:cNvSpPr/>
          <p:nvPr/>
        </p:nvSpPr>
        <p:spPr>
          <a:xfrm>
            <a:off x="5943600" y="-1097280"/>
            <a:ext cx="4572000" cy="4572000"/>
          </a:xfrm>
          <a:prstGeom prst="ellipse">
            <a:avLst/>
          </a:prstGeom>
          <a:solidFill>
            <a:srgbClr val="0D6E8C">
              <a:alpha val="25000"/>
            </a:srgbClr>
          </a:solidFill>
          <a:ln w="12700">
            <a:solidFill>
              <a:srgbClr val="0D6E8C">
                <a:alpha val="25000"/>
              </a:srgbClr>
            </a:solidFill>
            <a:prstDash val="solid"/>
          </a:ln>
        </p:spPr>
        <p:txBody>
          <a:bodyPr/>
          <a:lstStyle/>
          <a:p>
            <a:endParaRPr lang="en-US"/>
          </a:p>
        </p:txBody>
      </p:sp>
      <p:sp>
        <p:nvSpPr>
          <p:cNvPr id="3" name="Shape 1"/>
          <p:cNvSpPr/>
          <p:nvPr/>
        </p:nvSpPr>
        <p:spPr>
          <a:xfrm>
            <a:off x="7315200" y="2286000"/>
            <a:ext cx="2743200" cy="2743200"/>
          </a:xfrm>
          <a:prstGeom prst="ellipse">
            <a:avLst/>
          </a:prstGeom>
          <a:solidFill>
            <a:srgbClr val="2EB8B0">
              <a:alpha val="20000"/>
            </a:srgbClr>
          </a:solidFill>
          <a:ln w="12700">
            <a:solidFill>
              <a:srgbClr val="2EB8B0">
                <a:alpha val="20000"/>
              </a:srgbClr>
            </a:solidFill>
            <a:prstDash val="solid"/>
          </a:ln>
        </p:spPr>
        <p:txBody>
          <a:bodyPr/>
          <a:lstStyle/>
          <a:p>
            <a:endParaRPr lang="en-US"/>
          </a:p>
        </p:txBody>
      </p:sp>
      <p:sp>
        <p:nvSpPr>
          <p:cNvPr id="4" name="Shape 2"/>
          <p:cNvSpPr/>
          <p:nvPr/>
        </p:nvSpPr>
        <p:spPr>
          <a:xfrm>
            <a:off x="0" y="0"/>
            <a:ext cx="164592" cy="5143500"/>
          </a:xfrm>
          <a:prstGeom prst="rect">
            <a:avLst/>
          </a:prstGeom>
          <a:solidFill>
            <a:srgbClr val="2EB8B0"/>
          </a:solidFill>
          <a:ln w="12700">
            <a:solidFill>
              <a:srgbClr val="2EB8B0"/>
            </a:solidFill>
            <a:prstDash val="solid"/>
          </a:ln>
        </p:spPr>
        <p:txBody>
          <a:bodyPr/>
          <a:lstStyle/>
          <a:p>
            <a:endParaRPr lang="en-US"/>
          </a:p>
        </p:txBody>
      </p:sp>
      <p:sp>
        <p:nvSpPr>
          <p:cNvPr id="5" name="Text 3"/>
          <p:cNvSpPr/>
          <p:nvPr/>
        </p:nvSpPr>
        <p:spPr>
          <a:xfrm>
            <a:off x="411480" y="548640"/>
            <a:ext cx="7772400" cy="320040"/>
          </a:xfrm>
          <a:prstGeom prst="rect">
            <a:avLst/>
          </a:prstGeom>
          <a:noFill/>
          <a:ln/>
        </p:spPr>
        <p:txBody>
          <a:bodyPr wrap="square" lIns="0" tIns="0" rIns="0" bIns="0" rtlCol="0" anchor="ctr"/>
          <a:lstStyle/>
          <a:p>
            <a:pPr marL="0" indent="0">
              <a:buNone/>
            </a:pPr>
            <a:r>
              <a:rPr lang="en-US" sz="1100" b="1" kern="0" spc="300" dirty="0">
                <a:solidFill>
                  <a:srgbClr val="A8D5E2"/>
                </a:solidFill>
                <a:latin typeface="Calibri" pitchFamily="34" charset="0"/>
                <a:ea typeface="Calibri" pitchFamily="34" charset="-122"/>
                <a:cs typeface="Calibri" pitchFamily="34" charset="-120"/>
              </a:rPr>
              <a:t>GRADUATE STATISTICS SERIES</a:t>
            </a:r>
            <a:endParaRPr lang="en-US" sz="1100" dirty="0"/>
          </a:p>
        </p:txBody>
      </p:sp>
      <p:sp>
        <p:nvSpPr>
          <p:cNvPr id="6" name="Text 4"/>
          <p:cNvSpPr/>
          <p:nvPr/>
        </p:nvSpPr>
        <p:spPr>
          <a:xfrm>
            <a:off x="411480" y="1097280"/>
            <a:ext cx="8229600" cy="1005840"/>
          </a:xfrm>
          <a:prstGeom prst="rect">
            <a:avLst/>
          </a:prstGeom>
          <a:noFill/>
          <a:ln/>
        </p:spPr>
        <p:txBody>
          <a:bodyPr wrap="square" lIns="0" tIns="0" rIns="0" bIns="0"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The Bootstrap</a:t>
            </a:r>
            <a:endParaRPr lang="en-US" sz="5200" dirty="0"/>
          </a:p>
        </p:txBody>
      </p:sp>
      <p:sp>
        <p:nvSpPr>
          <p:cNvPr id="7" name="Text 5"/>
          <p:cNvSpPr/>
          <p:nvPr/>
        </p:nvSpPr>
        <p:spPr>
          <a:xfrm>
            <a:off x="411480" y="1965960"/>
            <a:ext cx="8229600" cy="914400"/>
          </a:xfrm>
          <a:prstGeom prst="rect">
            <a:avLst/>
          </a:prstGeom>
          <a:noFill/>
          <a:ln/>
        </p:spPr>
        <p:txBody>
          <a:bodyPr wrap="square" lIns="0" tIns="0" rIns="0" bIns="0" rtlCol="0" anchor="ctr"/>
          <a:lstStyle/>
          <a:p>
            <a:pPr marL="0" indent="0">
              <a:buNone/>
            </a:pPr>
            <a:r>
              <a:rPr lang="en-US" sz="5200" b="1" dirty="0">
                <a:solidFill>
                  <a:srgbClr val="2EB8B0"/>
                </a:solidFill>
                <a:latin typeface="Georgia" pitchFamily="34" charset="0"/>
                <a:ea typeface="Georgia" pitchFamily="34" charset="-122"/>
                <a:cs typeface="Georgia" pitchFamily="34" charset="-120"/>
              </a:rPr>
              <a:t>Method</a:t>
            </a:r>
            <a:endParaRPr lang="en-US" sz="5200" dirty="0"/>
          </a:p>
        </p:txBody>
      </p:sp>
      <p:sp>
        <p:nvSpPr>
          <p:cNvPr id="8" name="Text 6"/>
          <p:cNvSpPr/>
          <p:nvPr/>
        </p:nvSpPr>
        <p:spPr>
          <a:xfrm>
            <a:off x="411480" y="3017520"/>
            <a:ext cx="7772400" cy="457200"/>
          </a:xfrm>
          <a:prstGeom prst="rect">
            <a:avLst/>
          </a:prstGeom>
          <a:noFill/>
          <a:ln/>
        </p:spPr>
        <p:txBody>
          <a:bodyPr wrap="square" lIns="0" tIns="0" rIns="0" bIns="0" rtlCol="0" anchor="ctr"/>
          <a:lstStyle/>
          <a:p>
            <a:pPr marL="0" indent="0">
              <a:buNone/>
            </a:pPr>
            <a:r>
              <a:rPr lang="en-US" sz="1700" i="1" dirty="0">
                <a:solidFill>
                  <a:srgbClr val="A8D5E2"/>
                </a:solidFill>
                <a:latin typeface="Calibri" pitchFamily="34" charset="0"/>
                <a:ea typeface="Calibri" pitchFamily="34" charset="-122"/>
                <a:cs typeface="Calibri" pitchFamily="34" charset="-120"/>
              </a:rPr>
              <a:t>Resampling, Inference, and Contemporary Applications</a:t>
            </a:r>
            <a:endParaRPr lang="en-US" sz="1700" dirty="0"/>
          </a:p>
        </p:txBody>
      </p:sp>
      <p:sp>
        <p:nvSpPr>
          <p:cNvPr id="9" name="Shape 7"/>
          <p:cNvSpPr/>
          <p:nvPr/>
        </p:nvSpPr>
        <p:spPr>
          <a:xfrm>
            <a:off x="0" y="4526280"/>
            <a:ext cx="9144000" cy="617220"/>
          </a:xfrm>
          <a:prstGeom prst="rect">
            <a:avLst/>
          </a:prstGeom>
          <a:solidFill>
            <a:srgbClr val="0D6E8C">
              <a:alpha val="70000"/>
            </a:srgbClr>
          </a:solidFill>
          <a:ln w="12700">
            <a:solidFill>
              <a:srgbClr val="0D6E8C">
                <a:alpha val="70000"/>
              </a:srgbClr>
            </a:solidFill>
            <a:prstDash val="solid"/>
          </a:ln>
        </p:spPr>
        <p:txBody>
          <a:bodyPr/>
          <a:lstStyle/>
          <a:p>
            <a:endParaRPr lang="en-US"/>
          </a:p>
        </p:txBody>
      </p:sp>
      <p:sp>
        <p:nvSpPr>
          <p:cNvPr id="10" name="Text 8"/>
          <p:cNvSpPr/>
          <p:nvPr/>
        </p:nvSpPr>
        <p:spPr>
          <a:xfrm>
            <a:off x="411480" y="4572000"/>
            <a:ext cx="841248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Howard T. Everson  |  CUNY  |  Graduate Methods in Educational Measurement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Learning Objectives</a:t>
            </a:r>
            <a:endParaRPr lang="en-US" sz="2600" dirty="0"/>
          </a:p>
        </p:txBody>
      </p:sp>
      <p:sp>
        <p:nvSpPr>
          <p:cNvPr id="4" name="Shape 2"/>
          <p:cNvSpPr/>
          <p:nvPr/>
        </p:nvSpPr>
        <p:spPr>
          <a:xfrm>
            <a:off x="365760" y="1051560"/>
            <a:ext cx="8412480" cy="658368"/>
          </a:xfrm>
          <a:prstGeom prst="rect">
            <a:avLst/>
          </a:prstGeom>
          <a:solidFill>
            <a:srgbClr val="FFFFFF"/>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502920" y="1161288"/>
            <a:ext cx="438912" cy="438912"/>
          </a:xfrm>
          <a:prstGeom prst="ellipse">
            <a:avLst/>
          </a:prstGeom>
          <a:solidFill>
            <a:srgbClr val="0D6E8C"/>
          </a:solidFill>
          <a:ln w="12700">
            <a:solidFill>
              <a:srgbClr val="0D6E8C"/>
            </a:solidFill>
            <a:prstDash val="solid"/>
          </a:ln>
        </p:spPr>
        <p:txBody>
          <a:bodyPr/>
          <a:lstStyle/>
          <a:p>
            <a:endParaRPr lang="en-US"/>
          </a:p>
        </p:txBody>
      </p:sp>
      <p:sp>
        <p:nvSpPr>
          <p:cNvPr id="6" name="Text 4"/>
          <p:cNvSpPr/>
          <p:nvPr/>
        </p:nvSpPr>
        <p:spPr>
          <a:xfrm>
            <a:off x="502920" y="11612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51560" y="1143000"/>
            <a:ext cx="7498080" cy="475488"/>
          </a:xfrm>
          <a:prstGeom prst="rect">
            <a:avLst/>
          </a:prstGeom>
          <a:noFill/>
          <a:ln/>
        </p:spPr>
        <p:txBody>
          <a:bodyPr wrap="square" lIns="0" tIns="0" rIns="0" bIns="0" rtlCol="0" anchor="ctr"/>
          <a:lstStyle/>
          <a:p>
            <a:pPr marL="0" indent="0">
              <a:buNone/>
            </a:pPr>
            <a:r>
              <a:rPr lang="en-US" sz="1400" dirty="0">
                <a:solidFill>
                  <a:srgbClr val="1B2F4E"/>
                </a:solidFill>
                <a:latin typeface="Calibri" pitchFamily="34" charset="0"/>
                <a:ea typeface="Calibri" pitchFamily="34" charset="-122"/>
                <a:cs typeface="Calibri" pitchFamily="34" charset="-120"/>
              </a:rPr>
              <a:t>Explain the conceptual logic of bootstrap resampling and why it works</a:t>
            </a:r>
            <a:endParaRPr lang="en-US" sz="1400" dirty="0"/>
          </a:p>
        </p:txBody>
      </p:sp>
      <p:sp>
        <p:nvSpPr>
          <p:cNvPr id="8" name="Shape 6"/>
          <p:cNvSpPr/>
          <p:nvPr/>
        </p:nvSpPr>
        <p:spPr>
          <a:xfrm>
            <a:off x="365760" y="1828800"/>
            <a:ext cx="8412480" cy="658368"/>
          </a:xfrm>
          <a:prstGeom prst="rect">
            <a:avLst/>
          </a:prstGeom>
          <a:solidFill>
            <a:srgbClr val="FFFFFF"/>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502920" y="1938528"/>
            <a:ext cx="438912" cy="438912"/>
          </a:xfrm>
          <a:prstGeom prst="ellipse">
            <a:avLst/>
          </a:prstGeom>
          <a:solidFill>
            <a:srgbClr val="2EB8B0"/>
          </a:solidFill>
          <a:ln w="12700">
            <a:solidFill>
              <a:srgbClr val="2EB8B0"/>
            </a:solidFill>
            <a:prstDash val="solid"/>
          </a:ln>
        </p:spPr>
        <p:txBody>
          <a:bodyPr/>
          <a:lstStyle/>
          <a:p>
            <a:endParaRPr lang="en-US"/>
          </a:p>
        </p:txBody>
      </p:sp>
      <p:sp>
        <p:nvSpPr>
          <p:cNvPr id="10" name="Text 8"/>
          <p:cNvSpPr/>
          <p:nvPr/>
        </p:nvSpPr>
        <p:spPr>
          <a:xfrm>
            <a:off x="502920" y="193852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051560" y="1920240"/>
            <a:ext cx="7498080" cy="475488"/>
          </a:xfrm>
          <a:prstGeom prst="rect">
            <a:avLst/>
          </a:prstGeom>
          <a:noFill/>
          <a:ln/>
        </p:spPr>
        <p:txBody>
          <a:bodyPr wrap="square" lIns="0" tIns="0" rIns="0" bIns="0" rtlCol="0" anchor="ctr"/>
          <a:lstStyle/>
          <a:p>
            <a:pPr marL="0" indent="0">
              <a:buNone/>
            </a:pPr>
            <a:r>
              <a:rPr lang="en-US" sz="1400" dirty="0">
                <a:solidFill>
                  <a:srgbClr val="1B2F4E"/>
                </a:solidFill>
                <a:latin typeface="Calibri" pitchFamily="34" charset="0"/>
                <a:ea typeface="Calibri" pitchFamily="34" charset="-122"/>
                <a:cs typeface="Calibri" pitchFamily="34" charset="-120"/>
              </a:rPr>
              <a:t>Distinguish between parametric and non-parametric bootstrap procedures</a:t>
            </a:r>
            <a:endParaRPr lang="en-US" sz="1400" dirty="0"/>
          </a:p>
        </p:txBody>
      </p:sp>
      <p:sp>
        <p:nvSpPr>
          <p:cNvPr id="12" name="Shape 10"/>
          <p:cNvSpPr/>
          <p:nvPr/>
        </p:nvSpPr>
        <p:spPr>
          <a:xfrm>
            <a:off x="365760" y="2606040"/>
            <a:ext cx="8412480" cy="658368"/>
          </a:xfrm>
          <a:prstGeom prst="rect">
            <a:avLst/>
          </a:prstGeom>
          <a:solidFill>
            <a:srgbClr val="FFFFFF"/>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502920" y="2715768"/>
            <a:ext cx="438912" cy="438912"/>
          </a:xfrm>
          <a:prstGeom prst="ellipse">
            <a:avLst/>
          </a:prstGeom>
          <a:solidFill>
            <a:srgbClr val="0D6E8C"/>
          </a:solidFill>
          <a:ln w="12700">
            <a:solidFill>
              <a:srgbClr val="0D6E8C"/>
            </a:solidFill>
            <a:prstDash val="solid"/>
          </a:ln>
        </p:spPr>
        <p:txBody>
          <a:bodyPr/>
          <a:lstStyle/>
          <a:p>
            <a:endParaRPr lang="en-US"/>
          </a:p>
        </p:txBody>
      </p:sp>
      <p:sp>
        <p:nvSpPr>
          <p:cNvPr id="14" name="Text 12"/>
          <p:cNvSpPr/>
          <p:nvPr/>
        </p:nvSpPr>
        <p:spPr>
          <a:xfrm>
            <a:off x="502920" y="271576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051560" y="2697480"/>
            <a:ext cx="7498080" cy="475488"/>
          </a:xfrm>
          <a:prstGeom prst="rect">
            <a:avLst/>
          </a:prstGeom>
          <a:noFill/>
          <a:ln/>
        </p:spPr>
        <p:txBody>
          <a:bodyPr wrap="square" lIns="0" tIns="0" rIns="0" bIns="0" rtlCol="0" anchor="ctr"/>
          <a:lstStyle/>
          <a:p>
            <a:pPr marL="0" indent="0">
              <a:buNone/>
            </a:pPr>
            <a:r>
              <a:rPr lang="en-US" sz="1400" dirty="0">
                <a:solidFill>
                  <a:srgbClr val="1B2F4E"/>
                </a:solidFill>
                <a:latin typeface="Calibri" pitchFamily="34" charset="0"/>
                <a:ea typeface="Calibri" pitchFamily="34" charset="-122"/>
                <a:cs typeface="Calibri" pitchFamily="34" charset="-120"/>
              </a:rPr>
              <a:t>Construct bootstrap confidence intervals using multiple methods</a:t>
            </a:r>
            <a:endParaRPr lang="en-US" sz="1400" dirty="0"/>
          </a:p>
        </p:txBody>
      </p:sp>
      <p:sp>
        <p:nvSpPr>
          <p:cNvPr id="16" name="Shape 14"/>
          <p:cNvSpPr/>
          <p:nvPr/>
        </p:nvSpPr>
        <p:spPr>
          <a:xfrm>
            <a:off x="365760" y="3383280"/>
            <a:ext cx="8412480" cy="658368"/>
          </a:xfrm>
          <a:prstGeom prst="rect">
            <a:avLst/>
          </a:prstGeom>
          <a:solidFill>
            <a:srgbClr val="FFFFFF"/>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502920" y="3493008"/>
            <a:ext cx="438912" cy="438912"/>
          </a:xfrm>
          <a:prstGeom prst="ellipse">
            <a:avLst/>
          </a:prstGeom>
          <a:solidFill>
            <a:srgbClr val="2EB8B0"/>
          </a:solidFill>
          <a:ln w="12700">
            <a:solidFill>
              <a:srgbClr val="2EB8B0"/>
            </a:solidFill>
            <a:prstDash val="solid"/>
          </a:ln>
        </p:spPr>
        <p:txBody>
          <a:bodyPr/>
          <a:lstStyle/>
          <a:p>
            <a:endParaRPr lang="en-US"/>
          </a:p>
        </p:txBody>
      </p:sp>
      <p:sp>
        <p:nvSpPr>
          <p:cNvPr id="18" name="Text 16"/>
          <p:cNvSpPr/>
          <p:nvPr/>
        </p:nvSpPr>
        <p:spPr>
          <a:xfrm>
            <a:off x="502920" y="349300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51560" y="3474720"/>
            <a:ext cx="7498080" cy="475488"/>
          </a:xfrm>
          <a:prstGeom prst="rect">
            <a:avLst/>
          </a:prstGeom>
          <a:noFill/>
          <a:ln/>
        </p:spPr>
        <p:txBody>
          <a:bodyPr wrap="square" lIns="0" tIns="0" rIns="0" bIns="0" rtlCol="0" anchor="ctr"/>
          <a:lstStyle/>
          <a:p>
            <a:pPr marL="0" indent="0">
              <a:buNone/>
            </a:pPr>
            <a:r>
              <a:rPr lang="en-US" sz="1400" dirty="0">
                <a:solidFill>
                  <a:srgbClr val="1B2F4E"/>
                </a:solidFill>
                <a:latin typeface="Calibri" pitchFamily="34" charset="0"/>
                <a:ea typeface="Calibri" pitchFamily="34" charset="-122"/>
                <a:cs typeface="Calibri" pitchFamily="34" charset="-120"/>
              </a:rPr>
              <a:t>Apply the bootstrap to real-world regression and psychometric problems</a:t>
            </a:r>
            <a:endParaRPr lang="en-US" sz="1400" dirty="0"/>
          </a:p>
        </p:txBody>
      </p:sp>
      <p:sp>
        <p:nvSpPr>
          <p:cNvPr id="20" name="Shape 18"/>
          <p:cNvSpPr/>
          <p:nvPr/>
        </p:nvSpPr>
        <p:spPr>
          <a:xfrm>
            <a:off x="365760" y="4160520"/>
            <a:ext cx="8412480" cy="658368"/>
          </a:xfrm>
          <a:prstGeom prst="rect">
            <a:avLst/>
          </a:prstGeom>
          <a:solidFill>
            <a:srgbClr val="FFFFFF"/>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502920" y="4270248"/>
            <a:ext cx="438912" cy="438912"/>
          </a:xfrm>
          <a:prstGeom prst="ellipse">
            <a:avLst/>
          </a:prstGeom>
          <a:solidFill>
            <a:srgbClr val="0D6E8C"/>
          </a:solidFill>
          <a:ln w="12700">
            <a:solidFill>
              <a:srgbClr val="0D6E8C"/>
            </a:solidFill>
            <a:prstDash val="solid"/>
          </a:ln>
        </p:spPr>
        <p:txBody>
          <a:bodyPr/>
          <a:lstStyle/>
          <a:p>
            <a:endParaRPr lang="en-US"/>
          </a:p>
        </p:txBody>
      </p:sp>
      <p:sp>
        <p:nvSpPr>
          <p:cNvPr id="22" name="Text 20"/>
          <p:cNvSpPr/>
          <p:nvPr/>
        </p:nvSpPr>
        <p:spPr>
          <a:xfrm>
            <a:off x="502920" y="427024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051560" y="4251960"/>
            <a:ext cx="7498080" cy="475488"/>
          </a:xfrm>
          <a:prstGeom prst="rect">
            <a:avLst/>
          </a:prstGeom>
          <a:noFill/>
          <a:ln/>
        </p:spPr>
        <p:txBody>
          <a:bodyPr wrap="square" lIns="0" tIns="0" rIns="0" bIns="0" rtlCol="0" anchor="ctr"/>
          <a:lstStyle/>
          <a:p>
            <a:pPr marL="0" indent="0">
              <a:buNone/>
            </a:pPr>
            <a:r>
              <a:rPr lang="en-US" sz="1400" dirty="0">
                <a:solidFill>
                  <a:srgbClr val="1B2F4E"/>
                </a:solidFill>
                <a:latin typeface="Calibri" pitchFamily="34" charset="0"/>
                <a:ea typeface="Calibri" pitchFamily="34" charset="-122"/>
                <a:cs typeface="Calibri" pitchFamily="34" charset="-120"/>
              </a:rPr>
              <a:t>Critically evaluate when bootstrapping is — and is not — appropriate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Core Statistical Problem</a:t>
            </a:r>
            <a:endParaRPr lang="en-US" sz="2600" dirty="0"/>
          </a:p>
        </p:txBody>
      </p:sp>
      <p:sp>
        <p:nvSpPr>
          <p:cNvPr id="4" name="Shape 2"/>
          <p:cNvSpPr/>
          <p:nvPr/>
        </p:nvSpPr>
        <p:spPr>
          <a:xfrm>
            <a:off x="274320" y="1051560"/>
            <a:ext cx="3977640" cy="3749040"/>
          </a:xfrm>
          <a:prstGeom prst="rect">
            <a:avLst/>
          </a:prstGeom>
          <a:solidFill>
            <a:srgbClr val="EBF4F7"/>
          </a:solidFill>
          <a:ln w="1905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411480" y="1143000"/>
            <a:ext cx="3749040" cy="411480"/>
          </a:xfrm>
          <a:prstGeom prst="rect">
            <a:avLst/>
          </a:prstGeom>
          <a:noFill/>
          <a:ln/>
        </p:spPr>
        <p:txBody>
          <a:bodyPr wrap="square" lIns="0" tIns="0" rIns="0" bIns="0" rtlCol="0" anchor="ctr"/>
          <a:lstStyle/>
          <a:p>
            <a:pPr marL="0" indent="0">
              <a:buNone/>
            </a:pPr>
            <a:r>
              <a:rPr lang="en-US" sz="1400" b="1" dirty="0">
                <a:solidFill>
                  <a:srgbClr val="0D6E8C"/>
                </a:solidFill>
                <a:latin typeface="Georgia" pitchFamily="34" charset="0"/>
                <a:ea typeface="Georgia" pitchFamily="34" charset="-122"/>
                <a:cs typeface="Georgia" pitchFamily="34" charset="-120"/>
              </a:rPr>
              <a:t>The Fundamental Question</a:t>
            </a:r>
            <a:endParaRPr lang="en-US" sz="1400" dirty="0"/>
          </a:p>
        </p:txBody>
      </p:sp>
      <p:sp>
        <p:nvSpPr>
          <p:cNvPr id="6" name="Text 4"/>
          <p:cNvSpPr/>
          <p:nvPr/>
        </p:nvSpPr>
        <p:spPr>
          <a:xfrm>
            <a:off x="411480" y="1645920"/>
            <a:ext cx="3703320" cy="2926080"/>
          </a:xfrm>
          <a:prstGeom prst="rect">
            <a:avLst/>
          </a:prstGeom>
          <a:noFill/>
          <a:ln/>
        </p:spPr>
        <p:txBody>
          <a:bodyPr wrap="square" rtlCol="0" anchor="t"/>
          <a:lstStyle/>
          <a:p>
            <a:pPr marL="0" indent="0">
              <a:buNone/>
            </a:pPr>
            <a:r>
              <a:rPr lang="en-US" sz="1300" dirty="0">
                <a:solidFill>
                  <a:srgbClr val="1B2F4E"/>
                </a:solidFill>
                <a:latin typeface="Calibri" pitchFamily="34" charset="0"/>
                <a:ea typeface="Calibri" pitchFamily="34" charset="-122"/>
                <a:cs typeface="Calibri" pitchFamily="34" charset="-120"/>
              </a:rPr>
              <a:t>We observe a sample and compute a statistic </a:t>
            </a:r>
            <a:r>
              <a:rPr lang="en-US" sz="1300" dirty="0">
                <a:solidFill>
                  <a:srgbClr val="1B2F4E"/>
                </a:solidFill>
                <a:highlight>
                  <a:srgbClr val="FFFF00"/>
                </a:highlight>
                <a:latin typeface="Calibri" pitchFamily="34" charset="0"/>
                <a:ea typeface="Calibri" pitchFamily="34" charset="-122"/>
                <a:cs typeface="Calibri" pitchFamily="34" charset="-120"/>
              </a:rPr>
              <a:t>θ̂</a:t>
            </a:r>
            <a:r>
              <a:rPr lang="en-US" sz="1300" dirty="0">
                <a:solidFill>
                  <a:srgbClr val="1B2F4E"/>
                </a:solidFill>
                <a:latin typeface="Calibri" pitchFamily="34" charset="0"/>
                <a:ea typeface="Calibri" pitchFamily="34" charset="-122"/>
                <a:cs typeface="Calibri" pitchFamily="34" charset="-120"/>
              </a:rPr>
              <a:t>.
</a:t>
            </a:r>
            <a:r>
              <a:rPr lang="en-US" sz="1300" b="1" dirty="0">
                <a:solidFill>
                  <a:srgbClr val="1B2F4E"/>
                </a:solidFill>
                <a:latin typeface="Calibri" pitchFamily="34" charset="0"/>
                <a:ea typeface="Calibri" pitchFamily="34" charset="-122"/>
                <a:cs typeface="Calibri" pitchFamily="34" charset="-120"/>
              </a:rPr>
              <a:t>How accurate is θ̂? </a:t>
            </a:r>
            <a:r>
              <a:rPr lang="en-US" sz="1300" dirty="0">
                <a:solidFill>
                  <a:srgbClr val="1B2F4E"/>
                </a:solidFill>
                <a:latin typeface="Calibri" pitchFamily="34" charset="0"/>
                <a:ea typeface="Calibri" pitchFamily="34" charset="-122"/>
                <a:cs typeface="Calibri" pitchFamily="34" charset="-120"/>
              </a:rPr>
              <a:t>How much does it vary from sample to sample?
Standard methods assume:
• Normality of the sampling distribution
• A known formula for the standard error
• Large N to invoke the Central Limit Theorem</a:t>
            </a:r>
            <a:endParaRPr lang="en-US" sz="1300" dirty="0"/>
          </a:p>
        </p:txBody>
      </p:sp>
      <p:sp>
        <p:nvSpPr>
          <p:cNvPr id="7" name="Shape 5"/>
          <p:cNvSpPr/>
          <p:nvPr/>
        </p:nvSpPr>
        <p:spPr>
          <a:xfrm>
            <a:off x="4617720" y="1051560"/>
            <a:ext cx="4206240" cy="3749040"/>
          </a:xfrm>
          <a:prstGeom prst="rect">
            <a:avLst/>
          </a:prstGeom>
          <a:solidFill>
            <a:srgbClr val="1B2F4E"/>
          </a:solidFill>
          <a:ln w="127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8" name="Text 6"/>
          <p:cNvSpPr/>
          <p:nvPr/>
        </p:nvSpPr>
        <p:spPr>
          <a:xfrm>
            <a:off x="4754880" y="1143000"/>
            <a:ext cx="3931920" cy="411480"/>
          </a:xfrm>
          <a:prstGeom prst="rect">
            <a:avLst/>
          </a:prstGeom>
          <a:noFill/>
          <a:ln/>
        </p:spPr>
        <p:txBody>
          <a:bodyPr wrap="square" lIns="0" tIns="0" rIns="0" bIns="0" rtlCol="0" anchor="ctr"/>
          <a:lstStyle/>
          <a:p>
            <a:pPr marL="0" indent="0">
              <a:buNone/>
            </a:pPr>
            <a:r>
              <a:rPr lang="en-US" sz="1400" b="1" dirty="0">
                <a:solidFill>
                  <a:srgbClr val="2EB8B0"/>
                </a:solidFill>
                <a:latin typeface="Georgia" pitchFamily="34" charset="0"/>
                <a:ea typeface="Georgia" pitchFamily="34" charset="-122"/>
                <a:cs typeface="Georgia" pitchFamily="34" charset="-120"/>
              </a:rPr>
              <a:t>When Formulas Fail</a:t>
            </a:r>
            <a:endParaRPr lang="en-US" sz="1400" dirty="0"/>
          </a:p>
        </p:txBody>
      </p:sp>
      <p:sp>
        <p:nvSpPr>
          <p:cNvPr id="9" name="Shape 7"/>
          <p:cNvSpPr/>
          <p:nvPr/>
        </p:nvSpPr>
        <p:spPr>
          <a:xfrm>
            <a:off x="4754880" y="1691640"/>
            <a:ext cx="3931920" cy="475488"/>
          </a:xfrm>
          <a:prstGeom prst="rect">
            <a:avLst/>
          </a:prstGeom>
          <a:solidFill>
            <a:srgbClr val="0D6E8C">
              <a:alpha val="40000"/>
            </a:srgbClr>
          </a:solidFill>
          <a:ln w="6350">
            <a:solidFill>
              <a:srgbClr val="2EB8B0"/>
            </a:solidFill>
            <a:prstDash val="solid"/>
          </a:ln>
        </p:spPr>
        <p:txBody>
          <a:bodyPr/>
          <a:lstStyle/>
          <a:p>
            <a:endParaRPr lang="en-US"/>
          </a:p>
        </p:txBody>
      </p:sp>
      <p:sp>
        <p:nvSpPr>
          <p:cNvPr id="10" name="Text 8"/>
          <p:cNvSpPr/>
          <p:nvPr/>
        </p:nvSpPr>
        <p:spPr>
          <a:xfrm>
            <a:off x="4846320" y="1728216"/>
            <a:ext cx="228600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Median &amp; Quantiles</a:t>
            </a:r>
            <a:endParaRPr lang="en-US" sz="1200" dirty="0"/>
          </a:p>
        </p:txBody>
      </p:sp>
      <p:sp>
        <p:nvSpPr>
          <p:cNvPr id="11" name="Text 9"/>
          <p:cNvSpPr/>
          <p:nvPr/>
        </p:nvSpPr>
        <p:spPr>
          <a:xfrm>
            <a:off x="7132320" y="1728216"/>
            <a:ext cx="1463040" cy="402336"/>
          </a:xfrm>
          <a:prstGeom prst="rect">
            <a:avLst/>
          </a:prstGeom>
          <a:noFill/>
          <a:ln/>
        </p:spPr>
        <p:txBody>
          <a:bodyPr wrap="square" lIns="0" tIns="0" rIns="0" bIns="0" rtlCol="0" anchor="ctr"/>
          <a:lstStyle/>
          <a:p>
            <a:pPr marL="0" indent="0">
              <a:buNone/>
            </a:pPr>
            <a:r>
              <a:rPr lang="en-US" sz="1100" i="1" dirty="0">
                <a:solidFill>
                  <a:srgbClr val="A8D5E2"/>
                </a:solidFill>
                <a:latin typeface="Calibri" pitchFamily="34" charset="0"/>
                <a:ea typeface="Calibri" pitchFamily="34" charset="-122"/>
                <a:cs typeface="Calibri" pitchFamily="34" charset="-120"/>
              </a:rPr>
              <a:t>No closed-form SE</a:t>
            </a:r>
            <a:endParaRPr lang="en-US" sz="1100" dirty="0"/>
          </a:p>
        </p:txBody>
      </p:sp>
      <p:sp>
        <p:nvSpPr>
          <p:cNvPr id="12" name="Shape 10"/>
          <p:cNvSpPr/>
          <p:nvPr/>
        </p:nvSpPr>
        <p:spPr>
          <a:xfrm>
            <a:off x="4754880" y="2267712"/>
            <a:ext cx="3931920" cy="475488"/>
          </a:xfrm>
          <a:prstGeom prst="rect">
            <a:avLst/>
          </a:prstGeom>
          <a:solidFill>
            <a:srgbClr val="0D6E8C">
              <a:alpha val="40000"/>
            </a:srgbClr>
          </a:solidFill>
          <a:ln w="6350">
            <a:solidFill>
              <a:srgbClr val="2EB8B0"/>
            </a:solidFill>
            <a:prstDash val="solid"/>
          </a:ln>
        </p:spPr>
        <p:txBody>
          <a:bodyPr/>
          <a:lstStyle/>
          <a:p>
            <a:endParaRPr lang="en-US"/>
          </a:p>
        </p:txBody>
      </p:sp>
      <p:sp>
        <p:nvSpPr>
          <p:cNvPr id="13" name="Text 11"/>
          <p:cNvSpPr/>
          <p:nvPr/>
        </p:nvSpPr>
        <p:spPr>
          <a:xfrm>
            <a:off x="4846320" y="2304288"/>
            <a:ext cx="228600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Correlation ratios</a:t>
            </a:r>
            <a:endParaRPr lang="en-US" sz="1200" dirty="0"/>
          </a:p>
        </p:txBody>
      </p:sp>
      <p:sp>
        <p:nvSpPr>
          <p:cNvPr id="14" name="Text 12"/>
          <p:cNvSpPr/>
          <p:nvPr/>
        </p:nvSpPr>
        <p:spPr>
          <a:xfrm>
            <a:off x="7132320" y="2304288"/>
            <a:ext cx="1463040" cy="402336"/>
          </a:xfrm>
          <a:prstGeom prst="rect">
            <a:avLst/>
          </a:prstGeom>
          <a:noFill/>
          <a:ln/>
        </p:spPr>
        <p:txBody>
          <a:bodyPr wrap="square" lIns="0" tIns="0" rIns="0" bIns="0" rtlCol="0" anchor="ctr"/>
          <a:lstStyle/>
          <a:p>
            <a:pPr marL="0" indent="0">
              <a:buNone/>
            </a:pPr>
            <a:r>
              <a:rPr lang="en-US" sz="1100" i="1" dirty="0">
                <a:solidFill>
                  <a:srgbClr val="A8D5E2"/>
                </a:solidFill>
                <a:latin typeface="Calibri" pitchFamily="34" charset="0"/>
                <a:ea typeface="Calibri" pitchFamily="34" charset="-122"/>
                <a:cs typeface="Calibri" pitchFamily="34" charset="-120"/>
              </a:rPr>
              <a:t>Complex distributions</a:t>
            </a:r>
            <a:endParaRPr lang="en-US" sz="1100" dirty="0"/>
          </a:p>
        </p:txBody>
      </p:sp>
      <p:sp>
        <p:nvSpPr>
          <p:cNvPr id="15" name="Shape 13"/>
          <p:cNvSpPr/>
          <p:nvPr/>
        </p:nvSpPr>
        <p:spPr>
          <a:xfrm>
            <a:off x="4754880" y="2843784"/>
            <a:ext cx="3931920" cy="475488"/>
          </a:xfrm>
          <a:prstGeom prst="rect">
            <a:avLst/>
          </a:prstGeom>
          <a:solidFill>
            <a:srgbClr val="0D6E8C">
              <a:alpha val="40000"/>
            </a:srgbClr>
          </a:solidFill>
          <a:ln w="6350">
            <a:solidFill>
              <a:srgbClr val="2EB8B0"/>
            </a:solidFill>
            <a:prstDash val="solid"/>
          </a:ln>
        </p:spPr>
        <p:txBody>
          <a:bodyPr/>
          <a:lstStyle/>
          <a:p>
            <a:endParaRPr lang="en-US"/>
          </a:p>
        </p:txBody>
      </p:sp>
      <p:sp>
        <p:nvSpPr>
          <p:cNvPr id="16" name="Text 14"/>
          <p:cNvSpPr/>
          <p:nvPr/>
        </p:nvSpPr>
        <p:spPr>
          <a:xfrm>
            <a:off x="4846320" y="2880360"/>
            <a:ext cx="228600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IRT ability estimates</a:t>
            </a:r>
            <a:endParaRPr lang="en-US" sz="1200" dirty="0"/>
          </a:p>
        </p:txBody>
      </p:sp>
      <p:sp>
        <p:nvSpPr>
          <p:cNvPr id="17" name="Text 15"/>
          <p:cNvSpPr/>
          <p:nvPr/>
        </p:nvSpPr>
        <p:spPr>
          <a:xfrm>
            <a:off x="7132320" y="2880360"/>
            <a:ext cx="1463040" cy="402336"/>
          </a:xfrm>
          <a:prstGeom prst="rect">
            <a:avLst/>
          </a:prstGeom>
          <a:noFill/>
          <a:ln/>
        </p:spPr>
        <p:txBody>
          <a:bodyPr wrap="square" lIns="0" tIns="0" rIns="0" bIns="0" rtlCol="0" anchor="ctr"/>
          <a:lstStyle/>
          <a:p>
            <a:pPr marL="0" indent="0">
              <a:buNone/>
            </a:pPr>
            <a:r>
              <a:rPr lang="en-US" sz="1100" i="1" dirty="0">
                <a:solidFill>
                  <a:srgbClr val="A8D5E2"/>
                </a:solidFill>
                <a:latin typeface="Calibri" pitchFamily="34" charset="0"/>
                <a:ea typeface="Calibri" pitchFamily="34" charset="-122"/>
                <a:cs typeface="Calibri" pitchFamily="34" charset="-120"/>
              </a:rPr>
              <a:t>Non-standard θ̂</a:t>
            </a:r>
            <a:endParaRPr lang="en-US" sz="1100" dirty="0"/>
          </a:p>
        </p:txBody>
      </p:sp>
      <p:sp>
        <p:nvSpPr>
          <p:cNvPr id="18" name="Shape 16"/>
          <p:cNvSpPr/>
          <p:nvPr/>
        </p:nvSpPr>
        <p:spPr>
          <a:xfrm>
            <a:off x="4754880" y="3419856"/>
            <a:ext cx="3931920" cy="475488"/>
          </a:xfrm>
          <a:prstGeom prst="rect">
            <a:avLst/>
          </a:prstGeom>
          <a:solidFill>
            <a:srgbClr val="0D6E8C">
              <a:alpha val="40000"/>
            </a:srgbClr>
          </a:solidFill>
          <a:ln w="6350">
            <a:solidFill>
              <a:srgbClr val="2EB8B0"/>
            </a:solidFill>
            <a:prstDash val="solid"/>
          </a:ln>
        </p:spPr>
        <p:txBody>
          <a:bodyPr/>
          <a:lstStyle/>
          <a:p>
            <a:endParaRPr lang="en-US"/>
          </a:p>
        </p:txBody>
      </p:sp>
      <p:sp>
        <p:nvSpPr>
          <p:cNvPr id="19" name="Text 17"/>
          <p:cNvSpPr/>
          <p:nvPr/>
        </p:nvSpPr>
        <p:spPr>
          <a:xfrm>
            <a:off x="4846320" y="3456432"/>
            <a:ext cx="228600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 comparison stats</a:t>
            </a:r>
            <a:endParaRPr lang="en-US" sz="1200" dirty="0"/>
          </a:p>
        </p:txBody>
      </p:sp>
      <p:sp>
        <p:nvSpPr>
          <p:cNvPr id="20" name="Text 18"/>
          <p:cNvSpPr/>
          <p:nvPr/>
        </p:nvSpPr>
        <p:spPr>
          <a:xfrm>
            <a:off x="7132320" y="3456432"/>
            <a:ext cx="1463040" cy="402336"/>
          </a:xfrm>
          <a:prstGeom prst="rect">
            <a:avLst/>
          </a:prstGeom>
          <a:noFill/>
          <a:ln/>
        </p:spPr>
        <p:txBody>
          <a:bodyPr wrap="square" lIns="0" tIns="0" rIns="0" bIns="0" rtlCol="0" anchor="ctr"/>
          <a:lstStyle/>
          <a:p>
            <a:pPr marL="0" indent="0">
              <a:buNone/>
            </a:pPr>
            <a:r>
              <a:rPr lang="en-US" sz="1100" i="1" dirty="0">
                <a:solidFill>
                  <a:srgbClr val="A8D5E2"/>
                </a:solidFill>
                <a:latin typeface="Calibri" pitchFamily="34" charset="0"/>
                <a:ea typeface="Calibri" pitchFamily="34" charset="-122"/>
                <a:cs typeface="Calibri" pitchFamily="34" charset="-120"/>
              </a:rPr>
              <a:t>No asymptotic theory</a:t>
            </a:r>
            <a:endParaRPr lang="en-US" sz="1100" dirty="0"/>
          </a:p>
        </p:txBody>
      </p:sp>
      <p:sp>
        <p:nvSpPr>
          <p:cNvPr id="21" name="Shape 19"/>
          <p:cNvSpPr/>
          <p:nvPr/>
        </p:nvSpPr>
        <p:spPr>
          <a:xfrm>
            <a:off x="4754880" y="3995928"/>
            <a:ext cx="3931920" cy="475488"/>
          </a:xfrm>
          <a:prstGeom prst="rect">
            <a:avLst/>
          </a:prstGeom>
          <a:solidFill>
            <a:srgbClr val="0D6E8C">
              <a:alpha val="40000"/>
            </a:srgbClr>
          </a:solidFill>
          <a:ln w="6350">
            <a:solidFill>
              <a:srgbClr val="2EB8B0"/>
            </a:solidFill>
            <a:prstDash val="solid"/>
          </a:ln>
        </p:spPr>
        <p:txBody>
          <a:bodyPr/>
          <a:lstStyle/>
          <a:p>
            <a:endParaRPr lang="en-US"/>
          </a:p>
        </p:txBody>
      </p:sp>
      <p:sp>
        <p:nvSpPr>
          <p:cNvPr id="22" name="Text 20"/>
          <p:cNvSpPr/>
          <p:nvPr/>
        </p:nvSpPr>
        <p:spPr>
          <a:xfrm>
            <a:off x="4846320" y="4032504"/>
            <a:ext cx="228600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Small samples</a:t>
            </a:r>
            <a:endParaRPr lang="en-US" sz="1200" dirty="0"/>
          </a:p>
        </p:txBody>
      </p:sp>
      <p:sp>
        <p:nvSpPr>
          <p:cNvPr id="23" name="Text 21"/>
          <p:cNvSpPr/>
          <p:nvPr/>
        </p:nvSpPr>
        <p:spPr>
          <a:xfrm>
            <a:off x="7132320" y="4032504"/>
            <a:ext cx="1463040" cy="402336"/>
          </a:xfrm>
          <a:prstGeom prst="rect">
            <a:avLst/>
          </a:prstGeom>
          <a:noFill/>
          <a:ln/>
        </p:spPr>
        <p:txBody>
          <a:bodyPr wrap="square" lIns="0" tIns="0" rIns="0" bIns="0" rtlCol="0" anchor="ctr"/>
          <a:lstStyle/>
          <a:p>
            <a:pPr marL="0" indent="0">
              <a:buNone/>
            </a:pPr>
            <a:r>
              <a:rPr lang="en-US" sz="1100" i="1" dirty="0">
                <a:solidFill>
                  <a:srgbClr val="A8D5E2"/>
                </a:solidFill>
                <a:latin typeface="Calibri" pitchFamily="34" charset="0"/>
                <a:ea typeface="Calibri" pitchFamily="34" charset="-122"/>
                <a:cs typeface="Calibri" pitchFamily="34" charset="-120"/>
              </a:rPr>
              <a:t>CLT may not apply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the Bootstrap?</a:t>
            </a:r>
            <a:endParaRPr lang="en-US" sz="2600" dirty="0"/>
          </a:p>
        </p:txBody>
      </p:sp>
      <p:sp>
        <p:nvSpPr>
          <p:cNvPr id="4" name="Shape 2"/>
          <p:cNvSpPr/>
          <p:nvPr/>
        </p:nvSpPr>
        <p:spPr>
          <a:xfrm>
            <a:off x="274320" y="1051560"/>
            <a:ext cx="8595360" cy="822960"/>
          </a:xfrm>
          <a:prstGeom prst="rect">
            <a:avLst/>
          </a:prstGeom>
          <a:solidFill>
            <a:srgbClr val="1B2F4E"/>
          </a:solidFill>
          <a:ln w="127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51560"/>
            <a:ext cx="109728" cy="822960"/>
          </a:xfrm>
          <a:prstGeom prst="rect">
            <a:avLst/>
          </a:prstGeom>
          <a:solidFill>
            <a:srgbClr val="E8A020"/>
          </a:solidFill>
          <a:ln w="12700">
            <a:solidFill>
              <a:srgbClr val="E8A020"/>
            </a:solidFill>
            <a:prstDash val="solid"/>
          </a:ln>
        </p:spPr>
        <p:txBody>
          <a:bodyPr/>
          <a:lstStyle/>
          <a:p>
            <a:endParaRPr lang="en-US"/>
          </a:p>
        </p:txBody>
      </p:sp>
      <p:sp>
        <p:nvSpPr>
          <p:cNvPr id="6" name="Text 4"/>
          <p:cNvSpPr/>
          <p:nvPr/>
        </p:nvSpPr>
        <p:spPr>
          <a:xfrm>
            <a:off x="548640" y="1115568"/>
            <a:ext cx="8138160" cy="685800"/>
          </a:xfrm>
          <a:prstGeom prst="rect">
            <a:avLst/>
          </a:prstGeom>
          <a:noFill/>
          <a:ln/>
        </p:spPr>
        <p:txBody>
          <a:bodyPr wrap="square" lIns="0" tIns="0" rIns="0" bIns="0" rtlCol="0" anchor="ctr"/>
          <a:lstStyle/>
          <a:p>
            <a:pPr marL="0" indent="0">
              <a:buNone/>
            </a:pPr>
            <a:r>
              <a:rPr lang="en-US" sz="1350" i="1" dirty="0">
                <a:solidFill>
                  <a:srgbClr val="FFFFFF"/>
                </a:solidFill>
                <a:latin typeface="Georgia" pitchFamily="34" charset="0"/>
                <a:ea typeface="Georgia" pitchFamily="34" charset="-122"/>
                <a:cs typeface="Georgia" pitchFamily="34" charset="-120"/>
              </a:rPr>
              <a:t>"The bootstrap lets the data speak for themselves about the accuracy of the estimate." — Bradley Efron (1979)</a:t>
            </a:r>
            <a:endParaRPr lang="en-US" sz="1350" dirty="0"/>
          </a:p>
        </p:txBody>
      </p:sp>
      <p:sp>
        <p:nvSpPr>
          <p:cNvPr id="7" name="Shape 5"/>
          <p:cNvSpPr/>
          <p:nvPr/>
        </p:nvSpPr>
        <p:spPr>
          <a:xfrm>
            <a:off x="274320" y="2011680"/>
            <a:ext cx="2834640" cy="2834640"/>
          </a:xfrm>
          <a:prstGeom prst="rect">
            <a:avLst/>
          </a:prstGeom>
          <a:solidFill>
            <a:srgbClr val="FFFFFF"/>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274320" y="2011680"/>
            <a:ext cx="2834640" cy="438912"/>
          </a:xfrm>
          <a:prstGeom prst="rect">
            <a:avLst/>
          </a:prstGeom>
          <a:solidFill>
            <a:srgbClr val="0D6E8C"/>
          </a:solidFill>
          <a:ln w="12700">
            <a:solidFill>
              <a:srgbClr val="0D6E8C"/>
            </a:solidFill>
            <a:prstDash val="solid"/>
          </a:ln>
        </p:spPr>
        <p:txBody>
          <a:bodyPr/>
          <a:lstStyle/>
          <a:p>
            <a:endParaRPr lang="en-US"/>
          </a:p>
        </p:txBody>
      </p:sp>
      <p:sp>
        <p:nvSpPr>
          <p:cNvPr id="9" name="Text 7"/>
          <p:cNvSpPr/>
          <p:nvPr/>
        </p:nvSpPr>
        <p:spPr>
          <a:xfrm>
            <a:off x="365760" y="2048256"/>
            <a:ext cx="2651760"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The Big Idea</a:t>
            </a:r>
            <a:endParaRPr lang="en-US" sz="1300" dirty="0"/>
          </a:p>
        </p:txBody>
      </p:sp>
      <p:sp>
        <p:nvSpPr>
          <p:cNvPr id="10" name="Text 8"/>
          <p:cNvSpPr/>
          <p:nvPr/>
        </p:nvSpPr>
        <p:spPr>
          <a:xfrm>
            <a:off x="384048" y="2542032"/>
            <a:ext cx="2615184" cy="2194560"/>
          </a:xfrm>
          <a:prstGeom prst="rect">
            <a:avLst/>
          </a:prstGeom>
          <a:noFill/>
          <a:ln/>
        </p:spPr>
        <p:txBody>
          <a:bodyPr wrap="square" rtlCol="0" anchor="t"/>
          <a:lstStyle/>
          <a:p>
            <a:pPr marL="0" indent="0">
              <a:buNone/>
            </a:pPr>
            <a:r>
              <a:rPr lang="en-US" sz="1250" dirty="0">
                <a:solidFill>
                  <a:srgbClr val="1B2F4E"/>
                </a:solidFill>
                <a:latin typeface="Calibri" pitchFamily="34" charset="0"/>
                <a:ea typeface="Calibri" pitchFamily="34" charset="-122"/>
                <a:cs typeface="Calibri" pitchFamily="34" charset="-120"/>
              </a:rPr>
              <a:t>Treat your observed sample as a proxy for the population. Use resampling with replacement to simulate the sampling distribution empirically — no formula needed.</a:t>
            </a:r>
            <a:endParaRPr lang="en-US" sz="1250" dirty="0"/>
          </a:p>
        </p:txBody>
      </p:sp>
      <p:sp>
        <p:nvSpPr>
          <p:cNvPr id="11" name="Shape 9"/>
          <p:cNvSpPr/>
          <p:nvPr/>
        </p:nvSpPr>
        <p:spPr>
          <a:xfrm>
            <a:off x="3246120" y="2011680"/>
            <a:ext cx="2834640" cy="2834640"/>
          </a:xfrm>
          <a:prstGeom prst="rect">
            <a:avLst/>
          </a:prstGeom>
          <a:solidFill>
            <a:srgbClr val="FFFFFF"/>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246120" y="2011680"/>
            <a:ext cx="2834640" cy="438912"/>
          </a:xfrm>
          <a:prstGeom prst="rect">
            <a:avLst/>
          </a:prstGeom>
          <a:solidFill>
            <a:srgbClr val="2EB8B0"/>
          </a:solidFill>
          <a:ln w="12700">
            <a:solidFill>
              <a:srgbClr val="2EB8B0"/>
            </a:solidFill>
            <a:prstDash val="solid"/>
          </a:ln>
        </p:spPr>
        <p:txBody>
          <a:bodyPr/>
          <a:lstStyle/>
          <a:p>
            <a:endParaRPr lang="en-US"/>
          </a:p>
        </p:txBody>
      </p:sp>
      <p:sp>
        <p:nvSpPr>
          <p:cNvPr id="13" name="Text 11"/>
          <p:cNvSpPr/>
          <p:nvPr/>
        </p:nvSpPr>
        <p:spPr>
          <a:xfrm>
            <a:off x="3337560" y="2048256"/>
            <a:ext cx="2651760"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The Mechanism</a:t>
            </a:r>
            <a:endParaRPr lang="en-US" sz="1300" dirty="0"/>
          </a:p>
        </p:txBody>
      </p:sp>
      <p:sp>
        <p:nvSpPr>
          <p:cNvPr id="14" name="Text 12"/>
          <p:cNvSpPr/>
          <p:nvPr/>
        </p:nvSpPr>
        <p:spPr>
          <a:xfrm>
            <a:off x="3355848" y="2542032"/>
            <a:ext cx="2615184" cy="2194560"/>
          </a:xfrm>
          <a:prstGeom prst="rect">
            <a:avLst/>
          </a:prstGeom>
          <a:noFill/>
          <a:ln/>
        </p:spPr>
        <p:txBody>
          <a:bodyPr wrap="square" rtlCol="0" anchor="t"/>
          <a:lstStyle/>
          <a:p>
            <a:pPr marL="0" indent="0">
              <a:buNone/>
            </a:pPr>
            <a:r>
              <a:rPr lang="en-US" sz="1250" dirty="0">
                <a:solidFill>
                  <a:srgbClr val="1B2F4E"/>
                </a:solidFill>
                <a:latin typeface="Calibri" pitchFamily="34" charset="0"/>
                <a:ea typeface="Calibri" pitchFamily="34" charset="-122"/>
                <a:cs typeface="Calibri" pitchFamily="34" charset="-120"/>
              </a:rPr>
              <a:t>Draw B bootstrap samples (each of size n) with replacement from your data. </a:t>
            </a:r>
            <a:r>
              <a:rPr lang="en-US" sz="1250" dirty="0">
                <a:solidFill>
                  <a:srgbClr val="1B2F4E"/>
                </a:solidFill>
                <a:highlight>
                  <a:srgbClr val="FFFF00"/>
                </a:highlight>
                <a:latin typeface="Calibri" pitchFamily="34" charset="0"/>
                <a:ea typeface="Calibri" pitchFamily="34" charset="-122"/>
                <a:cs typeface="Calibri" pitchFamily="34" charset="-120"/>
              </a:rPr>
              <a:t>Compute θ̂* </a:t>
            </a:r>
            <a:r>
              <a:rPr lang="en-US" sz="1250" dirty="0">
                <a:solidFill>
                  <a:srgbClr val="1B2F4E"/>
                </a:solidFill>
                <a:latin typeface="Calibri" pitchFamily="34" charset="0"/>
                <a:ea typeface="Calibri" pitchFamily="34" charset="-122"/>
                <a:cs typeface="Calibri" pitchFamily="34" charset="-120"/>
              </a:rPr>
              <a:t>for each. The distribution of θ̂* estimates the sampling distribution of θ̂.</a:t>
            </a:r>
            <a:endParaRPr lang="en-US" sz="1250" dirty="0"/>
          </a:p>
        </p:txBody>
      </p:sp>
      <p:sp>
        <p:nvSpPr>
          <p:cNvPr id="15" name="Shape 13"/>
          <p:cNvSpPr/>
          <p:nvPr/>
        </p:nvSpPr>
        <p:spPr>
          <a:xfrm>
            <a:off x="6217920" y="2011680"/>
            <a:ext cx="2834640" cy="2834640"/>
          </a:xfrm>
          <a:prstGeom prst="rect">
            <a:avLst/>
          </a:prstGeom>
          <a:solidFill>
            <a:srgbClr val="FFFFFF"/>
          </a:solidFill>
          <a:ln w="254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6217920" y="2011680"/>
            <a:ext cx="2834640" cy="438912"/>
          </a:xfrm>
          <a:prstGeom prst="rect">
            <a:avLst/>
          </a:prstGeom>
          <a:solidFill>
            <a:srgbClr val="1B2F4E"/>
          </a:solidFill>
          <a:ln w="12700">
            <a:solidFill>
              <a:srgbClr val="1B2F4E"/>
            </a:solidFill>
            <a:prstDash val="solid"/>
          </a:ln>
        </p:spPr>
        <p:txBody>
          <a:bodyPr/>
          <a:lstStyle/>
          <a:p>
            <a:endParaRPr lang="en-US"/>
          </a:p>
        </p:txBody>
      </p:sp>
      <p:sp>
        <p:nvSpPr>
          <p:cNvPr id="17" name="Text 15"/>
          <p:cNvSpPr/>
          <p:nvPr/>
        </p:nvSpPr>
        <p:spPr>
          <a:xfrm>
            <a:off x="6309360" y="2048256"/>
            <a:ext cx="2651760"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The Output</a:t>
            </a:r>
            <a:endParaRPr lang="en-US" sz="1300" dirty="0"/>
          </a:p>
        </p:txBody>
      </p:sp>
      <p:sp>
        <p:nvSpPr>
          <p:cNvPr id="18" name="Text 16"/>
          <p:cNvSpPr/>
          <p:nvPr/>
        </p:nvSpPr>
        <p:spPr>
          <a:xfrm>
            <a:off x="6327648" y="2542032"/>
            <a:ext cx="2615184" cy="2194560"/>
          </a:xfrm>
          <a:prstGeom prst="rect">
            <a:avLst/>
          </a:prstGeom>
          <a:noFill/>
          <a:ln/>
        </p:spPr>
        <p:txBody>
          <a:bodyPr wrap="square" rtlCol="0" anchor="t"/>
          <a:lstStyle/>
          <a:p>
            <a:pPr marL="0" indent="0">
              <a:buNone/>
            </a:pPr>
            <a:r>
              <a:rPr lang="en-US" sz="1250" dirty="0">
                <a:solidFill>
                  <a:srgbClr val="1B2F4E"/>
                </a:solidFill>
                <a:latin typeface="Calibri" pitchFamily="34" charset="0"/>
                <a:ea typeface="Calibri" pitchFamily="34" charset="-122"/>
                <a:cs typeface="Calibri" pitchFamily="34" charset="-120"/>
              </a:rPr>
              <a:t>Standard errors, confidence intervals, hypothesis tests, and bias estimates — derived entirely from the empirical distribution of your bootstrap statistics.</a:t>
            </a:r>
            <a:endParaRPr lang="en-US" sz="1250" dirty="0"/>
          </a:p>
        </p:txBody>
      </p:sp>
      <p:sp>
        <p:nvSpPr>
          <p:cNvPr id="19" name="Text 17"/>
          <p:cNvSpPr/>
          <p:nvPr/>
        </p:nvSpPr>
        <p:spPr>
          <a:xfrm>
            <a:off x="274320" y="4800600"/>
            <a:ext cx="8595360" cy="274320"/>
          </a:xfrm>
          <a:prstGeom prst="rect">
            <a:avLst/>
          </a:prstGeom>
          <a:noFill/>
          <a:ln/>
        </p:spPr>
        <p:txBody>
          <a:bodyPr wrap="square" lIns="0" tIns="0" rIns="0" bIns="0" rtlCol="0" anchor="ctr"/>
          <a:lstStyle/>
          <a:p>
            <a:pPr marL="0" indent="0">
              <a:buNone/>
            </a:pPr>
            <a:r>
              <a:rPr lang="en-US" sz="950" i="1" dirty="0">
                <a:solidFill>
                  <a:srgbClr val="5B7285"/>
                </a:solidFill>
                <a:highlight>
                  <a:srgbClr val="FFFF00"/>
                </a:highlight>
                <a:latin typeface="Calibri" pitchFamily="34" charset="0"/>
                <a:ea typeface="Calibri" pitchFamily="34" charset="-122"/>
                <a:cs typeface="Calibri" pitchFamily="34" charset="-120"/>
              </a:rPr>
              <a:t>Efron, B. (1979). Bootstrap methods: Another look at the jackknife. The Annals of Statistics, 7(1), 1–26.</a:t>
            </a:r>
            <a:endParaRPr lang="en-US" sz="950"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Bootstrap Algorithm</a:t>
            </a:r>
            <a:endParaRPr lang="en-US" sz="2600" dirty="0"/>
          </a:p>
        </p:txBody>
      </p:sp>
      <p:sp>
        <p:nvSpPr>
          <p:cNvPr id="4" name="Shape 2"/>
          <p:cNvSpPr/>
          <p:nvPr/>
        </p:nvSpPr>
        <p:spPr>
          <a:xfrm>
            <a:off x="274320" y="1097280"/>
            <a:ext cx="8595360" cy="822960"/>
          </a:xfrm>
          <a:prstGeom prst="rect">
            <a:avLst/>
          </a:prstGeom>
          <a:solidFill>
            <a:srgbClr val="F4F8FA"/>
          </a:solidFill>
          <a:ln w="1905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84048" y="1234440"/>
            <a:ext cx="530352" cy="530352"/>
          </a:xfrm>
          <a:prstGeom prst="ellipse">
            <a:avLst/>
          </a:prstGeom>
          <a:solidFill>
            <a:srgbClr val="0D6E8C"/>
          </a:solidFill>
          <a:ln w="12700">
            <a:solidFill>
              <a:srgbClr val="0D6E8C"/>
            </a:solidFill>
            <a:prstDash val="solid"/>
          </a:ln>
        </p:spPr>
        <p:txBody>
          <a:bodyPr/>
          <a:lstStyle/>
          <a:p>
            <a:endParaRPr lang="en-US"/>
          </a:p>
        </p:txBody>
      </p:sp>
      <p:sp>
        <p:nvSpPr>
          <p:cNvPr id="6" name="Text 4"/>
          <p:cNvSpPr/>
          <p:nvPr/>
        </p:nvSpPr>
        <p:spPr>
          <a:xfrm>
            <a:off x="384048" y="1234440"/>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051560" y="1152144"/>
            <a:ext cx="3200400" cy="347472"/>
          </a:xfrm>
          <a:prstGeom prst="rect">
            <a:avLst/>
          </a:prstGeom>
          <a:noFill/>
          <a:ln/>
        </p:spPr>
        <p:txBody>
          <a:bodyPr wrap="square" lIns="0" tIns="0" rIns="0" bIns="0" rtlCol="0" anchor="ctr"/>
          <a:lstStyle/>
          <a:p>
            <a:pPr marL="0" indent="0">
              <a:buNone/>
            </a:pPr>
            <a:r>
              <a:rPr lang="en-US" sz="1350" b="1" dirty="0">
                <a:solidFill>
                  <a:srgbClr val="1B2F4E"/>
                </a:solidFill>
                <a:latin typeface="Georgia" pitchFamily="34" charset="0"/>
                <a:ea typeface="Georgia" pitchFamily="34" charset="-122"/>
                <a:cs typeface="Georgia" pitchFamily="34" charset="-120"/>
              </a:rPr>
              <a:t>Observe Your Sample</a:t>
            </a:r>
            <a:endParaRPr lang="en-US" sz="1350" dirty="0"/>
          </a:p>
        </p:txBody>
      </p:sp>
      <p:sp>
        <p:nvSpPr>
          <p:cNvPr id="8" name="Text 6"/>
          <p:cNvSpPr/>
          <p:nvPr/>
        </p:nvSpPr>
        <p:spPr>
          <a:xfrm>
            <a:off x="1051560" y="1499616"/>
            <a:ext cx="7680960" cy="365760"/>
          </a:xfrm>
          <a:prstGeom prst="rect">
            <a:avLst/>
          </a:prstGeom>
          <a:noFill/>
          <a:ln/>
        </p:spPr>
        <p:txBody>
          <a:bodyPr wrap="square" lIns="0" tIns="0" rIns="0" bIns="0" rtlCol="0" anchor="ctr"/>
          <a:lstStyle/>
          <a:p>
            <a:pPr marL="0" indent="0">
              <a:buNone/>
            </a:pPr>
            <a:r>
              <a:rPr lang="en-US" sz="1150" dirty="0">
                <a:solidFill>
                  <a:srgbClr val="5B7285"/>
                </a:solidFill>
                <a:latin typeface="Calibri" pitchFamily="34" charset="0"/>
                <a:ea typeface="Calibri" pitchFamily="34" charset="-122"/>
                <a:cs typeface="Calibri" pitchFamily="34" charset="-120"/>
              </a:rPr>
              <a:t>Obtain original sample X = {x₁, x₂, ..., xₙ} of size n from the population. Compute your statistic of interest: θ̂ = f(X)</a:t>
            </a:r>
            <a:endParaRPr lang="en-US" sz="1150" dirty="0"/>
          </a:p>
        </p:txBody>
      </p:sp>
      <p:sp>
        <p:nvSpPr>
          <p:cNvPr id="9" name="Shape 7"/>
          <p:cNvSpPr/>
          <p:nvPr/>
        </p:nvSpPr>
        <p:spPr>
          <a:xfrm>
            <a:off x="274320" y="2057400"/>
            <a:ext cx="8595360" cy="822960"/>
          </a:xfrm>
          <a:prstGeom prst="rect">
            <a:avLst/>
          </a:prstGeom>
          <a:solidFill>
            <a:srgbClr val="F4F8FA"/>
          </a:solidFill>
          <a:ln w="1905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384048" y="2194560"/>
            <a:ext cx="530352" cy="530352"/>
          </a:xfrm>
          <a:prstGeom prst="ellipse">
            <a:avLst/>
          </a:prstGeom>
          <a:solidFill>
            <a:srgbClr val="2EB8B0"/>
          </a:solidFill>
          <a:ln w="12700">
            <a:solidFill>
              <a:srgbClr val="2EB8B0"/>
            </a:solidFill>
            <a:prstDash val="solid"/>
          </a:ln>
        </p:spPr>
        <p:txBody>
          <a:bodyPr/>
          <a:lstStyle/>
          <a:p>
            <a:endParaRPr lang="en-US"/>
          </a:p>
        </p:txBody>
      </p:sp>
      <p:sp>
        <p:nvSpPr>
          <p:cNvPr id="11" name="Text 9"/>
          <p:cNvSpPr/>
          <p:nvPr/>
        </p:nvSpPr>
        <p:spPr>
          <a:xfrm>
            <a:off x="384048" y="2194560"/>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051560" y="2112264"/>
            <a:ext cx="3200400" cy="347472"/>
          </a:xfrm>
          <a:prstGeom prst="rect">
            <a:avLst/>
          </a:prstGeom>
          <a:noFill/>
          <a:ln/>
        </p:spPr>
        <p:txBody>
          <a:bodyPr wrap="square" lIns="0" tIns="0" rIns="0" bIns="0" rtlCol="0" anchor="ctr"/>
          <a:lstStyle/>
          <a:p>
            <a:pPr marL="0" indent="0">
              <a:buNone/>
            </a:pPr>
            <a:r>
              <a:rPr lang="en-US" sz="1350" b="1" dirty="0">
                <a:solidFill>
                  <a:srgbClr val="1B2F4E"/>
                </a:solidFill>
                <a:latin typeface="Georgia" pitchFamily="34" charset="0"/>
                <a:ea typeface="Georgia" pitchFamily="34" charset="-122"/>
                <a:cs typeface="Georgia" pitchFamily="34" charset="-120"/>
              </a:rPr>
              <a:t>Resample with Replacement</a:t>
            </a:r>
            <a:endParaRPr lang="en-US" sz="1350" dirty="0"/>
          </a:p>
        </p:txBody>
      </p:sp>
      <p:sp>
        <p:nvSpPr>
          <p:cNvPr id="13" name="Text 11"/>
          <p:cNvSpPr/>
          <p:nvPr/>
        </p:nvSpPr>
        <p:spPr>
          <a:xfrm>
            <a:off x="1051560" y="2459736"/>
            <a:ext cx="7680960" cy="365760"/>
          </a:xfrm>
          <a:prstGeom prst="rect">
            <a:avLst/>
          </a:prstGeom>
          <a:noFill/>
          <a:ln/>
        </p:spPr>
        <p:txBody>
          <a:bodyPr wrap="square" lIns="0" tIns="0" rIns="0" bIns="0" rtlCol="0" anchor="ctr"/>
          <a:lstStyle/>
          <a:p>
            <a:pPr marL="0" indent="0">
              <a:buNone/>
            </a:pPr>
            <a:r>
              <a:rPr lang="en-US" sz="1150" dirty="0">
                <a:solidFill>
                  <a:srgbClr val="5B7285"/>
                </a:solidFill>
                <a:latin typeface="Calibri" pitchFamily="34" charset="0"/>
                <a:ea typeface="Calibri" pitchFamily="34" charset="-122"/>
                <a:cs typeface="Calibri" pitchFamily="34" charset="-120"/>
              </a:rPr>
              <a:t>Draw B bootstrap samples X*₁, X*₂, ..., X*_B, each of size n, by sampling with replacement from the original data X.</a:t>
            </a:r>
            <a:endParaRPr lang="en-US" sz="1150" dirty="0"/>
          </a:p>
        </p:txBody>
      </p:sp>
      <p:sp>
        <p:nvSpPr>
          <p:cNvPr id="14" name="Shape 12"/>
          <p:cNvSpPr/>
          <p:nvPr/>
        </p:nvSpPr>
        <p:spPr>
          <a:xfrm>
            <a:off x="274320" y="3017520"/>
            <a:ext cx="8595360" cy="822960"/>
          </a:xfrm>
          <a:prstGeom prst="rect">
            <a:avLst/>
          </a:prstGeom>
          <a:solidFill>
            <a:srgbClr val="F4F8FA"/>
          </a:solidFill>
          <a:ln w="1905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384048" y="3154680"/>
            <a:ext cx="530352" cy="530352"/>
          </a:xfrm>
          <a:prstGeom prst="ellipse">
            <a:avLst/>
          </a:prstGeom>
          <a:solidFill>
            <a:srgbClr val="0D6E8C"/>
          </a:solidFill>
          <a:ln w="12700">
            <a:solidFill>
              <a:srgbClr val="0D6E8C"/>
            </a:solidFill>
            <a:prstDash val="solid"/>
          </a:ln>
        </p:spPr>
        <p:txBody>
          <a:bodyPr/>
          <a:lstStyle/>
          <a:p>
            <a:endParaRPr lang="en-US"/>
          </a:p>
        </p:txBody>
      </p:sp>
      <p:sp>
        <p:nvSpPr>
          <p:cNvPr id="16" name="Text 14"/>
          <p:cNvSpPr/>
          <p:nvPr/>
        </p:nvSpPr>
        <p:spPr>
          <a:xfrm>
            <a:off x="384048" y="3154680"/>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1051560" y="3072384"/>
            <a:ext cx="3200400" cy="347472"/>
          </a:xfrm>
          <a:prstGeom prst="rect">
            <a:avLst/>
          </a:prstGeom>
          <a:noFill/>
          <a:ln/>
        </p:spPr>
        <p:txBody>
          <a:bodyPr wrap="square" lIns="0" tIns="0" rIns="0" bIns="0" rtlCol="0" anchor="ctr"/>
          <a:lstStyle/>
          <a:p>
            <a:pPr marL="0" indent="0">
              <a:buNone/>
            </a:pPr>
            <a:r>
              <a:rPr lang="en-US" sz="1350" b="1" dirty="0">
                <a:solidFill>
                  <a:srgbClr val="1B2F4E"/>
                </a:solidFill>
                <a:latin typeface="Georgia" pitchFamily="34" charset="0"/>
                <a:ea typeface="Georgia" pitchFamily="34" charset="-122"/>
                <a:cs typeface="Georgia" pitchFamily="34" charset="-120"/>
              </a:rPr>
              <a:t>Compute Bootstrap Statistics</a:t>
            </a:r>
            <a:endParaRPr lang="en-US" sz="1350" dirty="0"/>
          </a:p>
        </p:txBody>
      </p:sp>
      <p:sp>
        <p:nvSpPr>
          <p:cNvPr id="18" name="Text 16"/>
          <p:cNvSpPr/>
          <p:nvPr/>
        </p:nvSpPr>
        <p:spPr>
          <a:xfrm>
            <a:off x="1051560" y="3419856"/>
            <a:ext cx="7680960" cy="365760"/>
          </a:xfrm>
          <a:prstGeom prst="rect">
            <a:avLst/>
          </a:prstGeom>
          <a:noFill/>
          <a:ln/>
        </p:spPr>
        <p:txBody>
          <a:bodyPr wrap="square" lIns="0" tIns="0" rIns="0" bIns="0" rtlCol="0" anchor="ctr"/>
          <a:lstStyle/>
          <a:p>
            <a:pPr marL="0" indent="0">
              <a:buNone/>
            </a:pPr>
            <a:r>
              <a:rPr lang="en-US" sz="1150" dirty="0">
                <a:solidFill>
                  <a:srgbClr val="5B7285"/>
                </a:solidFill>
                <a:latin typeface="Calibri" pitchFamily="34" charset="0"/>
                <a:ea typeface="Calibri" pitchFamily="34" charset="-122"/>
                <a:cs typeface="Calibri" pitchFamily="34" charset="-120"/>
              </a:rPr>
              <a:t>For each bootstrap sample X*_b, compute the statistic: θ̂*_b = f(X*_b). You now have B estimates: θ̂*₁, ..., θ̂*_B.</a:t>
            </a:r>
            <a:endParaRPr lang="en-US" sz="1150" dirty="0"/>
          </a:p>
        </p:txBody>
      </p:sp>
      <p:sp>
        <p:nvSpPr>
          <p:cNvPr id="19" name="Shape 17"/>
          <p:cNvSpPr/>
          <p:nvPr/>
        </p:nvSpPr>
        <p:spPr>
          <a:xfrm>
            <a:off x="274320" y="3977640"/>
            <a:ext cx="8595360" cy="822960"/>
          </a:xfrm>
          <a:prstGeom prst="rect">
            <a:avLst/>
          </a:prstGeom>
          <a:solidFill>
            <a:srgbClr val="F4F8FA"/>
          </a:solidFill>
          <a:ln w="1905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384048" y="4114800"/>
            <a:ext cx="530352" cy="530352"/>
          </a:xfrm>
          <a:prstGeom prst="ellipse">
            <a:avLst/>
          </a:prstGeom>
          <a:solidFill>
            <a:srgbClr val="2EB8B0"/>
          </a:solidFill>
          <a:ln w="12700">
            <a:solidFill>
              <a:srgbClr val="2EB8B0"/>
            </a:solidFill>
            <a:prstDash val="solid"/>
          </a:ln>
        </p:spPr>
        <p:txBody>
          <a:bodyPr/>
          <a:lstStyle/>
          <a:p>
            <a:endParaRPr lang="en-US"/>
          </a:p>
        </p:txBody>
      </p:sp>
      <p:sp>
        <p:nvSpPr>
          <p:cNvPr id="21" name="Text 19"/>
          <p:cNvSpPr/>
          <p:nvPr/>
        </p:nvSpPr>
        <p:spPr>
          <a:xfrm>
            <a:off x="384048" y="4114800"/>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1051560" y="4032504"/>
            <a:ext cx="3200400" cy="347472"/>
          </a:xfrm>
          <a:prstGeom prst="rect">
            <a:avLst/>
          </a:prstGeom>
          <a:noFill/>
          <a:ln/>
        </p:spPr>
        <p:txBody>
          <a:bodyPr wrap="square" lIns="0" tIns="0" rIns="0" bIns="0" rtlCol="0" anchor="ctr"/>
          <a:lstStyle/>
          <a:p>
            <a:pPr marL="0" indent="0">
              <a:buNone/>
            </a:pPr>
            <a:r>
              <a:rPr lang="en-US" sz="1350" b="1" dirty="0">
                <a:solidFill>
                  <a:srgbClr val="1B2F4E"/>
                </a:solidFill>
                <a:latin typeface="Georgia" pitchFamily="34" charset="0"/>
                <a:ea typeface="Georgia" pitchFamily="34" charset="-122"/>
                <a:cs typeface="Georgia" pitchFamily="34" charset="-120"/>
              </a:rPr>
              <a:t>Build the Bootstrap Distribution</a:t>
            </a:r>
            <a:endParaRPr lang="en-US" sz="1350" dirty="0"/>
          </a:p>
        </p:txBody>
      </p:sp>
      <p:sp>
        <p:nvSpPr>
          <p:cNvPr id="23" name="Text 21"/>
          <p:cNvSpPr/>
          <p:nvPr/>
        </p:nvSpPr>
        <p:spPr>
          <a:xfrm>
            <a:off x="1051560" y="4379976"/>
            <a:ext cx="7680960" cy="365760"/>
          </a:xfrm>
          <a:prstGeom prst="rect">
            <a:avLst/>
          </a:prstGeom>
          <a:noFill/>
          <a:ln/>
        </p:spPr>
        <p:txBody>
          <a:bodyPr wrap="square" lIns="0" tIns="0" rIns="0" bIns="0" rtlCol="0" anchor="ctr"/>
          <a:lstStyle/>
          <a:p>
            <a:pPr marL="0" indent="0">
              <a:buNone/>
            </a:pPr>
            <a:r>
              <a:rPr lang="en-US" sz="1150" dirty="0">
                <a:solidFill>
                  <a:srgbClr val="5B7285"/>
                </a:solidFill>
                <a:latin typeface="Calibri" pitchFamily="34" charset="0"/>
                <a:ea typeface="Calibri" pitchFamily="34" charset="-122"/>
                <a:cs typeface="Calibri" pitchFamily="34" charset="-120"/>
              </a:rPr>
              <a:t>The collection {θ̂*_b}ᴮ_b₌₁ approximates the sampling distribution of θ̂. Use it to estimate SE, bias, CIs, and p-values.</a:t>
            </a:r>
            <a:endParaRPr lang="en-US" sz="1150" dirty="0"/>
          </a:p>
        </p:txBody>
      </p:sp>
      <p:sp>
        <p:nvSpPr>
          <p:cNvPr id="24" name="Shape 22"/>
          <p:cNvSpPr/>
          <p:nvPr/>
        </p:nvSpPr>
        <p:spPr>
          <a:xfrm>
            <a:off x="274320" y="4846320"/>
            <a:ext cx="8595360" cy="228600"/>
          </a:xfrm>
          <a:prstGeom prst="rect">
            <a:avLst/>
          </a:prstGeom>
          <a:solidFill>
            <a:srgbClr val="E8A020">
              <a:alpha val="80000"/>
            </a:srgbClr>
          </a:solidFill>
          <a:ln w="12700">
            <a:solidFill>
              <a:srgbClr val="E8A020"/>
            </a:solidFill>
            <a:prstDash val="solid"/>
          </a:ln>
        </p:spPr>
        <p:txBody>
          <a:bodyPr/>
          <a:lstStyle/>
          <a:p>
            <a:endParaRPr lang="en-US"/>
          </a:p>
        </p:txBody>
      </p:sp>
      <p:sp>
        <p:nvSpPr>
          <p:cNvPr id="25" name="Text 23"/>
          <p:cNvSpPr/>
          <p:nvPr/>
        </p:nvSpPr>
        <p:spPr>
          <a:xfrm>
            <a:off x="411480" y="4864608"/>
            <a:ext cx="8321040" cy="201168"/>
          </a:xfrm>
          <a:prstGeom prst="rect">
            <a:avLst/>
          </a:prstGeom>
          <a:noFill/>
          <a:ln/>
        </p:spPr>
        <p:txBody>
          <a:bodyPr wrap="square" lIns="0" tIns="0" rIns="0" bIns="0"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Typical practice: B = 1,000 for SEs; B = 10,000 for confidence intervals and hypothesis tests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Bootstrap Confidence Intervals</a:t>
            </a:r>
            <a:endParaRPr lang="en-US" sz="2600" dirty="0"/>
          </a:p>
        </p:txBody>
      </p:sp>
      <p:sp>
        <p:nvSpPr>
          <p:cNvPr id="4" name="Shape 2"/>
          <p:cNvSpPr/>
          <p:nvPr/>
        </p:nvSpPr>
        <p:spPr>
          <a:xfrm>
            <a:off x="274320" y="1097280"/>
            <a:ext cx="4206240" cy="1828800"/>
          </a:xfrm>
          <a:prstGeom prst="rect">
            <a:avLst/>
          </a:prstGeom>
          <a:solidFill>
            <a:srgbClr val="FFFFFF"/>
          </a:solidFill>
          <a:ln w="25400">
            <a:solidFill>
              <a:srgbClr val="5B7285"/>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97280"/>
            <a:ext cx="4206240" cy="411480"/>
          </a:xfrm>
          <a:prstGeom prst="rect">
            <a:avLst/>
          </a:prstGeom>
          <a:solidFill>
            <a:srgbClr val="5B7285"/>
          </a:solidFill>
          <a:ln w="12700">
            <a:solidFill>
              <a:srgbClr val="5B7285"/>
            </a:solidFill>
            <a:prstDash val="solid"/>
          </a:ln>
        </p:spPr>
        <p:txBody>
          <a:bodyPr/>
          <a:lstStyle/>
          <a:p>
            <a:endParaRPr lang="en-US"/>
          </a:p>
        </p:txBody>
      </p:sp>
      <p:sp>
        <p:nvSpPr>
          <p:cNvPr id="6" name="Text 4"/>
          <p:cNvSpPr/>
          <p:nvPr/>
        </p:nvSpPr>
        <p:spPr>
          <a:xfrm>
            <a:off x="365760" y="1133856"/>
            <a:ext cx="402336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Normal Approximation</a:t>
            </a:r>
            <a:endParaRPr lang="en-US" sz="1300" dirty="0"/>
          </a:p>
        </p:txBody>
      </p:sp>
      <p:sp>
        <p:nvSpPr>
          <p:cNvPr id="7" name="Shape 5"/>
          <p:cNvSpPr/>
          <p:nvPr/>
        </p:nvSpPr>
        <p:spPr>
          <a:xfrm>
            <a:off x="365760" y="1600200"/>
            <a:ext cx="3931920" cy="365760"/>
          </a:xfrm>
          <a:prstGeom prst="rect">
            <a:avLst/>
          </a:prstGeom>
          <a:solidFill>
            <a:srgbClr val="EBF4F7"/>
          </a:solidFill>
          <a:ln w="12700">
            <a:solidFill>
              <a:srgbClr val="A8D5E2"/>
            </a:solidFill>
            <a:prstDash val="solid"/>
          </a:ln>
        </p:spPr>
        <p:txBody>
          <a:bodyPr/>
          <a:lstStyle/>
          <a:p>
            <a:endParaRPr lang="en-US"/>
          </a:p>
        </p:txBody>
      </p:sp>
      <p:sp>
        <p:nvSpPr>
          <p:cNvPr id="8" name="Text 6"/>
          <p:cNvSpPr/>
          <p:nvPr/>
        </p:nvSpPr>
        <p:spPr>
          <a:xfrm>
            <a:off x="411480" y="1618488"/>
            <a:ext cx="3840480" cy="329184"/>
          </a:xfrm>
          <a:prstGeom prst="rect">
            <a:avLst/>
          </a:prstGeom>
          <a:noFill/>
          <a:ln/>
        </p:spPr>
        <p:txBody>
          <a:bodyPr wrap="square" lIns="0" tIns="0" rIns="0" bIns="0" rtlCol="0" anchor="ctr"/>
          <a:lstStyle/>
          <a:p>
            <a:pPr marL="0" indent="0">
              <a:buNone/>
            </a:pPr>
            <a:r>
              <a:rPr lang="en-US" sz="1200" b="1" dirty="0">
                <a:solidFill>
                  <a:srgbClr val="5B7285"/>
                </a:solidFill>
                <a:latin typeface="Consolas" pitchFamily="34" charset="0"/>
                <a:ea typeface="Consolas" pitchFamily="34" charset="-122"/>
                <a:cs typeface="Consolas" pitchFamily="34" charset="-120"/>
              </a:rPr>
              <a:t>θ̂ ± z_{α/2} · SE_boot</a:t>
            </a:r>
            <a:endParaRPr lang="en-US" sz="1200" dirty="0"/>
          </a:p>
        </p:txBody>
      </p:sp>
      <p:sp>
        <p:nvSpPr>
          <p:cNvPr id="9" name="Text 7"/>
          <p:cNvSpPr/>
          <p:nvPr/>
        </p:nvSpPr>
        <p:spPr>
          <a:xfrm>
            <a:off x="365760" y="2057400"/>
            <a:ext cx="3977640" cy="777240"/>
          </a:xfrm>
          <a:prstGeom prst="rect">
            <a:avLst/>
          </a:prstGeom>
          <a:noFill/>
          <a:ln/>
        </p:spPr>
        <p:txBody>
          <a:bodyPr wrap="square" rtlCol="0" anchor="ctr"/>
          <a:lstStyle/>
          <a:p>
            <a:pPr marL="0" indent="0">
              <a:buNone/>
            </a:pPr>
            <a:r>
              <a:rPr lang="en-US" sz="1100" b="1" dirty="0">
                <a:solidFill>
                  <a:srgbClr val="2EB8B0"/>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Simple; assumes symmetry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Fails for skewed distributions</a:t>
            </a:r>
            <a:endParaRPr lang="en-US" sz="1100" dirty="0"/>
          </a:p>
        </p:txBody>
      </p:sp>
      <p:sp>
        <p:nvSpPr>
          <p:cNvPr id="10" name="Shape 8"/>
          <p:cNvSpPr/>
          <p:nvPr/>
        </p:nvSpPr>
        <p:spPr>
          <a:xfrm>
            <a:off x="4663440" y="1097280"/>
            <a:ext cx="4206240" cy="1828800"/>
          </a:xfrm>
          <a:prstGeom prst="rect">
            <a:avLst/>
          </a:prstGeom>
          <a:solidFill>
            <a:srgbClr val="FFFFFF"/>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4663440" y="1097280"/>
            <a:ext cx="4206240" cy="411480"/>
          </a:xfrm>
          <a:prstGeom prst="rect">
            <a:avLst/>
          </a:prstGeom>
          <a:solidFill>
            <a:srgbClr val="0D6E8C"/>
          </a:solidFill>
          <a:ln w="12700">
            <a:solidFill>
              <a:srgbClr val="0D6E8C"/>
            </a:solidFill>
            <a:prstDash val="solid"/>
          </a:ln>
        </p:spPr>
        <p:txBody>
          <a:bodyPr/>
          <a:lstStyle/>
          <a:p>
            <a:endParaRPr lang="en-US"/>
          </a:p>
        </p:txBody>
      </p:sp>
      <p:sp>
        <p:nvSpPr>
          <p:cNvPr id="12" name="Text 10"/>
          <p:cNvSpPr/>
          <p:nvPr/>
        </p:nvSpPr>
        <p:spPr>
          <a:xfrm>
            <a:off x="4754880" y="1133856"/>
            <a:ext cx="402336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Percentile Method</a:t>
            </a:r>
            <a:endParaRPr lang="en-US" sz="1300" dirty="0"/>
          </a:p>
        </p:txBody>
      </p:sp>
      <p:sp>
        <p:nvSpPr>
          <p:cNvPr id="13" name="Shape 11"/>
          <p:cNvSpPr/>
          <p:nvPr/>
        </p:nvSpPr>
        <p:spPr>
          <a:xfrm>
            <a:off x="4754880" y="1600200"/>
            <a:ext cx="3931920" cy="365760"/>
          </a:xfrm>
          <a:prstGeom prst="rect">
            <a:avLst/>
          </a:prstGeom>
          <a:solidFill>
            <a:srgbClr val="EBF4F7"/>
          </a:solidFill>
          <a:ln w="12700">
            <a:solidFill>
              <a:srgbClr val="A8D5E2"/>
            </a:solidFill>
            <a:prstDash val="solid"/>
          </a:ln>
        </p:spPr>
        <p:txBody>
          <a:bodyPr/>
          <a:lstStyle/>
          <a:p>
            <a:endParaRPr lang="en-US"/>
          </a:p>
        </p:txBody>
      </p:sp>
      <p:sp>
        <p:nvSpPr>
          <p:cNvPr id="14" name="Text 12"/>
          <p:cNvSpPr/>
          <p:nvPr/>
        </p:nvSpPr>
        <p:spPr>
          <a:xfrm>
            <a:off x="4800600" y="1618488"/>
            <a:ext cx="3840480" cy="329184"/>
          </a:xfrm>
          <a:prstGeom prst="rect">
            <a:avLst/>
          </a:prstGeom>
          <a:noFill/>
          <a:ln/>
        </p:spPr>
        <p:txBody>
          <a:bodyPr wrap="square" lIns="0" tIns="0" rIns="0" bIns="0" rtlCol="0" anchor="ctr"/>
          <a:lstStyle/>
          <a:p>
            <a:pPr marL="0" indent="0">
              <a:buNone/>
            </a:pPr>
            <a:r>
              <a:rPr lang="en-US" sz="1200" b="1" dirty="0">
                <a:solidFill>
                  <a:srgbClr val="0D6E8C"/>
                </a:solidFill>
                <a:latin typeface="Consolas" pitchFamily="34" charset="0"/>
                <a:ea typeface="Consolas" pitchFamily="34" charset="-122"/>
                <a:cs typeface="Consolas" pitchFamily="34" charset="-120"/>
              </a:rPr>
              <a:t>[θ̂*(α/2), θ̂*(1–α/2)]</a:t>
            </a:r>
            <a:endParaRPr lang="en-US" sz="1200" dirty="0"/>
          </a:p>
        </p:txBody>
      </p:sp>
      <p:sp>
        <p:nvSpPr>
          <p:cNvPr id="15" name="Text 13"/>
          <p:cNvSpPr/>
          <p:nvPr/>
        </p:nvSpPr>
        <p:spPr>
          <a:xfrm>
            <a:off x="4754880" y="2057400"/>
            <a:ext cx="3977640" cy="777240"/>
          </a:xfrm>
          <a:prstGeom prst="rect">
            <a:avLst/>
          </a:prstGeom>
          <a:noFill/>
          <a:ln/>
        </p:spPr>
        <p:txBody>
          <a:bodyPr wrap="square" rtlCol="0" anchor="ctr"/>
          <a:lstStyle/>
          <a:p>
            <a:pPr marL="0" indent="0">
              <a:buNone/>
            </a:pPr>
            <a:r>
              <a:rPr lang="en-US" sz="1100" b="1" dirty="0">
                <a:solidFill>
                  <a:srgbClr val="2EB8B0"/>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Transformation-respecting; intuitive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Can be biased with small n</a:t>
            </a:r>
            <a:endParaRPr lang="en-US" sz="1100" dirty="0"/>
          </a:p>
        </p:txBody>
      </p:sp>
      <p:sp>
        <p:nvSpPr>
          <p:cNvPr id="16" name="Shape 14"/>
          <p:cNvSpPr/>
          <p:nvPr/>
        </p:nvSpPr>
        <p:spPr>
          <a:xfrm>
            <a:off x="274320" y="3108960"/>
            <a:ext cx="4206240" cy="1828800"/>
          </a:xfrm>
          <a:prstGeom prst="rect">
            <a:avLst/>
          </a:prstGeom>
          <a:solidFill>
            <a:srgbClr val="FFFFFF"/>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274320" y="3108960"/>
            <a:ext cx="4206240" cy="411480"/>
          </a:xfrm>
          <a:prstGeom prst="rect">
            <a:avLst/>
          </a:prstGeom>
          <a:solidFill>
            <a:srgbClr val="2EB8B0"/>
          </a:solidFill>
          <a:ln w="12700">
            <a:solidFill>
              <a:srgbClr val="2EB8B0"/>
            </a:solidFill>
            <a:prstDash val="solid"/>
          </a:ln>
        </p:spPr>
        <p:txBody>
          <a:bodyPr/>
          <a:lstStyle/>
          <a:p>
            <a:endParaRPr lang="en-US"/>
          </a:p>
        </p:txBody>
      </p:sp>
      <p:sp>
        <p:nvSpPr>
          <p:cNvPr id="18" name="Text 16"/>
          <p:cNvSpPr/>
          <p:nvPr/>
        </p:nvSpPr>
        <p:spPr>
          <a:xfrm>
            <a:off x="365760" y="3145536"/>
            <a:ext cx="402336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BCa (Bias-Corrected &amp; Accelerated)</a:t>
            </a:r>
            <a:endParaRPr lang="en-US" sz="1300" dirty="0"/>
          </a:p>
        </p:txBody>
      </p:sp>
      <p:sp>
        <p:nvSpPr>
          <p:cNvPr id="19" name="Shape 17"/>
          <p:cNvSpPr/>
          <p:nvPr/>
        </p:nvSpPr>
        <p:spPr>
          <a:xfrm>
            <a:off x="365760" y="3611880"/>
            <a:ext cx="3931920" cy="365760"/>
          </a:xfrm>
          <a:prstGeom prst="rect">
            <a:avLst/>
          </a:prstGeom>
          <a:solidFill>
            <a:srgbClr val="EBF4F7"/>
          </a:solidFill>
          <a:ln w="12700">
            <a:solidFill>
              <a:srgbClr val="A8D5E2"/>
            </a:solidFill>
            <a:prstDash val="solid"/>
          </a:ln>
        </p:spPr>
        <p:txBody>
          <a:bodyPr/>
          <a:lstStyle/>
          <a:p>
            <a:endParaRPr lang="en-US"/>
          </a:p>
        </p:txBody>
      </p:sp>
      <p:sp>
        <p:nvSpPr>
          <p:cNvPr id="20" name="Text 18"/>
          <p:cNvSpPr/>
          <p:nvPr/>
        </p:nvSpPr>
        <p:spPr>
          <a:xfrm>
            <a:off x="411480" y="3630168"/>
            <a:ext cx="3840480" cy="329184"/>
          </a:xfrm>
          <a:prstGeom prst="rect">
            <a:avLst/>
          </a:prstGeom>
          <a:noFill/>
          <a:ln/>
        </p:spPr>
        <p:txBody>
          <a:bodyPr wrap="square" lIns="0" tIns="0" rIns="0" bIns="0" rtlCol="0" anchor="ctr"/>
          <a:lstStyle/>
          <a:p>
            <a:pPr marL="0" indent="0">
              <a:buNone/>
            </a:pPr>
            <a:r>
              <a:rPr lang="en-US" sz="1200" b="1" dirty="0">
                <a:solidFill>
                  <a:srgbClr val="2EB8B0"/>
                </a:solidFill>
                <a:latin typeface="Consolas" pitchFamily="34" charset="0"/>
                <a:ea typeface="Consolas" pitchFamily="34" charset="-122"/>
                <a:cs typeface="Consolas" pitchFamily="34" charset="-120"/>
              </a:rPr>
              <a:t>Adjusts for bias (ẑ₀) &amp; skewness (â)</a:t>
            </a:r>
            <a:endParaRPr lang="en-US" sz="1200" dirty="0"/>
          </a:p>
        </p:txBody>
      </p:sp>
      <p:sp>
        <p:nvSpPr>
          <p:cNvPr id="21" name="Text 19"/>
          <p:cNvSpPr/>
          <p:nvPr/>
        </p:nvSpPr>
        <p:spPr>
          <a:xfrm>
            <a:off x="365760" y="4069080"/>
            <a:ext cx="3977640" cy="777240"/>
          </a:xfrm>
          <a:prstGeom prst="rect">
            <a:avLst/>
          </a:prstGeom>
          <a:noFill/>
          <a:ln/>
        </p:spPr>
        <p:txBody>
          <a:bodyPr wrap="square" rtlCol="0" anchor="ctr"/>
          <a:lstStyle/>
          <a:p>
            <a:pPr marL="0" indent="0">
              <a:buNone/>
            </a:pPr>
            <a:r>
              <a:rPr lang="en-US" sz="1100" b="1" dirty="0">
                <a:solidFill>
                  <a:srgbClr val="2EB8B0"/>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Best coverage in most situations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Computationally intensive; complex</a:t>
            </a:r>
            <a:endParaRPr lang="en-US" sz="1100" dirty="0"/>
          </a:p>
        </p:txBody>
      </p:sp>
      <p:sp>
        <p:nvSpPr>
          <p:cNvPr id="22" name="Shape 20"/>
          <p:cNvSpPr/>
          <p:nvPr/>
        </p:nvSpPr>
        <p:spPr>
          <a:xfrm>
            <a:off x="4663440" y="3108960"/>
            <a:ext cx="4206240" cy="1828800"/>
          </a:xfrm>
          <a:prstGeom prst="rect">
            <a:avLst/>
          </a:prstGeom>
          <a:solidFill>
            <a:srgbClr val="FFFFFF"/>
          </a:solidFill>
          <a:ln w="254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4663440" y="3108960"/>
            <a:ext cx="4206240" cy="411480"/>
          </a:xfrm>
          <a:prstGeom prst="rect">
            <a:avLst/>
          </a:prstGeom>
          <a:solidFill>
            <a:srgbClr val="1B2F4E"/>
          </a:solidFill>
          <a:ln w="12700">
            <a:solidFill>
              <a:srgbClr val="1B2F4E"/>
            </a:solidFill>
            <a:prstDash val="solid"/>
          </a:ln>
        </p:spPr>
        <p:txBody>
          <a:bodyPr/>
          <a:lstStyle/>
          <a:p>
            <a:endParaRPr lang="en-US"/>
          </a:p>
        </p:txBody>
      </p:sp>
      <p:sp>
        <p:nvSpPr>
          <p:cNvPr id="24" name="Text 22"/>
          <p:cNvSpPr/>
          <p:nvPr/>
        </p:nvSpPr>
        <p:spPr>
          <a:xfrm>
            <a:off x="4754880" y="3145536"/>
            <a:ext cx="402336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Basic (Pivotal) Bootstrap</a:t>
            </a:r>
            <a:endParaRPr lang="en-US" sz="1300" dirty="0"/>
          </a:p>
        </p:txBody>
      </p:sp>
      <p:sp>
        <p:nvSpPr>
          <p:cNvPr id="25" name="Shape 23"/>
          <p:cNvSpPr/>
          <p:nvPr/>
        </p:nvSpPr>
        <p:spPr>
          <a:xfrm>
            <a:off x="4754880" y="3611880"/>
            <a:ext cx="3931920" cy="365760"/>
          </a:xfrm>
          <a:prstGeom prst="rect">
            <a:avLst/>
          </a:prstGeom>
          <a:solidFill>
            <a:srgbClr val="EBF4F7"/>
          </a:solidFill>
          <a:ln w="12700">
            <a:solidFill>
              <a:srgbClr val="A8D5E2"/>
            </a:solidFill>
            <a:prstDash val="solid"/>
          </a:ln>
        </p:spPr>
        <p:txBody>
          <a:bodyPr/>
          <a:lstStyle/>
          <a:p>
            <a:endParaRPr lang="en-US"/>
          </a:p>
        </p:txBody>
      </p:sp>
      <p:sp>
        <p:nvSpPr>
          <p:cNvPr id="26" name="Text 24"/>
          <p:cNvSpPr/>
          <p:nvPr/>
        </p:nvSpPr>
        <p:spPr>
          <a:xfrm>
            <a:off x="4800600" y="3630168"/>
            <a:ext cx="3840480" cy="329184"/>
          </a:xfrm>
          <a:prstGeom prst="rect">
            <a:avLst/>
          </a:prstGeom>
          <a:noFill/>
          <a:ln/>
        </p:spPr>
        <p:txBody>
          <a:bodyPr wrap="square" lIns="0" tIns="0" rIns="0" bIns="0" rtlCol="0" anchor="ctr"/>
          <a:lstStyle/>
          <a:p>
            <a:pPr marL="0" indent="0">
              <a:buNone/>
            </a:pPr>
            <a:r>
              <a:rPr lang="en-US" sz="1200" b="1" dirty="0">
                <a:solidFill>
                  <a:srgbClr val="1B2F4E"/>
                </a:solidFill>
                <a:latin typeface="Consolas" pitchFamily="34" charset="0"/>
                <a:ea typeface="Consolas" pitchFamily="34" charset="-122"/>
                <a:cs typeface="Consolas" pitchFamily="34" charset="-120"/>
              </a:rPr>
              <a:t>[2θ̂ – θ̂*(1–α/2), 2θ̂ – θ̂*(α/2)]</a:t>
            </a:r>
            <a:endParaRPr lang="en-US" sz="1200" dirty="0"/>
          </a:p>
        </p:txBody>
      </p:sp>
      <p:sp>
        <p:nvSpPr>
          <p:cNvPr id="27" name="Text 25"/>
          <p:cNvSpPr/>
          <p:nvPr/>
        </p:nvSpPr>
        <p:spPr>
          <a:xfrm>
            <a:off x="4754880" y="4069080"/>
            <a:ext cx="3977640" cy="777240"/>
          </a:xfrm>
          <a:prstGeom prst="rect">
            <a:avLst/>
          </a:prstGeom>
          <a:noFill/>
          <a:ln/>
        </p:spPr>
        <p:txBody>
          <a:bodyPr wrap="square" rtlCol="0" anchor="ctr"/>
          <a:lstStyle/>
          <a:p>
            <a:pPr marL="0" indent="0">
              <a:buNone/>
            </a:pPr>
            <a:r>
              <a:rPr lang="en-US" sz="1100" b="1" dirty="0">
                <a:solidFill>
                  <a:srgbClr val="2EB8B0"/>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Second-order accurate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1B2F4E"/>
                </a:solidFill>
                <a:latin typeface="Calibri" pitchFamily="34" charset="0"/>
                <a:ea typeface="Calibri" pitchFamily="34" charset="-122"/>
                <a:cs typeface="Calibri" pitchFamily="34" charset="-120"/>
              </a:rPr>
              <a:t>Can extrapolate beyond data range</a:t>
            </a:r>
            <a:endParaRPr lang="en-US" sz="1100" dirty="0"/>
          </a:p>
        </p:txBody>
      </p:sp>
      <p:sp>
        <p:nvSpPr>
          <p:cNvPr id="28" name="Text 26"/>
          <p:cNvSpPr/>
          <p:nvPr/>
        </p:nvSpPr>
        <p:spPr>
          <a:xfrm>
            <a:off x="274320" y="4892040"/>
            <a:ext cx="8595360" cy="228600"/>
          </a:xfrm>
          <a:prstGeom prst="rect">
            <a:avLst/>
          </a:prstGeom>
          <a:noFill/>
          <a:ln/>
        </p:spPr>
        <p:txBody>
          <a:bodyPr wrap="square" lIns="0" tIns="0" rIns="0" bIns="0" rtlCol="0" anchor="ctr"/>
          <a:lstStyle/>
          <a:p>
            <a:pPr marL="0" indent="0">
              <a:buNone/>
            </a:pPr>
            <a:r>
              <a:rPr lang="en-US" sz="1100" i="1" dirty="0">
                <a:solidFill>
                  <a:srgbClr val="5B7285"/>
                </a:solidFill>
                <a:latin typeface="Calibri" pitchFamily="34" charset="0"/>
                <a:ea typeface="Calibri" pitchFamily="34" charset="-122"/>
                <a:cs typeface="Calibri" pitchFamily="34" charset="-120"/>
              </a:rPr>
              <a:t>Recommendation: BCa is the default choice in most modern software and research applications.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Parametric vs. Non-Parametric Bootstrap</a:t>
            </a:r>
            <a:endParaRPr lang="en-US" sz="2600" dirty="0"/>
          </a:p>
        </p:txBody>
      </p:sp>
      <p:sp>
        <p:nvSpPr>
          <p:cNvPr id="4" name="Shape 2"/>
          <p:cNvSpPr/>
          <p:nvPr/>
        </p:nvSpPr>
        <p:spPr>
          <a:xfrm>
            <a:off x="274320" y="1051560"/>
            <a:ext cx="4114800" cy="3840480"/>
          </a:xfrm>
          <a:prstGeom prst="rect">
            <a:avLst/>
          </a:prstGeom>
          <a:solidFill>
            <a:srgbClr val="EBF4F7"/>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51560"/>
            <a:ext cx="4114800" cy="457200"/>
          </a:xfrm>
          <a:prstGeom prst="rect">
            <a:avLst/>
          </a:prstGeom>
          <a:solidFill>
            <a:srgbClr val="0D6E8C"/>
          </a:solidFill>
          <a:ln w="12700">
            <a:solidFill>
              <a:srgbClr val="0D6E8C"/>
            </a:solidFill>
            <a:prstDash val="solid"/>
          </a:ln>
        </p:spPr>
        <p:txBody>
          <a:bodyPr/>
          <a:lstStyle/>
          <a:p>
            <a:endParaRPr lang="en-US"/>
          </a:p>
        </p:txBody>
      </p:sp>
      <p:sp>
        <p:nvSpPr>
          <p:cNvPr id="6" name="Text 4"/>
          <p:cNvSpPr/>
          <p:nvPr/>
        </p:nvSpPr>
        <p:spPr>
          <a:xfrm>
            <a:off x="365760" y="1088136"/>
            <a:ext cx="3931920" cy="384048"/>
          </a:xfrm>
          <a:prstGeom prst="rect">
            <a:avLst/>
          </a:prstGeom>
          <a:noFill/>
          <a:ln/>
        </p:spPr>
        <p:txBody>
          <a:bodyPr wrap="square" lIns="0" tIns="0" rIns="0" bIns="0" rtlCol="0" anchor="ctr"/>
          <a:lstStyle/>
          <a:p>
            <a:pPr marL="0" indent="0">
              <a:buNone/>
            </a:pPr>
            <a:r>
              <a:rPr lang="en-US" sz="1450" b="1" dirty="0">
                <a:solidFill>
                  <a:srgbClr val="FFFFFF"/>
                </a:solidFill>
                <a:latin typeface="Georgia" pitchFamily="34" charset="0"/>
                <a:ea typeface="Georgia" pitchFamily="34" charset="-122"/>
                <a:cs typeface="Georgia" pitchFamily="34" charset="-120"/>
              </a:rPr>
              <a:t>Non-Parametric Bootstrap</a:t>
            </a:r>
            <a:endParaRPr lang="en-US" sz="1450" dirty="0"/>
          </a:p>
        </p:txBody>
      </p:sp>
      <p:sp>
        <p:nvSpPr>
          <p:cNvPr id="7" name="Text 5"/>
          <p:cNvSpPr/>
          <p:nvPr/>
        </p:nvSpPr>
        <p:spPr>
          <a:xfrm>
            <a:off x="411480" y="1600200"/>
            <a:ext cx="3886200" cy="3154680"/>
          </a:xfrm>
          <a:prstGeom prst="rect">
            <a:avLst/>
          </a:prstGeom>
          <a:noFill/>
          <a:ln/>
        </p:spPr>
        <p:txBody>
          <a:bodyPr wrap="square" rtlCol="0" anchor="ctr"/>
          <a:lstStyle/>
          <a:p>
            <a:pPr marL="0" indent="0">
              <a:buNone/>
            </a:pPr>
            <a:r>
              <a:rPr lang="en-US" sz="1250" b="1" dirty="0">
                <a:solidFill>
                  <a:srgbClr val="1B2F4E"/>
                </a:solidFill>
                <a:latin typeface="Calibri" pitchFamily="34" charset="0"/>
                <a:ea typeface="Calibri" pitchFamily="34" charset="-122"/>
                <a:cs typeface="Calibri" pitchFamily="34" charset="-120"/>
              </a:rPr>
              <a:t>Principle
</a:t>
            </a:r>
            <a:r>
              <a:rPr lang="en-US" sz="1250" dirty="0">
                <a:solidFill>
                  <a:srgbClr val="1B2F4E"/>
                </a:solidFill>
                <a:latin typeface="Calibri" pitchFamily="34" charset="0"/>
                <a:ea typeface="Calibri" pitchFamily="34" charset="-122"/>
                <a:cs typeface="Calibri" pitchFamily="34" charset="-120"/>
              </a:rPr>
              <a:t>Resample directly from observed data. Makes no distributional assumptions.
</a:t>
            </a:r>
            <a:r>
              <a:rPr lang="en-US" sz="1250" b="1" dirty="0">
                <a:solidFill>
                  <a:srgbClr val="1B2F4E"/>
                </a:solidFill>
                <a:latin typeface="Calibri" pitchFamily="34" charset="0"/>
                <a:ea typeface="Calibri" pitchFamily="34" charset="-122"/>
                <a:cs typeface="Calibri" pitchFamily="34" charset="-120"/>
              </a:rPr>
              <a:t>When to Use
</a:t>
            </a:r>
            <a:r>
              <a:rPr lang="en-US" sz="1250" dirty="0">
                <a:solidFill>
                  <a:srgbClr val="1B2F4E"/>
                </a:solidFill>
                <a:latin typeface="Calibri" pitchFamily="34" charset="0"/>
                <a:ea typeface="Calibri" pitchFamily="34" charset="-122"/>
                <a:cs typeface="Calibri" pitchFamily="34" charset="-120"/>
              </a:rPr>
              <a:t>• Unknown or non-standard distribution
• Complex statistics (medians, ratios)
• Model-free inference required
</a:t>
            </a:r>
            <a:r>
              <a:rPr lang="en-US" sz="1250" b="1" dirty="0">
                <a:solidFill>
                  <a:srgbClr val="1B2F4E"/>
                </a:solidFill>
                <a:latin typeface="Calibri" pitchFamily="34" charset="0"/>
                <a:ea typeface="Calibri" pitchFamily="34" charset="-122"/>
                <a:cs typeface="Calibri" pitchFamily="34" charset="-120"/>
              </a:rPr>
              <a:t>Examples
</a:t>
            </a:r>
            <a:r>
              <a:rPr lang="en-US" sz="1250" dirty="0">
                <a:solidFill>
                  <a:srgbClr val="1B2F4E"/>
                </a:solidFill>
                <a:latin typeface="Calibri" pitchFamily="34" charset="0"/>
                <a:ea typeface="Calibri" pitchFamily="34" charset="-122"/>
                <a:cs typeface="Calibri" pitchFamily="34" charset="-120"/>
              </a:rPr>
              <a:t>Median reaction times, correlation differences, ROC statistics</a:t>
            </a:r>
            <a:endParaRPr lang="en-US" sz="1250" dirty="0"/>
          </a:p>
        </p:txBody>
      </p:sp>
      <p:sp>
        <p:nvSpPr>
          <p:cNvPr id="8" name="Shape 6"/>
          <p:cNvSpPr/>
          <p:nvPr/>
        </p:nvSpPr>
        <p:spPr>
          <a:xfrm>
            <a:off x="4754880" y="1051560"/>
            <a:ext cx="4114800" cy="3840480"/>
          </a:xfrm>
          <a:prstGeom prst="rect">
            <a:avLst/>
          </a:prstGeom>
          <a:solidFill>
            <a:srgbClr val="F4F8FA"/>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754880" y="1051560"/>
            <a:ext cx="4114800" cy="457200"/>
          </a:xfrm>
          <a:prstGeom prst="rect">
            <a:avLst/>
          </a:prstGeom>
          <a:solidFill>
            <a:srgbClr val="2EB8B0"/>
          </a:solidFill>
          <a:ln w="12700">
            <a:solidFill>
              <a:srgbClr val="2EB8B0"/>
            </a:solidFill>
            <a:prstDash val="solid"/>
          </a:ln>
        </p:spPr>
        <p:txBody>
          <a:bodyPr/>
          <a:lstStyle/>
          <a:p>
            <a:endParaRPr lang="en-US"/>
          </a:p>
        </p:txBody>
      </p:sp>
      <p:sp>
        <p:nvSpPr>
          <p:cNvPr id="10" name="Text 8"/>
          <p:cNvSpPr/>
          <p:nvPr/>
        </p:nvSpPr>
        <p:spPr>
          <a:xfrm>
            <a:off x="4846320" y="1088136"/>
            <a:ext cx="3931920" cy="384048"/>
          </a:xfrm>
          <a:prstGeom prst="rect">
            <a:avLst/>
          </a:prstGeom>
          <a:noFill/>
          <a:ln/>
        </p:spPr>
        <p:txBody>
          <a:bodyPr wrap="square" lIns="0" tIns="0" rIns="0" bIns="0" rtlCol="0" anchor="ctr"/>
          <a:lstStyle/>
          <a:p>
            <a:pPr marL="0" indent="0">
              <a:buNone/>
            </a:pPr>
            <a:r>
              <a:rPr lang="en-US" sz="1450" b="1" dirty="0">
                <a:solidFill>
                  <a:srgbClr val="FFFFFF"/>
                </a:solidFill>
                <a:latin typeface="Georgia" pitchFamily="34" charset="0"/>
                <a:ea typeface="Georgia" pitchFamily="34" charset="-122"/>
                <a:cs typeface="Georgia" pitchFamily="34" charset="-120"/>
              </a:rPr>
              <a:t>Parametric Bootstrap</a:t>
            </a:r>
            <a:endParaRPr lang="en-US" sz="1450" dirty="0"/>
          </a:p>
        </p:txBody>
      </p:sp>
      <p:sp>
        <p:nvSpPr>
          <p:cNvPr id="11" name="Text 9"/>
          <p:cNvSpPr/>
          <p:nvPr/>
        </p:nvSpPr>
        <p:spPr>
          <a:xfrm>
            <a:off x="4892040" y="1600200"/>
            <a:ext cx="3886200" cy="3154680"/>
          </a:xfrm>
          <a:prstGeom prst="rect">
            <a:avLst/>
          </a:prstGeom>
          <a:noFill/>
          <a:ln/>
        </p:spPr>
        <p:txBody>
          <a:bodyPr wrap="square" rtlCol="0" anchor="ctr"/>
          <a:lstStyle/>
          <a:p>
            <a:pPr marL="0" indent="0">
              <a:buNone/>
            </a:pPr>
            <a:r>
              <a:rPr lang="en-US" sz="1250" b="1" dirty="0">
                <a:solidFill>
                  <a:srgbClr val="1B2F4E"/>
                </a:solidFill>
                <a:latin typeface="Calibri" pitchFamily="34" charset="0"/>
                <a:ea typeface="Calibri" pitchFamily="34" charset="-122"/>
                <a:cs typeface="Calibri" pitchFamily="34" charset="-120"/>
              </a:rPr>
              <a:t>Principle
</a:t>
            </a:r>
            <a:r>
              <a:rPr lang="en-US" sz="1250" dirty="0">
                <a:solidFill>
                  <a:srgbClr val="1B2F4E"/>
                </a:solidFill>
                <a:latin typeface="Calibri" pitchFamily="34" charset="0"/>
                <a:ea typeface="Calibri" pitchFamily="34" charset="-122"/>
                <a:cs typeface="Calibri" pitchFamily="34" charset="-120"/>
              </a:rPr>
              <a:t>Fit a model, then resample from the fitted model's distribution.
</a:t>
            </a:r>
            <a:r>
              <a:rPr lang="en-US" sz="1250" b="1" dirty="0">
                <a:solidFill>
                  <a:srgbClr val="1B2F4E"/>
                </a:solidFill>
                <a:latin typeface="Calibri" pitchFamily="34" charset="0"/>
                <a:ea typeface="Calibri" pitchFamily="34" charset="-122"/>
                <a:cs typeface="Calibri" pitchFamily="34" charset="-120"/>
              </a:rPr>
              <a:t>When to Use
</a:t>
            </a:r>
            <a:r>
              <a:rPr lang="en-US" sz="1250" dirty="0">
                <a:solidFill>
                  <a:srgbClr val="1B2F4E"/>
                </a:solidFill>
                <a:latin typeface="Calibri" pitchFamily="34" charset="0"/>
                <a:ea typeface="Calibri" pitchFamily="34" charset="-122"/>
                <a:cs typeface="Calibri" pitchFamily="34" charset="-120"/>
              </a:rPr>
              <a:t>• Strong distributional theory exists
• Complex hierarchical/mixed models
• Model-based SE not tractable
</a:t>
            </a:r>
            <a:r>
              <a:rPr lang="en-US" sz="1250" b="1" dirty="0">
                <a:solidFill>
                  <a:srgbClr val="1B2F4E"/>
                </a:solidFill>
                <a:latin typeface="Calibri" pitchFamily="34" charset="0"/>
                <a:ea typeface="Calibri" pitchFamily="34" charset="-122"/>
                <a:cs typeface="Calibri" pitchFamily="34" charset="-120"/>
              </a:rPr>
              <a:t>Examples
</a:t>
            </a:r>
            <a:r>
              <a:rPr lang="en-US" sz="1250" dirty="0">
                <a:solidFill>
                  <a:srgbClr val="1B2F4E"/>
                </a:solidFill>
                <a:latin typeface="Calibri" pitchFamily="34" charset="0"/>
                <a:ea typeface="Calibri" pitchFamily="34" charset="-122"/>
                <a:cs typeface="Calibri" pitchFamily="34" charset="-120"/>
              </a:rPr>
              <a:t>IRT models, HLM variance components, structural equation models</a:t>
            </a:r>
            <a:endParaRPr lang="en-US" sz="1250" dirty="0"/>
          </a:p>
        </p:txBody>
      </p:sp>
      <p:sp>
        <p:nvSpPr>
          <p:cNvPr id="12" name="Shape 10"/>
          <p:cNvSpPr/>
          <p:nvPr/>
        </p:nvSpPr>
        <p:spPr>
          <a:xfrm>
            <a:off x="4224528" y="2560320"/>
            <a:ext cx="685800" cy="685800"/>
          </a:xfrm>
          <a:prstGeom prst="ellipse">
            <a:avLst/>
          </a:prstGeom>
          <a:solidFill>
            <a:srgbClr val="1B2F4E"/>
          </a:solidFill>
          <a:ln w="25400">
            <a:solidFill>
              <a:srgbClr val="E8A020"/>
            </a:solidFill>
            <a:prstDash val="solid"/>
          </a:ln>
        </p:spPr>
        <p:txBody>
          <a:bodyPr/>
          <a:lstStyle/>
          <a:p>
            <a:endParaRPr lang="en-US"/>
          </a:p>
        </p:txBody>
      </p:sp>
      <p:sp>
        <p:nvSpPr>
          <p:cNvPr id="13" name="Text 11"/>
          <p:cNvSpPr/>
          <p:nvPr/>
        </p:nvSpPr>
        <p:spPr>
          <a:xfrm>
            <a:off x="4224528" y="2560320"/>
            <a:ext cx="6858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VS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Applied Example: Bootstrap in Multiple Regression</a:t>
            </a:r>
            <a:endParaRPr lang="en-US" sz="2400" dirty="0"/>
          </a:p>
        </p:txBody>
      </p:sp>
      <p:sp>
        <p:nvSpPr>
          <p:cNvPr id="4" name="Shape 2"/>
          <p:cNvSpPr/>
          <p:nvPr/>
        </p:nvSpPr>
        <p:spPr>
          <a:xfrm>
            <a:off x="274320" y="1051560"/>
            <a:ext cx="8595360" cy="1005840"/>
          </a:xfrm>
          <a:prstGeom prst="rect">
            <a:avLst/>
          </a:prstGeom>
          <a:solidFill>
            <a:srgbClr val="1B2F4E"/>
          </a:solidFill>
          <a:ln w="127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51560"/>
            <a:ext cx="109728" cy="1005840"/>
          </a:xfrm>
          <a:prstGeom prst="rect">
            <a:avLst/>
          </a:prstGeom>
          <a:solidFill>
            <a:srgbClr val="E8A020"/>
          </a:solidFill>
          <a:ln w="12700">
            <a:solidFill>
              <a:srgbClr val="E8A020"/>
            </a:solidFill>
            <a:prstDash val="solid"/>
          </a:ln>
        </p:spPr>
        <p:txBody>
          <a:bodyPr/>
          <a:lstStyle/>
          <a:p>
            <a:endParaRPr lang="en-US"/>
          </a:p>
        </p:txBody>
      </p:sp>
      <p:sp>
        <p:nvSpPr>
          <p:cNvPr id="6" name="Text 4"/>
          <p:cNvSpPr/>
          <p:nvPr/>
        </p:nvSpPr>
        <p:spPr>
          <a:xfrm>
            <a:off x="502920" y="1078992"/>
            <a:ext cx="2743200" cy="320040"/>
          </a:xfrm>
          <a:prstGeom prst="rect">
            <a:avLst/>
          </a:prstGeom>
          <a:noFill/>
          <a:ln/>
        </p:spPr>
        <p:txBody>
          <a:bodyPr wrap="square" lIns="0" tIns="0" rIns="0" bIns="0" rtlCol="0" anchor="ctr"/>
          <a:lstStyle/>
          <a:p>
            <a:pPr marL="0" indent="0">
              <a:buNone/>
            </a:pPr>
            <a:r>
              <a:rPr lang="en-US" sz="1200" b="1" dirty="0">
                <a:solidFill>
                  <a:srgbClr val="E8A020"/>
                </a:solidFill>
                <a:latin typeface="Georgia" pitchFamily="34" charset="0"/>
                <a:ea typeface="Georgia" pitchFamily="34" charset="-122"/>
                <a:cs typeface="Georgia" pitchFamily="34" charset="-120"/>
              </a:rPr>
              <a:t>Research Context</a:t>
            </a:r>
            <a:endParaRPr lang="en-US" sz="1200" dirty="0"/>
          </a:p>
        </p:txBody>
      </p:sp>
      <p:sp>
        <p:nvSpPr>
          <p:cNvPr id="7" name="Text 5"/>
          <p:cNvSpPr/>
          <p:nvPr/>
        </p:nvSpPr>
        <p:spPr>
          <a:xfrm>
            <a:off x="502920" y="1371600"/>
            <a:ext cx="8138160" cy="594360"/>
          </a:xfrm>
          <a:prstGeom prst="rect">
            <a:avLst/>
          </a:prstGeom>
          <a:noFill/>
          <a:ln/>
        </p:spPr>
        <p:txBody>
          <a:bodyPr wrap="square" lIns="0" tIns="0" rIns="0" bIns="0" rtlCol="0" anchor="ctr"/>
          <a:lstStyle/>
          <a:p>
            <a:pPr marL="0" indent="0">
              <a:buNone/>
            </a:pPr>
            <a:r>
              <a:rPr lang="en-US" sz="1200" dirty="0">
                <a:solidFill>
                  <a:srgbClr val="A8D5E2"/>
                </a:solidFill>
                <a:latin typeface="Calibri" pitchFamily="34" charset="0"/>
                <a:ea typeface="Calibri" pitchFamily="34" charset="-122"/>
                <a:cs typeface="Calibri" pitchFamily="34" charset="-120"/>
              </a:rPr>
              <a:t>Predicting academic achievement from SES, prior performance, and instructional quality. Small district sample (n = 85). OLS assumptions may not hold; distribution of residuals is right-skewed. We want reliable confidence intervals for the regression coefficients.</a:t>
            </a:r>
            <a:endParaRPr lang="en-US" sz="1200" dirty="0"/>
          </a:p>
        </p:txBody>
      </p:sp>
      <p:sp>
        <p:nvSpPr>
          <p:cNvPr id="8" name="Text 6"/>
          <p:cNvSpPr/>
          <p:nvPr/>
        </p:nvSpPr>
        <p:spPr>
          <a:xfrm>
            <a:off x="274320" y="2176272"/>
            <a:ext cx="8595360" cy="365760"/>
          </a:xfrm>
          <a:prstGeom prst="rect">
            <a:avLst/>
          </a:prstGeom>
          <a:noFill/>
          <a:ln/>
        </p:spPr>
        <p:txBody>
          <a:bodyPr wrap="square" lIns="0" tIns="0" rIns="0" bIns="0" rtlCol="0" anchor="ctr"/>
          <a:lstStyle/>
          <a:p>
            <a:pPr marL="0" indent="0">
              <a:buNone/>
            </a:pPr>
            <a:r>
              <a:rPr lang="en-US" sz="1400" b="1" dirty="0">
                <a:solidFill>
                  <a:srgbClr val="0D6E8C"/>
                </a:solidFill>
                <a:latin typeface="Georgia" pitchFamily="34" charset="0"/>
                <a:ea typeface="Georgia" pitchFamily="34" charset="-122"/>
                <a:cs typeface="Georgia" pitchFamily="34" charset="-120"/>
              </a:rPr>
              <a:t>Two Bootstrap Strategies for Regression</a:t>
            </a:r>
            <a:endParaRPr lang="en-US" sz="1400" dirty="0"/>
          </a:p>
        </p:txBody>
      </p:sp>
      <p:sp>
        <p:nvSpPr>
          <p:cNvPr id="9" name="Shape 7"/>
          <p:cNvSpPr/>
          <p:nvPr/>
        </p:nvSpPr>
        <p:spPr>
          <a:xfrm>
            <a:off x="274320" y="2606040"/>
            <a:ext cx="4206240" cy="2423160"/>
          </a:xfrm>
          <a:prstGeom prst="rect">
            <a:avLst/>
          </a:prstGeom>
          <a:solidFill>
            <a:srgbClr val="FFFFFF"/>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274320" y="2606040"/>
            <a:ext cx="4206240" cy="384048"/>
          </a:xfrm>
          <a:prstGeom prst="rect">
            <a:avLst/>
          </a:prstGeom>
          <a:solidFill>
            <a:srgbClr val="0D6E8C"/>
          </a:solidFill>
          <a:ln w="12700">
            <a:solidFill>
              <a:srgbClr val="0D6E8C"/>
            </a:solidFill>
            <a:prstDash val="solid"/>
          </a:ln>
        </p:spPr>
        <p:txBody>
          <a:bodyPr/>
          <a:lstStyle/>
          <a:p>
            <a:endParaRPr lang="en-US"/>
          </a:p>
        </p:txBody>
      </p:sp>
      <p:sp>
        <p:nvSpPr>
          <p:cNvPr id="11" name="Text 9"/>
          <p:cNvSpPr/>
          <p:nvPr/>
        </p:nvSpPr>
        <p:spPr>
          <a:xfrm>
            <a:off x="365760" y="2633472"/>
            <a:ext cx="402336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Case Resampling (Pairs Bootstrap)</a:t>
            </a:r>
            <a:endParaRPr lang="en-US" sz="1250" dirty="0"/>
          </a:p>
        </p:txBody>
      </p:sp>
      <p:sp>
        <p:nvSpPr>
          <p:cNvPr id="12" name="Text 10"/>
          <p:cNvSpPr/>
          <p:nvPr/>
        </p:nvSpPr>
        <p:spPr>
          <a:xfrm>
            <a:off x="384048" y="3054096"/>
            <a:ext cx="3977640" cy="310896"/>
          </a:xfrm>
          <a:prstGeom prst="rect">
            <a:avLst/>
          </a:prstGeom>
          <a:noFill/>
          <a:ln/>
        </p:spPr>
        <p:txBody>
          <a:bodyPr wrap="square" lIns="0" tIns="0" rIns="0" bIns="0" rtlCol="0" anchor="ctr"/>
          <a:lstStyle/>
          <a:p>
            <a:pPr marL="0" indent="0">
              <a:buNone/>
            </a:pPr>
            <a:r>
              <a:rPr lang="en-US" sz="1150" b="1" dirty="0">
                <a:solidFill>
                  <a:srgbClr val="0D6E8C"/>
                </a:solidFill>
                <a:latin typeface="Calibri" pitchFamily="34" charset="0"/>
                <a:ea typeface="Calibri" pitchFamily="34" charset="-122"/>
                <a:cs typeface="Calibri" pitchFamily="34" charset="-120"/>
              </a:rPr>
              <a:t>1. </a:t>
            </a:r>
            <a:r>
              <a:rPr lang="en-US" sz="1150" dirty="0">
                <a:solidFill>
                  <a:srgbClr val="1B2F4E"/>
                </a:solidFill>
                <a:latin typeface="Calibri" pitchFamily="34" charset="0"/>
                <a:ea typeface="Calibri" pitchFamily="34" charset="-122"/>
                <a:cs typeface="Calibri" pitchFamily="34" charset="-120"/>
              </a:rPr>
              <a:t>Resample (Xᵢ, Yᵢ) pairs with replacement</a:t>
            </a:r>
            <a:endParaRPr lang="en-US" sz="1150" dirty="0"/>
          </a:p>
        </p:txBody>
      </p:sp>
      <p:sp>
        <p:nvSpPr>
          <p:cNvPr id="13" name="Text 11"/>
          <p:cNvSpPr/>
          <p:nvPr/>
        </p:nvSpPr>
        <p:spPr>
          <a:xfrm>
            <a:off x="384048" y="3401568"/>
            <a:ext cx="3977640" cy="310896"/>
          </a:xfrm>
          <a:prstGeom prst="rect">
            <a:avLst/>
          </a:prstGeom>
          <a:noFill/>
          <a:ln/>
        </p:spPr>
        <p:txBody>
          <a:bodyPr wrap="square" lIns="0" tIns="0" rIns="0" bIns="0" rtlCol="0" anchor="ctr"/>
          <a:lstStyle/>
          <a:p>
            <a:pPr marL="0" indent="0">
              <a:buNone/>
            </a:pPr>
            <a:r>
              <a:rPr lang="en-US" sz="1150" b="1" dirty="0">
                <a:solidFill>
                  <a:srgbClr val="0D6E8C"/>
                </a:solidFill>
                <a:latin typeface="Calibri" pitchFamily="34" charset="0"/>
                <a:ea typeface="Calibri" pitchFamily="34" charset="-122"/>
                <a:cs typeface="Calibri" pitchFamily="34" charset="-120"/>
              </a:rPr>
              <a:t>2. </a:t>
            </a:r>
            <a:r>
              <a:rPr lang="en-US" sz="1150" dirty="0">
                <a:solidFill>
                  <a:srgbClr val="1B2F4E"/>
                </a:solidFill>
                <a:latin typeface="Calibri" pitchFamily="34" charset="0"/>
                <a:ea typeface="Calibri" pitchFamily="34" charset="-122"/>
                <a:cs typeface="Calibri" pitchFamily="34" charset="-120"/>
              </a:rPr>
              <a:t>Fit OLS to each bootstrap sample</a:t>
            </a:r>
            <a:endParaRPr lang="en-US" sz="1150" dirty="0"/>
          </a:p>
        </p:txBody>
      </p:sp>
      <p:sp>
        <p:nvSpPr>
          <p:cNvPr id="14" name="Text 12"/>
          <p:cNvSpPr/>
          <p:nvPr/>
        </p:nvSpPr>
        <p:spPr>
          <a:xfrm>
            <a:off x="384048" y="3749040"/>
            <a:ext cx="3977640" cy="310896"/>
          </a:xfrm>
          <a:prstGeom prst="rect">
            <a:avLst/>
          </a:prstGeom>
          <a:noFill/>
          <a:ln/>
        </p:spPr>
        <p:txBody>
          <a:bodyPr wrap="square" lIns="0" tIns="0" rIns="0" bIns="0" rtlCol="0" anchor="ctr"/>
          <a:lstStyle/>
          <a:p>
            <a:pPr marL="0" indent="0">
              <a:buNone/>
            </a:pPr>
            <a:r>
              <a:rPr lang="en-US" sz="1150" b="1" dirty="0">
                <a:solidFill>
                  <a:srgbClr val="0D6E8C"/>
                </a:solidFill>
                <a:latin typeface="Calibri" pitchFamily="34" charset="0"/>
                <a:ea typeface="Calibri" pitchFamily="34" charset="-122"/>
                <a:cs typeface="Calibri" pitchFamily="34" charset="-120"/>
              </a:rPr>
              <a:t>3. </a:t>
            </a:r>
            <a:r>
              <a:rPr lang="en-US" sz="1150" dirty="0">
                <a:solidFill>
                  <a:srgbClr val="1B2F4E"/>
                </a:solidFill>
                <a:highlight>
                  <a:srgbClr val="FFFF00"/>
                </a:highlight>
                <a:latin typeface="Calibri" pitchFamily="34" charset="0"/>
                <a:ea typeface="Calibri" pitchFamily="34" charset="-122"/>
                <a:cs typeface="Calibri" pitchFamily="34" charset="-120"/>
              </a:rPr>
              <a:t>Record β̂*</a:t>
            </a:r>
            <a:r>
              <a:rPr lang="en-US" sz="1150" dirty="0">
                <a:solidFill>
                  <a:srgbClr val="1B2F4E"/>
                </a:solidFill>
                <a:latin typeface="Calibri" pitchFamily="34" charset="0"/>
                <a:ea typeface="Calibri" pitchFamily="34" charset="-122"/>
                <a:cs typeface="Calibri" pitchFamily="34" charset="-120"/>
              </a:rPr>
              <a:t> for each resample</a:t>
            </a:r>
            <a:endParaRPr lang="en-US" sz="1150" dirty="0"/>
          </a:p>
        </p:txBody>
      </p:sp>
      <p:sp>
        <p:nvSpPr>
          <p:cNvPr id="15" name="Text 13"/>
          <p:cNvSpPr/>
          <p:nvPr/>
        </p:nvSpPr>
        <p:spPr>
          <a:xfrm>
            <a:off x="384048" y="4096512"/>
            <a:ext cx="3977640" cy="310896"/>
          </a:xfrm>
          <a:prstGeom prst="rect">
            <a:avLst/>
          </a:prstGeom>
          <a:noFill/>
          <a:ln/>
        </p:spPr>
        <p:txBody>
          <a:bodyPr wrap="square" lIns="0" tIns="0" rIns="0" bIns="0" rtlCol="0" anchor="ctr"/>
          <a:lstStyle/>
          <a:p>
            <a:pPr marL="0" indent="0">
              <a:buNone/>
            </a:pPr>
            <a:r>
              <a:rPr lang="en-US" sz="1150" b="1" dirty="0">
                <a:solidFill>
                  <a:srgbClr val="0D6E8C"/>
                </a:solidFill>
                <a:latin typeface="Calibri" pitchFamily="34" charset="0"/>
                <a:ea typeface="Calibri" pitchFamily="34" charset="-122"/>
                <a:cs typeface="Calibri" pitchFamily="34" charset="-120"/>
              </a:rPr>
              <a:t>4. </a:t>
            </a:r>
            <a:r>
              <a:rPr lang="en-US" sz="1150" dirty="0">
                <a:solidFill>
                  <a:srgbClr val="1B2F4E"/>
                </a:solidFill>
                <a:latin typeface="Calibri" pitchFamily="34" charset="0"/>
                <a:ea typeface="Calibri" pitchFamily="34" charset="-122"/>
                <a:cs typeface="Calibri" pitchFamily="34" charset="-120"/>
              </a:rPr>
              <a:t>Build Confidence Interval from the distribution of β̂*</a:t>
            </a:r>
            <a:endParaRPr lang="en-US" sz="1150" dirty="0"/>
          </a:p>
        </p:txBody>
      </p:sp>
      <p:sp>
        <p:nvSpPr>
          <p:cNvPr id="16" name="Shape 14"/>
          <p:cNvSpPr/>
          <p:nvPr/>
        </p:nvSpPr>
        <p:spPr>
          <a:xfrm>
            <a:off x="384048" y="4663440"/>
            <a:ext cx="3977640" cy="274320"/>
          </a:xfrm>
          <a:prstGeom prst="rect">
            <a:avLst/>
          </a:prstGeom>
          <a:solidFill>
            <a:srgbClr val="EBF4F7"/>
          </a:solidFill>
          <a:ln w="12700">
            <a:solidFill>
              <a:srgbClr val="A8D5E2"/>
            </a:solidFill>
            <a:prstDash val="solid"/>
          </a:ln>
        </p:spPr>
        <p:txBody>
          <a:bodyPr/>
          <a:lstStyle/>
          <a:p>
            <a:endParaRPr lang="en-US"/>
          </a:p>
        </p:txBody>
      </p:sp>
      <p:sp>
        <p:nvSpPr>
          <p:cNvPr id="17" name="Text 15"/>
          <p:cNvSpPr/>
          <p:nvPr/>
        </p:nvSpPr>
        <p:spPr>
          <a:xfrm>
            <a:off x="429768" y="4681728"/>
            <a:ext cx="3886200" cy="237744"/>
          </a:xfrm>
          <a:prstGeom prst="rect">
            <a:avLst/>
          </a:prstGeom>
          <a:noFill/>
          <a:ln/>
        </p:spPr>
        <p:txBody>
          <a:bodyPr wrap="square" lIns="0" tIns="0" rIns="0" bIns="0" rtlCol="0" anchor="ctr"/>
          <a:lstStyle/>
          <a:p>
            <a:pPr marL="0" indent="0">
              <a:buNone/>
            </a:pPr>
            <a:r>
              <a:rPr lang="en-US" sz="1000" i="1" dirty="0">
                <a:solidFill>
                  <a:srgbClr val="5B7285"/>
                </a:solidFill>
                <a:latin typeface="Calibri" pitchFamily="34" charset="0"/>
                <a:ea typeface="Calibri" pitchFamily="34" charset="-122"/>
                <a:cs typeface="Calibri" pitchFamily="34" charset="-120"/>
              </a:rPr>
              <a:t>Robust to heteroskedasticity; makes no error distribution assumption</a:t>
            </a:r>
            <a:endParaRPr lang="en-US" sz="1000" dirty="0"/>
          </a:p>
        </p:txBody>
      </p:sp>
      <p:sp>
        <p:nvSpPr>
          <p:cNvPr id="18" name="Shape 16"/>
          <p:cNvSpPr/>
          <p:nvPr/>
        </p:nvSpPr>
        <p:spPr>
          <a:xfrm>
            <a:off x="4709160" y="2606040"/>
            <a:ext cx="4206240" cy="2423160"/>
          </a:xfrm>
          <a:prstGeom prst="rect">
            <a:avLst/>
          </a:prstGeom>
          <a:solidFill>
            <a:srgbClr val="FFFFFF"/>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4709160" y="2606040"/>
            <a:ext cx="4206240" cy="384048"/>
          </a:xfrm>
          <a:prstGeom prst="rect">
            <a:avLst/>
          </a:prstGeom>
          <a:solidFill>
            <a:srgbClr val="2EB8B0"/>
          </a:solidFill>
          <a:ln w="12700">
            <a:solidFill>
              <a:srgbClr val="2EB8B0"/>
            </a:solidFill>
            <a:prstDash val="solid"/>
          </a:ln>
        </p:spPr>
        <p:txBody>
          <a:bodyPr/>
          <a:lstStyle/>
          <a:p>
            <a:endParaRPr lang="en-US"/>
          </a:p>
        </p:txBody>
      </p:sp>
      <p:sp>
        <p:nvSpPr>
          <p:cNvPr id="20" name="Text 18"/>
          <p:cNvSpPr/>
          <p:nvPr/>
        </p:nvSpPr>
        <p:spPr>
          <a:xfrm>
            <a:off x="4800600" y="2633472"/>
            <a:ext cx="402336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Residual Resampling (Fixed-X Bootstrap)</a:t>
            </a:r>
            <a:endParaRPr lang="en-US" sz="1250" dirty="0"/>
          </a:p>
        </p:txBody>
      </p:sp>
      <p:sp>
        <p:nvSpPr>
          <p:cNvPr id="21" name="Text 19"/>
          <p:cNvSpPr/>
          <p:nvPr/>
        </p:nvSpPr>
        <p:spPr>
          <a:xfrm>
            <a:off x="4818888" y="3054096"/>
            <a:ext cx="3977640" cy="310896"/>
          </a:xfrm>
          <a:prstGeom prst="rect">
            <a:avLst/>
          </a:prstGeom>
          <a:noFill/>
          <a:ln/>
        </p:spPr>
        <p:txBody>
          <a:bodyPr wrap="square" lIns="0" tIns="0" rIns="0" bIns="0" rtlCol="0" anchor="ctr"/>
          <a:lstStyle/>
          <a:p>
            <a:pPr marL="0" indent="0">
              <a:buNone/>
            </a:pPr>
            <a:r>
              <a:rPr lang="en-US" sz="1150" b="1" dirty="0">
                <a:solidFill>
                  <a:srgbClr val="2EB8B0"/>
                </a:solidFill>
                <a:latin typeface="Calibri" pitchFamily="34" charset="0"/>
                <a:ea typeface="Calibri" pitchFamily="34" charset="-122"/>
                <a:cs typeface="Calibri" pitchFamily="34" charset="-120"/>
              </a:rPr>
              <a:t>1. </a:t>
            </a:r>
            <a:r>
              <a:rPr lang="en-US" sz="1150" dirty="0">
                <a:solidFill>
                  <a:srgbClr val="1B2F4E"/>
                </a:solidFill>
                <a:latin typeface="Calibri" pitchFamily="34" charset="0"/>
                <a:ea typeface="Calibri" pitchFamily="34" charset="-122"/>
                <a:cs typeface="Calibri" pitchFamily="34" charset="-120"/>
              </a:rPr>
              <a:t>Fit OLS to original data; save ê = Y − Ŷ</a:t>
            </a:r>
            <a:endParaRPr lang="en-US" sz="1150" dirty="0"/>
          </a:p>
        </p:txBody>
      </p:sp>
      <p:sp>
        <p:nvSpPr>
          <p:cNvPr id="22" name="Text 20"/>
          <p:cNvSpPr/>
          <p:nvPr/>
        </p:nvSpPr>
        <p:spPr>
          <a:xfrm>
            <a:off x="4818888" y="3401568"/>
            <a:ext cx="3977640" cy="310896"/>
          </a:xfrm>
          <a:prstGeom prst="rect">
            <a:avLst/>
          </a:prstGeom>
          <a:noFill/>
          <a:ln/>
        </p:spPr>
        <p:txBody>
          <a:bodyPr wrap="square" lIns="0" tIns="0" rIns="0" bIns="0" rtlCol="0" anchor="ctr"/>
          <a:lstStyle/>
          <a:p>
            <a:pPr marL="0" indent="0">
              <a:buNone/>
            </a:pPr>
            <a:r>
              <a:rPr lang="en-US" sz="1150" b="1" dirty="0">
                <a:solidFill>
                  <a:srgbClr val="2EB8B0"/>
                </a:solidFill>
                <a:latin typeface="Calibri" pitchFamily="34" charset="0"/>
                <a:ea typeface="Calibri" pitchFamily="34" charset="-122"/>
                <a:cs typeface="Calibri" pitchFamily="34" charset="-120"/>
              </a:rPr>
              <a:t>2. </a:t>
            </a:r>
            <a:r>
              <a:rPr lang="en-US" sz="1150" dirty="0">
                <a:solidFill>
                  <a:srgbClr val="1B2F4E"/>
                </a:solidFill>
                <a:latin typeface="Calibri" pitchFamily="34" charset="0"/>
                <a:ea typeface="Calibri" pitchFamily="34" charset="-122"/>
                <a:cs typeface="Calibri" pitchFamily="34" charset="-120"/>
              </a:rPr>
              <a:t>Resample residuals: ê*₁, </a:t>
            </a:r>
            <a:r>
              <a:rPr lang="en-US" sz="1150" dirty="0">
                <a:solidFill>
                  <a:srgbClr val="1B2F4E"/>
                </a:solidFill>
                <a:highlight>
                  <a:srgbClr val="FFFF00"/>
                </a:highlight>
                <a:latin typeface="Calibri" pitchFamily="34" charset="0"/>
                <a:ea typeface="Calibri" pitchFamily="34" charset="-122"/>
                <a:cs typeface="Calibri" pitchFamily="34" charset="-120"/>
              </a:rPr>
              <a:t>..., ê*ₙ</a:t>
            </a:r>
            <a:endParaRPr lang="en-US" sz="1150" dirty="0">
              <a:highlight>
                <a:srgbClr val="FFFF00"/>
              </a:highlight>
            </a:endParaRPr>
          </a:p>
        </p:txBody>
      </p:sp>
      <p:sp>
        <p:nvSpPr>
          <p:cNvPr id="23" name="Text 21"/>
          <p:cNvSpPr/>
          <p:nvPr/>
        </p:nvSpPr>
        <p:spPr>
          <a:xfrm>
            <a:off x="4818888" y="3749040"/>
            <a:ext cx="3977640" cy="310896"/>
          </a:xfrm>
          <a:prstGeom prst="rect">
            <a:avLst/>
          </a:prstGeom>
          <a:noFill/>
          <a:ln/>
        </p:spPr>
        <p:txBody>
          <a:bodyPr wrap="square" lIns="0" tIns="0" rIns="0" bIns="0" rtlCol="0" anchor="ctr"/>
          <a:lstStyle/>
          <a:p>
            <a:pPr marL="0" indent="0">
              <a:buNone/>
            </a:pPr>
            <a:r>
              <a:rPr lang="en-US" sz="1150" b="1" dirty="0">
                <a:solidFill>
                  <a:srgbClr val="2EB8B0"/>
                </a:solidFill>
                <a:latin typeface="Calibri" pitchFamily="34" charset="0"/>
                <a:ea typeface="Calibri" pitchFamily="34" charset="-122"/>
                <a:cs typeface="Calibri" pitchFamily="34" charset="-120"/>
              </a:rPr>
              <a:t>3. </a:t>
            </a:r>
            <a:r>
              <a:rPr lang="en-US" sz="1150" dirty="0">
                <a:solidFill>
                  <a:srgbClr val="1B2F4E"/>
                </a:solidFill>
                <a:latin typeface="Calibri" pitchFamily="34" charset="0"/>
                <a:ea typeface="Calibri" pitchFamily="34" charset="-122"/>
                <a:cs typeface="Calibri" pitchFamily="34" charset="-120"/>
              </a:rPr>
              <a:t>Create Y* = Ŷ + ê*, refit model</a:t>
            </a:r>
            <a:endParaRPr lang="en-US" sz="1150" dirty="0"/>
          </a:p>
        </p:txBody>
      </p:sp>
      <p:sp>
        <p:nvSpPr>
          <p:cNvPr id="24" name="Text 22"/>
          <p:cNvSpPr/>
          <p:nvPr/>
        </p:nvSpPr>
        <p:spPr>
          <a:xfrm>
            <a:off x="4818888" y="4096512"/>
            <a:ext cx="3977640" cy="310896"/>
          </a:xfrm>
          <a:prstGeom prst="rect">
            <a:avLst/>
          </a:prstGeom>
          <a:noFill/>
          <a:ln/>
        </p:spPr>
        <p:txBody>
          <a:bodyPr wrap="square" lIns="0" tIns="0" rIns="0" bIns="0" rtlCol="0" anchor="ctr"/>
          <a:lstStyle/>
          <a:p>
            <a:pPr marL="0" indent="0">
              <a:buNone/>
            </a:pPr>
            <a:r>
              <a:rPr lang="en-US" sz="1150" b="1" dirty="0">
                <a:solidFill>
                  <a:srgbClr val="2EB8B0"/>
                </a:solidFill>
                <a:latin typeface="Calibri" pitchFamily="34" charset="0"/>
                <a:ea typeface="Calibri" pitchFamily="34" charset="-122"/>
                <a:cs typeface="Calibri" pitchFamily="34" charset="-120"/>
              </a:rPr>
              <a:t>4. </a:t>
            </a:r>
            <a:r>
              <a:rPr lang="en-US" sz="1150" dirty="0">
                <a:solidFill>
                  <a:srgbClr val="1B2F4E"/>
                </a:solidFill>
                <a:latin typeface="Calibri" pitchFamily="34" charset="0"/>
                <a:ea typeface="Calibri" pitchFamily="34" charset="-122"/>
                <a:cs typeface="Calibri" pitchFamily="34" charset="-120"/>
              </a:rPr>
              <a:t>Record β̂* from each refitted model</a:t>
            </a:r>
            <a:endParaRPr lang="en-US" sz="1150" dirty="0"/>
          </a:p>
        </p:txBody>
      </p:sp>
      <p:sp>
        <p:nvSpPr>
          <p:cNvPr id="25" name="Shape 23"/>
          <p:cNvSpPr/>
          <p:nvPr/>
        </p:nvSpPr>
        <p:spPr>
          <a:xfrm>
            <a:off x="4818888" y="4663440"/>
            <a:ext cx="3977640" cy="274320"/>
          </a:xfrm>
          <a:prstGeom prst="rect">
            <a:avLst/>
          </a:prstGeom>
          <a:solidFill>
            <a:srgbClr val="EBF4F7"/>
          </a:solidFill>
          <a:ln w="12700">
            <a:solidFill>
              <a:srgbClr val="A8D5E2"/>
            </a:solidFill>
            <a:prstDash val="solid"/>
          </a:ln>
        </p:spPr>
        <p:txBody>
          <a:bodyPr/>
          <a:lstStyle/>
          <a:p>
            <a:endParaRPr lang="en-US"/>
          </a:p>
        </p:txBody>
      </p:sp>
      <p:sp>
        <p:nvSpPr>
          <p:cNvPr id="26" name="Text 24"/>
          <p:cNvSpPr/>
          <p:nvPr/>
        </p:nvSpPr>
        <p:spPr>
          <a:xfrm>
            <a:off x="4864608" y="4681728"/>
            <a:ext cx="3886200" cy="237744"/>
          </a:xfrm>
          <a:prstGeom prst="rect">
            <a:avLst/>
          </a:prstGeom>
          <a:noFill/>
          <a:ln/>
        </p:spPr>
        <p:txBody>
          <a:bodyPr wrap="square" lIns="0" tIns="0" rIns="0" bIns="0" rtlCol="0" anchor="ctr"/>
          <a:lstStyle/>
          <a:p>
            <a:pPr marL="0" indent="0">
              <a:buNone/>
            </a:pPr>
            <a:r>
              <a:rPr lang="en-US" sz="1000" i="1" dirty="0">
                <a:solidFill>
                  <a:srgbClr val="5B7285"/>
                </a:solidFill>
                <a:latin typeface="Calibri" pitchFamily="34" charset="0"/>
                <a:ea typeface="Calibri" pitchFamily="34" charset="-122"/>
                <a:cs typeface="Calibri" pitchFamily="34" charset="-120"/>
              </a:rPr>
              <a:t>Assumes model structure correct; more efficient when model is right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Bootstrap Results: Regression Coefficients</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051560"/>
          <a:ext cx="8595360" cy="1901952"/>
        </p:xfrm>
        <a:graphic>
          <a:graphicData uri="http://schemas.openxmlformats.org/drawingml/2006/table">
            <a:tbl>
              <a:tblPr/>
              <a:tblGrid>
                <a:gridCol w="1920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Predictor</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 (OLS)</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OLS 95% CI</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Boot SE</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BCa 95% CI</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Conclusion</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0D6E8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SES Index</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[0.18, 0.44]</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0.065</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[0.19, 0.46]</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Robust</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Prior Score</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[0.36, 0.60]</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0.061</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[0.38, 0.61]</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Robust</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Instr. Quality</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0.17</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[0.02, 0.32]</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0.094</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[0.01, 0.36]</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Wider CI</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Class Size</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[−0.21, 0.03]</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0.076</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[−0.24, 0.04]</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Non-sig.</a:t>
                      </a:r>
                      <a:endParaRPr lang="en-US" sz="1200" dirty="0">
                        <a:latin typeface="Calibri" charset="0"/>
                        <a:ea typeface="Calibri" charset="0"/>
                        <a:cs typeface="Calibri" charset="0"/>
                      </a:endParaRPr>
                    </a:p>
                  </a:txBody>
                  <a:tcPr>
                    <a:lnL w="6350" cap="flat" cmpd="sng" algn="ctr">
                      <a:solidFill>
                        <a:srgbClr val="A8D5E2"/>
                      </a:solidFill>
                      <a:prstDash val="solid"/>
                      <a:round/>
                      <a:headEnd type="none" w="med" len="med"/>
                      <a:tailEnd type="none" w="med" len="med"/>
                    </a:lnL>
                    <a:lnR w="6350" cap="flat" cmpd="sng" algn="ctr">
                      <a:solidFill>
                        <a:srgbClr val="A8D5E2"/>
                      </a:solidFill>
                      <a:prstDash val="solid"/>
                      <a:round/>
                      <a:headEnd type="none" w="med" len="med"/>
                      <a:tailEnd type="none" w="med" len="med"/>
                    </a:lnR>
                    <a:lnT w="6350" cap="flat" cmpd="sng" algn="ctr">
                      <a:solidFill>
                        <a:srgbClr val="A8D5E2"/>
                      </a:solidFill>
                      <a:prstDash val="solid"/>
                      <a:round/>
                      <a:headEnd type="none" w="med" len="med"/>
                      <a:tailEnd type="none" w="med" len="med"/>
                    </a:lnT>
                    <a:lnB w="6350" cap="flat" cmpd="sng" algn="ctr">
                      <a:solidFill>
                        <a:srgbClr val="A8D5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274320" y="3291840"/>
          <a:ext cx="530352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806440" y="3291840"/>
            <a:ext cx="3063240" cy="1691640"/>
          </a:xfrm>
          <a:prstGeom prst="rect">
            <a:avLst/>
          </a:prstGeom>
          <a:solidFill>
            <a:srgbClr val="EBF4F7"/>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3"/>
          <p:cNvSpPr/>
          <p:nvPr/>
        </p:nvSpPr>
        <p:spPr>
          <a:xfrm>
            <a:off x="5897880" y="3337560"/>
            <a:ext cx="2880360" cy="320040"/>
          </a:xfrm>
          <a:prstGeom prst="rect">
            <a:avLst/>
          </a:prstGeom>
          <a:noFill/>
          <a:ln/>
        </p:spPr>
        <p:txBody>
          <a:bodyPr wrap="square" lIns="0" tIns="0" rIns="0" bIns="0" rtlCol="0" anchor="ctr"/>
          <a:lstStyle/>
          <a:p>
            <a:pPr marL="0" indent="0">
              <a:buNone/>
            </a:pPr>
            <a:r>
              <a:rPr lang="en-US" sz="1300" b="1" dirty="0">
                <a:solidFill>
                  <a:srgbClr val="0D6E8C"/>
                </a:solidFill>
                <a:latin typeface="Georgia" pitchFamily="34" charset="0"/>
                <a:ea typeface="Georgia" pitchFamily="34" charset="-122"/>
                <a:cs typeface="Georgia" pitchFamily="34" charset="-120"/>
              </a:rPr>
              <a:t>Key Insight</a:t>
            </a:r>
            <a:endParaRPr lang="en-US" sz="1300" dirty="0"/>
          </a:p>
        </p:txBody>
      </p:sp>
      <p:sp>
        <p:nvSpPr>
          <p:cNvPr id="8" name="Text 4"/>
          <p:cNvSpPr/>
          <p:nvPr/>
        </p:nvSpPr>
        <p:spPr>
          <a:xfrm>
            <a:off x="5897880" y="3703320"/>
            <a:ext cx="2880360" cy="1188720"/>
          </a:xfrm>
          <a:prstGeom prst="rect">
            <a:avLst/>
          </a:prstGeom>
          <a:noFill/>
          <a:ln/>
        </p:spPr>
        <p:txBody>
          <a:bodyPr wrap="square" rtlCol="0" anchor="ctr"/>
          <a:lstStyle/>
          <a:p>
            <a:pPr marL="0" indent="0">
              <a:buNone/>
            </a:pPr>
            <a:r>
              <a:rPr lang="en-US" sz="1100" dirty="0">
                <a:solidFill>
                  <a:srgbClr val="1B2F4E"/>
                </a:solidFill>
                <a:latin typeface="Calibri" pitchFamily="34" charset="0"/>
                <a:ea typeface="Calibri" pitchFamily="34" charset="-122"/>
                <a:cs typeface="Calibri" pitchFamily="34" charset="-120"/>
              </a:rPr>
              <a:t>Bootstrap CIs for Instructional Quality are notably wider than OLS — reflecting real uncertainty in skewed small-sample data that OLS underestimates. The bootstrap is telling us something important.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Contemporary Statistical Applications</a:t>
            </a:r>
            <a:endParaRPr lang="en-US" sz="2400" dirty="0"/>
          </a:p>
        </p:txBody>
      </p:sp>
      <p:sp>
        <p:nvSpPr>
          <p:cNvPr id="4" name="Shape 2"/>
          <p:cNvSpPr/>
          <p:nvPr/>
        </p:nvSpPr>
        <p:spPr>
          <a:xfrm>
            <a:off x="274320" y="1097280"/>
            <a:ext cx="2834640" cy="1828800"/>
          </a:xfrm>
          <a:prstGeom prst="rect">
            <a:avLst/>
          </a:prstGeom>
          <a:solidFill>
            <a:srgbClr val="FFFFFF"/>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97280"/>
            <a:ext cx="2834640" cy="347472"/>
          </a:xfrm>
          <a:prstGeom prst="rect">
            <a:avLst/>
          </a:prstGeom>
          <a:solidFill>
            <a:srgbClr val="0D6E8C"/>
          </a:solidFill>
          <a:ln w="12700">
            <a:solidFill>
              <a:srgbClr val="0D6E8C"/>
            </a:solidFill>
            <a:prstDash val="solid"/>
          </a:ln>
        </p:spPr>
        <p:txBody>
          <a:bodyPr/>
          <a:lstStyle/>
          <a:p>
            <a:endParaRPr lang="en-US"/>
          </a:p>
        </p:txBody>
      </p:sp>
      <p:sp>
        <p:nvSpPr>
          <p:cNvPr id="6" name="Text 4"/>
          <p:cNvSpPr/>
          <p:nvPr/>
        </p:nvSpPr>
        <p:spPr>
          <a:xfrm>
            <a:off x="347472" y="113385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Machine Learning</a:t>
            </a:r>
            <a:endParaRPr lang="en-US" sz="950" dirty="0"/>
          </a:p>
        </p:txBody>
      </p:sp>
      <p:sp>
        <p:nvSpPr>
          <p:cNvPr id="7" name="Text 5"/>
          <p:cNvSpPr/>
          <p:nvPr/>
        </p:nvSpPr>
        <p:spPr>
          <a:xfrm>
            <a:off x="347472" y="1499616"/>
            <a:ext cx="2697480" cy="320040"/>
          </a:xfrm>
          <a:prstGeom prst="rect">
            <a:avLst/>
          </a:prstGeom>
          <a:noFill/>
          <a:ln/>
        </p:spPr>
        <p:txBody>
          <a:bodyPr wrap="square" lIns="0" tIns="0" rIns="0" bIns="0" rtlCol="0" anchor="ctr"/>
          <a:lstStyle/>
          <a:p>
            <a:pPr marL="0" indent="0">
              <a:buNone/>
            </a:pPr>
            <a:r>
              <a:rPr lang="en-US" sz="1300" b="1" dirty="0">
                <a:solidFill>
                  <a:srgbClr val="0D6E8C"/>
                </a:solidFill>
                <a:latin typeface="Georgia" pitchFamily="34" charset="0"/>
                <a:ea typeface="Georgia" pitchFamily="34" charset="-122"/>
                <a:cs typeface="Georgia" pitchFamily="34" charset="-120"/>
              </a:rPr>
              <a:t>Random Forests</a:t>
            </a:r>
            <a:endParaRPr lang="en-US" sz="1300" dirty="0"/>
          </a:p>
        </p:txBody>
      </p:sp>
      <p:sp>
        <p:nvSpPr>
          <p:cNvPr id="8" name="Text 6"/>
          <p:cNvSpPr/>
          <p:nvPr/>
        </p:nvSpPr>
        <p:spPr>
          <a:xfrm>
            <a:off x="347472" y="182880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Bootstrap aggregating (bagging) is core to random forests. Each tree is grown on a bootstrap sample; the OOB (out-of-bag) observations estimate prediction error.</a:t>
            </a:r>
            <a:endParaRPr lang="en-US" sz="1050" dirty="0"/>
          </a:p>
        </p:txBody>
      </p:sp>
      <p:sp>
        <p:nvSpPr>
          <p:cNvPr id="9" name="Text 7"/>
          <p:cNvSpPr/>
          <p:nvPr/>
        </p:nvSpPr>
        <p:spPr>
          <a:xfrm>
            <a:off x="347472" y="2679192"/>
            <a:ext cx="2688336" cy="228600"/>
          </a:xfrm>
          <a:prstGeom prst="rect">
            <a:avLst/>
          </a:prstGeom>
          <a:noFill/>
          <a:ln/>
        </p:spPr>
        <p:txBody>
          <a:bodyPr wrap="square" lIns="0" tIns="0" rIns="0" bIns="0" rtlCol="0" anchor="ctr"/>
          <a:lstStyle/>
          <a:p>
            <a:pPr marL="0" indent="0">
              <a:buNone/>
            </a:pPr>
            <a:r>
              <a:rPr lang="en-US" sz="850" i="1" dirty="0">
                <a:solidFill>
                  <a:srgbClr val="5B7285"/>
                </a:solidFill>
                <a:latin typeface="Calibri" pitchFamily="34" charset="0"/>
                <a:ea typeface="Calibri" pitchFamily="34" charset="-122"/>
                <a:cs typeface="Calibri" pitchFamily="34" charset="-120"/>
              </a:rPr>
              <a:t>Breiman (2001). Random Forests. Machine Learning, 45, 5–32.</a:t>
            </a:r>
            <a:endParaRPr lang="en-US" sz="850" dirty="0"/>
          </a:p>
        </p:txBody>
      </p:sp>
      <p:sp>
        <p:nvSpPr>
          <p:cNvPr id="10" name="Shape 8"/>
          <p:cNvSpPr/>
          <p:nvPr/>
        </p:nvSpPr>
        <p:spPr>
          <a:xfrm>
            <a:off x="3227832" y="1097280"/>
            <a:ext cx="2834640" cy="1828800"/>
          </a:xfrm>
          <a:prstGeom prst="rect">
            <a:avLst/>
          </a:prstGeom>
          <a:solidFill>
            <a:srgbClr val="FFFFFF"/>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3227832" y="1097280"/>
            <a:ext cx="2834640" cy="347472"/>
          </a:xfrm>
          <a:prstGeom prst="rect">
            <a:avLst/>
          </a:prstGeom>
          <a:solidFill>
            <a:srgbClr val="2EB8B0"/>
          </a:solidFill>
          <a:ln w="12700">
            <a:solidFill>
              <a:srgbClr val="2EB8B0"/>
            </a:solidFill>
            <a:prstDash val="solid"/>
          </a:ln>
        </p:spPr>
        <p:txBody>
          <a:bodyPr/>
          <a:lstStyle/>
          <a:p>
            <a:endParaRPr lang="en-US"/>
          </a:p>
        </p:txBody>
      </p:sp>
      <p:sp>
        <p:nvSpPr>
          <p:cNvPr id="12" name="Text 10"/>
          <p:cNvSpPr/>
          <p:nvPr/>
        </p:nvSpPr>
        <p:spPr>
          <a:xfrm>
            <a:off x="3300984" y="113385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Educational Measurement</a:t>
            </a:r>
            <a:endParaRPr lang="en-US" sz="950" dirty="0"/>
          </a:p>
        </p:txBody>
      </p:sp>
      <p:sp>
        <p:nvSpPr>
          <p:cNvPr id="13" name="Text 11"/>
          <p:cNvSpPr/>
          <p:nvPr/>
        </p:nvSpPr>
        <p:spPr>
          <a:xfrm>
            <a:off x="3300984" y="1499616"/>
            <a:ext cx="2697480" cy="320040"/>
          </a:xfrm>
          <a:prstGeom prst="rect">
            <a:avLst/>
          </a:prstGeom>
          <a:noFill/>
          <a:ln/>
        </p:spPr>
        <p:txBody>
          <a:bodyPr wrap="square" lIns="0" tIns="0" rIns="0" bIns="0" rtlCol="0" anchor="ctr"/>
          <a:lstStyle/>
          <a:p>
            <a:pPr marL="0" indent="0">
              <a:buNone/>
            </a:pPr>
            <a:r>
              <a:rPr lang="en-US" sz="1300" b="1" dirty="0">
                <a:solidFill>
                  <a:srgbClr val="2EB8B0"/>
                </a:solidFill>
                <a:latin typeface="Georgia" pitchFamily="34" charset="0"/>
                <a:ea typeface="Georgia" pitchFamily="34" charset="-122"/>
                <a:cs typeface="Georgia" pitchFamily="34" charset="-120"/>
              </a:rPr>
              <a:t>IRT &amp; Plausible Values</a:t>
            </a:r>
            <a:endParaRPr lang="en-US" sz="1300" dirty="0"/>
          </a:p>
        </p:txBody>
      </p:sp>
      <p:sp>
        <p:nvSpPr>
          <p:cNvPr id="14" name="Text 12"/>
          <p:cNvSpPr/>
          <p:nvPr/>
        </p:nvSpPr>
        <p:spPr>
          <a:xfrm>
            <a:off x="3300984" y="182880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Bootstrap is used to quantify uncertainty in IRT parameter estimates and in plausible value imputation for NAEP, PISA, and TIMSS analyses.</a:t>
            </a:r>
            <a:endParaRPr lang="en-US" sz="1050" dirty="0"/>
          </a:p>
        </p:txBody>
      </p:sp>
      <p:sp>
        <p:nvSpPr>
          <p:cNvPr id="15" name="Text 13"/>
          <p:cNvSpPr/>
          <p:nvPr/>
        </p:nvSpPr>
        <p:spPr>
          <a:xfrm>
            <a:off x="3300984" y="2679192"/>
            <a:ext cx="2688336" cy="228600"/>
          </a:xfrm>
          <a:prstGeom prst="rect">
            <a:avLst/>
          </a:prstGeom>
          <a:noFill/>
          <a:ln/>
        </p:spPr>
        <p:txBody>
          <a:bodyPr wrap="square" lIns="0" tIns="0" rIns="0" bIns="0" rtlCol="0" anchor="ctr"/>
          <a:lstStyle/>
          <a:p>
            <a:pPr marL="0" indent="0">
              <a:buNone/>
            </a:pPr>
            <a:r>
              <a:rPr lang="en-US" sz="850" i="1" dirty="0">
                <a:solidFill>
                  <a:srgbClr val="5B7285"/>
                </a:solidFill>
                <a:latin typeface="Calibri" pitchFamily="34" charset="0"/>
                <a:ea typeface="Calibri" pitchFamily="34" charset="-122"/>
                <a:cs typeface="Calibri" pitchFamily="34" charset="-120"/>
              </a:rPr>
              <a:t>Mislevy et al. (1992). Scaling procedures in NAEP. JES.</a:t>
            </a:r>
            <a:endParaRPr lang="en-US" sz="850" dirty="0"/>
          </a:p>
        </p:txBody>
      </p:sp>
      <p:sp>
        <p:nvSpPr>
          <p:cNvPr id="16" name="Shape 14"/>
          <p:cNvSpPr/>
          <p:nvPr/>
        </p:nvSpPr>
        <p:spPr>
          <a:xfrm>
            <a:off x="6181344" y="1097280"/>
            <a:ext cx="2834640" cy="1828800"/>
          </a:xfrm>
          <a:prstGeom prst="rect">
            <a:avLst/>
          </a:prstGeom>
          <a:solidFill>
            <a:srgbClr val="FFFFFF"/>
          </a:solidFill>
          <a:ln w="254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6181344" y="1097280"/>
            <a:ext cx="2834640" cy="347472"/>
          </a:xfrm>
          <a:prstGeom prst="rect">
            <a:avLst/>
          </a:prstGeom>
          <a:solidFill>
            <a:srgbClr val="1B2F4E"/>
          </a:solidFill>
          <a:ln w="12700">
            <a:solidFill>
              <a:srgbClr val="1B2F4E"/>
            </a:solidFill>
            <a:prstDash val="solid"/>
          </a:ln>
        </p:spPr>
        <p:txBody>
          <a:bodyPr/>
          <a:lstStyle/>
          <a:p>
            <a:endParaRPr lang="en-US"/>
          </a:p>
        </p:txBody>
      </p:sp>
      <p:sp>
        <p:nvSpPr>
          <p:cNvPr id="18" name="Text 16"/>
          <p:cNvSpPr/>
          <p:nvPr/>
        </p:nvSpPr>
        <p:spPr>
          <a:xfrm>
            <a:off x="6254496" y="113385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Causal Inference</a:t>
            </a:r>
            <a:endParaRPr lang="en-US" sz="950" dirty="0"/>
          </a:p>
        </p:txBody>
      </p:sp>
      <p:sp>
        <p:nvSpPr>
          <p:cNvPr id="19" name="Text 17"/>
          <p:cNvSpPr/>
          <p:nvPr/>
        </p:nvSpPr>
        <p:spPr>
          <a:xfrm>
            <a:off x="6254496" y="1499616"/>
            <a:ext cx="2697480" cy="320040"/>
          </a:xfrm>
          <a:prstGeom prst="rect">
            <a:avLst/>
          </a:prstGeom>
          <a:noFill/>
          <a:ln/>
        </p:spPr>
        <p:txBody>
          <a:bodyPr wrap="square" lIns="0" tIns="0" rIns="0" bIns="0" rtlCol="0" anchor="ctr"/>
          <a:lstStyle/>
          <a:p>
            <a:pPr marL="0" indent="0">
              <a:buNone/>
            </a:pPr>
            <a:r>
              <a:rPr lang="en-US" sz="1300" b="1" dirty="0">
                <a:solidFill>
                  <a:srgbClr val="1B2F4E"/>
                </a:solidFill>
                <a:latin typeface="Georgia" pitchFamily="34" charset="0"/>
                <a:ea typeface="Georgia" pitchFamily="34" charset="-122"/>
                <a:cs typeface="Georgia" pitchFamily="34" charset="-120"/>
              </a:rPr>
              <a:t>Mediation Analysis</a:t>
            </a:r>
            <a:endParaRPr lang="en-US" sz="1300" dirty="0"/>
          </a:p>
        </p:txBody>
      </p:sp>
      <p:sp>
        <p:nvSpPr>
          <p:cNvPr id="20" name="Text 18"/>
          <p:cNvSpPr/>
          <p:nvPr/>
        </p:nvSpPr>
        <p:spPr>
          <a:xfrm>
            <a:off x="6254496" y="182880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The bias-corrected bootstrap (Preacher &amp; Hayes, 2008) is the gold-standard for testing indirect effects in mediation — replacing the Sobel test.</a:t>
            </a:r>
            <a:endParaRPr lang="en-US" sz="1050" dirty="0"/>
          </a:p>
        </p:txBody>
      </p:sp>
      <p:sp>
        <p:nvSpPr>
          <p:cNvPr id="21" name="Text 19"/>
          <p:cNvSpPr/>
          <p:nvPr/>
        </p:nvSpPr>
        <p:spPr>
          <a:xfrm>
            <a:off x="6254496" y="2679192"/>
            <a:ext cx="2688336" cy="228600"/>
          </a:xfrm>
          <a:prstGeom prst="rect">
            <a:avLst/>
          </a:prstGeom>
          <a:noFill/>
          <a:ln/>
        </p:spPr>
        <p:txBody>
          <a:bodyPr wrap="square" lIns="0" tIns="0" rIns="0" bIns="0" rtlCol="0" anchor="ctr"/>
          <a:lstStyle/>
          <a:p>
            <a:pPr marL="0" indent="0">
              <a:buNone/>
            </a:pPr>
            <a:r>
              <a:rPr lang="en-US" sz="850" i="1" dirty="0">
                <a:solidFill>
                  <a:srgbClr val="5B7285"/>
                </a:solidFill>
                <a:latin typeface="Calibri" pitchFamily="34" charset="0"/>
                <a:ea typeface="Calibri" pitchFamily="34" charset="-122"/>
                <a:cs typeface="Calibri" pitchFamily="34" charset="-120"/>
              </a:rPr>
              <a:t>Preacher &amp; Hayes (2008). Asymptotic and resampling strategies. Behav Res Meth.</a:t>
            </a:r>
            <a:endParaRPr lang="en-US" sz="850" dirty="0"/>
          </a:p>
        </p:txBody>
      </p:sp>
      <p:sp>
        <p:nvSpPr>
          <p:cNvPr id="22" name="Shape 20"/>
          <p:cNvSpPr/>
          <p:nvPr/>
        </p:nvSpPr>
        <p:spPr>
          <a:xfrm>
            <a:off x="274320" y="3063240"/>
            <a:ext cx="2834640" cy="1828800"/>
          </a:xfrm>
          <a:prstGeom prst="rect">
            <a:avLst/>
          </a:prstGeom>
          <a:solidFill>
            <a:srgbClr val="FFFFFF"/>
          </a:solidFill>
          <a:ln w="25400">
            <a:solidFill>
              <a:srgbClr val="E8A020"/>
            </a:solidFill>
            <a:prstDash val="solid"/>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274320" y="3063240"/>
            <a:ext cx="2834640" cy="347472"/>
          </a:xfrm>
          <a:prstGeom prst="rect">
            <a:avLst/>
          </a:prstGeom>
          <a:solidFill>
            <a:srgbClr val="E8A020"/>
          </a:solidFill>
          <a:ln w="12700">
            <a:solidFill>
              <a:srgbClr val="E8A020"/>
            </a:solidFill>
            <a:prstDash val="solid"/>
          </a:ln>
        </p:spPr>
        <p:txBody>
          <a:bodyPr/>
          <a:lstStyle/>
          <a:p>
            <a:endParaRPr lang="en-US"/>
          </a:p>
        </p:txBody>
      </p:sp>
      <p:sp>
        <p:nvSpPr>
          <p:cNvPr id="24" name="Text 22"/>
          <p:cNvSpPr/>
          <p:nvPr/>
        </p:nvSpPr>
        <p:spPr>
          <a:xfrm>
            <a:off x="347472" y="309981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Psychometrics</a:t>
            </a:r>
            <a:endParaRPr lang="en-US" sz="950" dirty="0"/>
          </a:p>
        </p:txBody>
      </p:sp>
      <p:sp>
        <p:nvSpPr>
          <p:cNvPr id="25" name="Text 23"/>
          <p:cNvSpPr/>
          <p:nvPr/>
        </p:nvSpPr>
        <p:spPr>
          <a:xfrm>
            <a:off x="347472" y="3465576"/>
            <a:ext cx="2697480" cy="320040"/>
          </a:xfrm>
          <a:prstGeom prst="rect">
            <a:avLst/>
          </a:prstGeom>
          <a:noFill/>
          <a:ln/>
        </p:spPr>
        <p:txBody>
          <a:bodyPr wrap="square" lIns="0" tIns="0" rIns="0" bIns="0" rtlCol="0" anchor="ctr"/>
          <a:lstStyle/>
          <a:p>
            <a:pPr marL="0" indent="0">
              <a:buNone/>
            </a:pPr>
            <a:r>
              <a:rPr lang="en-US" sz="1300" b="1" dirty="0">
                <a:solidFill>
                  <a:srgbClr val="2C3E50"/>
                </a:solidFill>
                <a:latin typeface="Georgia" pitchFamily="34" charset="0"/>
                <a:ea typeface="Georgia" pitchFamily="34" charset="-122"/>
                <a:cs typeface="Georgia" pitchFamily="34" charset="-120"/>
              </a:rPr>
              <a:t>Reliability &amp; Model Fit</a:t>
            </a:r>
            <a:endParaRPr lang="en-US" sz="1300" dirty="0"/>
          </a:p>
        </p:txBody>
      </p:sp>
      <p:sp>
        <p:nvSpPr>
          <p:cNvPr id="26" name="Text 24"/>
          <p:cNvSpPr/>
          <p:nvPr/>
        </p:nvSpPr>
        <p:spPr>
          <a:xfrm>
            <a:off x="347472" y="379476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Bootstrapped CIs for Cronbach's α, McDonald's ω, and RMSEA allow researchers to report uncertainty around reliability and fit indices.</a:t>
            </a:r>
            <a:endParaRPr lang="en-US" sz="1050" dirty="0"/>
          </a:p>
        </p:txBody>
      </p:sp>
      <p:sp>
        <p:nvSpPr>
          <p:cNvPr id="27" name="Text 25"/>
          <p:cNvSpPr/>
          <p:nvPr/>
        </p:nvSpPr>
        <p:spPr>
          <a:xfrm>
            <a:off x="347472" y="4645152"/>
            <a:ext cx="2688336" cy="228600"/>
          </a:xfrm>
          <a:prstGeom prst="rect">
            <a:avLst/>
          </a:prstGeom>
          <a:noFill/>
          <a:ln/>
        </p:spPr>
        <p:txBody>
          <a:bodyPr wrap="square" lIns="0" tIns="0" rIns="0" bIns="0" rtlCol="0" anchor="ctr"/>
          <a:lstStyle/>
          <a:p>
            <a:pPr marL="0" indent="0">
              <a:buNone/>
            </a:pPr>
            <a:r>
              <a:rPr lang="en-US" sz="850" i="1" dirty="0">
                <a:solidFill>
                  <a:srgbClr val="5B7285"/>
                </a:solidFill>
                <a:latin typeface="Calibri" pitchFamily="34" charset="0"/>
                <a:ea typeface="Calibri" pitchFamily="34" charset="-122"/>
                <a:cs typeface="Calibri" pitchFamily="34" charset="-120"/>
              </a:rPr>
              <a:t>Kelley &amp; Pornprasertmanit (2016). Confidence intervals for α. Psych Methods.</a:t>
            </a:r>
            <a:endParaRPr lang="en-US" sz="850" dirty="0"/>
          </a:p>
        </p:txBody>
      </p:sp>
      <p:sp>
        <p:nvSpPr>
          <p:cNvPr id="28" name="Shape 26"/>
          <p:cNvSpPr/>
          <p:nvPr/>
        </p:nvSpPr>
        <p:spPr>
          <a:xfrm>
            <a:off x="3227832" y="3063240"/>
            <a:ext cx="2834640" cy="1828800"/>
          </a:xfrm>
          <a:prstGeom prst="rect">
            <a:avLst/>
          </a:prstGeom>
          <a:solidFill>
            <a:srgbClr val="FFFFFF"/>
          </a:solidFill>
          <a:ln w="25400">
            <a:solidFill>
              <a:srgbClr val="5B7285"/>
            </a:solidFill>
            <a:prstDash val="solid"/>
          </a:ln>
          <a:effectLst>
            <a:outerShdw blurRad="101600" dist="38100" dir="8100000" algn="bl" rotWithShape="0">
              <a:srgbClr val="000000">
                <a:alpha val="10000"/>
              </a:srgbClr>
            </a:outerShdw>
          </a:effectLst>
        </p:spPr>
        <p:txBody>
          <a:bodyPr/>
          <a:lstStyle/>
          <a:p>
            <a:endParaRPr lang="en-US"/>
          </a:p>
        </p:txBody>
      </p:sp>
      <p:sp>
        <p:nvSpPr>
          <p:cNvPr id="29" name="Shape 27"/>
          <p:cNvSpPr/>
          <p:nvPr/>
        </p:nvSpPr>
        <p:spPr>
          <a:xfrm>
            <a:off x="3227832" y="3063240"/>
            <a:ext cx="2834640" cy="347472"/>
          </a:xfrm>
          <a:prstGeom prst="rect">
            <a:avLst/>
          </a:prstGeom>
          <a:solidFill>
            <a:srgbClr val="5B7285"/>
          </a:solidFill>
          <a:ln w="12700">
            <a:solidFill>
              <a:srgbClr val="5B7285"/>
            </a:solidFill>
            <a:prstDash val="solid"/>
          </a:ln>
        </p:spPr>
        <p:txBody>
          <a:bodyPr/>
          <a:lstStyle/>
          <a:p>
            <a:endParaRPr lang="en-US"/>
          </a:p>
        </p:txBody>
      </p:sp>
      <p:sp>
        <p:nvSpPr>
          <p:cNvPr id="30" name="Text 28"/>
          <p:cNvSpPr/>
          <p:nvPr/>
        </p:nvSpPr>
        <p:spPr>
          <a:xfrm>
            <a:off x="3300984" y="309981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Clinical Research</a:t>
            </a:r>
            <a:endParaRPr lang="en-US" sz="950" dirty="0"/>
          </a:p>
        </p:txBody>
      </p:sp>
      <p:sp>
        <p:nvSpPr>
          <p:cNvPr id="31" name="Text 29"/>
          <p:cNvSpPr/>
          <p:nvPr/>
        </p:nvSpPr>
        <p:spPr>
          <a:xfrm>
            <a:off x="3300984" y="3465576"/>
            <a:ext cx="2697480" cy="320040"/>
          </a:xfrm>
          <a:prstGeom prst="rect">
            <a:avLst/>
          </a:prstGeom>
          <a:noFill/>
          <a:ln/>
        </p:spPr>
        <p:txBody>
          <a:bodyPr wrap="square" lIns="0" tIns="0" rIns="0" bIns="0" rtlCol="0" anchor="ctr"/>
          <a:lstStyle/>
          <a:p>
            <a:pPr marL="0" indent="0">
              <a:buNone/>
            </a:pPr>
            <a:r>
              <a:rPr lang="en-US" sz="1300" b="1" dirty="0">
                <a:solidFill>
                  <a:srgbClr val="5B7285"/>
                </a:solidFill>
                <a:latin typeface="Georgia" pitchFamily="34" charset="0"/>
                <a:ea typeface="Georgia" pitchFamily="34" charset="-122"/>
                <a:cs typeface="Georgia" pitchFamily="34" charset="-120"/>
              </a:rPr>
              <a:t>Small-Sample SEs</a:t>
            </a:r>
            <a:endParaRPr lang="en-US" sz="1300" dirty="0"/>
          </a:p>
        </p:txBody>
      </p:sp>
      <p:sp>
        <p:nvSpPr>
          <p:cNvPr id="32" name="Text 30"/>
          <p:cNvSpPr/>
          <p:nvPr/>
        </p:nvSpPr>
        <p:spPr>
          <a:xfrm>
            <a:off x="3300984" y="379476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With small n, the bootstrap outperforms delta-method SEs for non-linear estimators such as hazard ratios, odds ratios, and NNT.</a:t>
            </a:r>
            <a:endParaRPr lang="en-US" sz="1050" dirty="0"/>
          </a:p>
        </p:txBody>
      </p:sp>
      <p:sp>
        <p:nvSpPr>
          <p:cNvPr id="33" name="Text 31"/>
          <p:cNvSpPr/>
          <p:nvPr/>
        </p:nvSpPr>
        <p:spPr>
          <a:xfrm>
            <a:off x="3300984" y="4645152"/>
            <a:ext cx="2688336" cy="228600"/>
          </a:xfrm>
          <a:prstGeom prst="rect">
            <a:avLst/>
          </a:prstGeom>
          <a:noFill/>
          <a:ln/>
        </p:spPr>
        <p:txBody>
          <a:bodyPr wrap="square" lIns="0" tIns="0" rIns="0" bIns="0" rtlCol="0" anchor="ctr"/>
          <a:lstStyle/>
          <a:p>
            <a:pPr marL="0" indent="0">
              <a:buNone/>
            </a:pPr>
            <a:r>
              <a:rPr lang="en-US" sz="850" i="1" dirty="0">
                <a:solidFill>
                  <a:srgbClr val="5B7285"/>
                </a:solidFill>
                <a:highlight>
                  <a:srgbClr val="FFFF00"/>
                </a:highlight>
                <a:latin typeface="Calibri" pitchFamily="34" charset="0"/>
                <a:ea typeface="Calibri" pitchFamily="34" charset="-122"/>
                <a:cs typeface="Calibri" pitchFamily="34" charset="-120"/>
              </a:rPr>
              <a:t>Efron &amp; Tibshirani (1993). An Introduction to the Bootstrap. Chapman &amp; Hall.</a:t>
            </a:r>
            <a:endParaRPr lang="en-US" sz="850" dirty="0">
              <a:highlight>
                <a:srgbClr val="FFFF00"/>
              </a:highlight>
            </a:endParaRPr>
          </a:p>
        </p:txBody>
      </p:sp>
      <p:sp>
        <p:nvSpPr>
          <p:cNvPr id="34" name="Shape 32"/>
          <p:cNvSpPr/>
          <p:nvPr/>
        </p:nvSpPr>
        <p:spPr>
          <a:xfrm>
            <a:off x="6181344" y="3063240"/>
            <a:ext cx="2834640" cy="1828800"/>
          </a:xfrm>
          <a:prstGeom prst="rect">
            <a:avLst/>
          </a:prstGeom>
          <a:solidFill>
            <a:srgbClr val="FFFFFF"/>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35" name="Shape 33"/>
          <p:cNvSpPr/>
          <p:nvPr/>
        </p:nvSpPr>
        <p:spPr>
          <a:xfrm>
            <a:off x="6181344" y="3063240"/>
            <a:ext cx="2834640" cy="347472"/>
          </a:xfrm>
          <a:prstGeom prst="rect">
            <a:avLst/>
          </a:prstGeom>
          <a:solidFill>
            <a:srgbClr val="0D6E8C"/>
          </a:solidFill>
          <a:ln w="12700">
            <a:solidFill>
              <a:srgbClr val="0D6E8C"/>
            </a:solidFill>
            <a:prstDash val="solid"/>
          </a:ln>
        </p:spPr>
        <p:txBody>
          <a:bodyPr/>
          <a:lstStyle/>
          <a:p>
            <a:endParaRPr lang="en-US"/>
          </a:p>
        </p:txBody>
      </p:sp>
      <p:sp>
        <p:nvSpPr>
          <p:cNvPr id="36" name="Text 34"/>
          <p:cNvSpPr/>
          <p:nvPr/>
        </p:nvSpPr>
        <p:spPr>
          <a:xfrm>
            <a:off x="6254496" y="3099816"/>
            <a:ext cx="2697480" cy="274320"/>
          </a:xfrm>
          <a:prstGeom prst="rect">
            <a:avLst/>
          </a:prstGeom>
          <a:noFill/>
          <a:ln/>
        </p:spPr>
        <p:txBody>
          <a:bodyPr wrap="square" lIns="0" tIns="0" rIns="0" bIns="0"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Economics</a:t>
            </a:r>
            <a:endParaRPr lang="en-US" sz="950" dirty="0"/>
          </a:p>
        </p:txBody>
      </p:sp>
      <p:sp>
        <p:nvSpPr>
          <p:cNvPr id="37" name="Text 35"/>
          <p:cNvSpPr/>
          <p:nvPr/>
        </p:nvSpPr>
        <p:spPr>
          <a:xfrm>
            <a:off x="6254496" y="3465576"/>
            <a:ext cx="2697480" cy="320040"/>
          </a:xfrm>
          <a:prstGeom prst="rect">
            <a:avLst/>
          </a:prstGeom>
          <a:noFill/>
          <a:ln/>
        </p:spPr>
        <p:txBody>
          <a:bodyPr wrap="square" lIns="0" tIns="0" rIns="0" bIns="0" rtlCol="0" anchor="ctr"/>
          <a:lstStyle/>
          <a:p>
            <a:pPr marL="0" indent="0">
              <a:buNone/>
            </a:pPr>
            <a:r>
              <a:rPr lang="en-US" sz="1300" b="1" dirty="0">
                <a:solidFill>
                  <a:srgbClr val="0D6E8C"/>
                </a:solidFill>
                <a:latin typeface="Georgia" pitchFamily="34" charset="0"/>
                <a:ea typeface="Georgia" pitchFamily="34" charset="-122"/>
                <a:cs typeface="Georgia" pitchFamily="34" charset="-120"/>
              </a:rPr>
              <a:t>Clustered Data</a:t>
            </a:r>
            <a:endParaRPr lang="en-US" sz="1300" dirty="0"/>
          </a:p>
        </p:txBody>
      </p:sp>
      <p:sp>
        <p:nvSpPr>
          <p:cNvPr id="38" name="Text 36"/>
          <p:cNvSpPr/>
          <p:nvPr/>
        </p:nvSpPr>
        <p:spPr>
          <a:xfrm>
            <a:off x="6254496" y="3794760"/>
            <a:ext cx="2688336" cy="822960"/>
          </a:xfrm>
          <a:prstGeom prst="rect">
            <a:avLst/>
          </a:prstGeom>
          <a:noFill/>
          <a:ln/>
        </p:spPr>
        <p:txBody>
          <a:bodyPr wrap="square" rtlCol="0" anchor="ctr"/>
          <a:lstStyle/>
          <a:p>
            <a:pPr marL="0" indent="0">
              <a:buNone/>
            </a:pPr>
            <a:r>
              <a:rPr lang="en-US" sz="1050" dirty="0">
                <a:solidFill>
                  <a:srgbClr val="1B2F4E"/>
                </a:solidFill>
                <a:latin typeface="Calibri" pitchFamily="34" charset="0"/>
                <a:ea typeface="Calibri" pitchFamily="34" charset="-122"/>
                <a:cs typeface="Calibri" pitchFamily="34" charset="-120"/>
              </a:rPr>
              <a:t>Cluster-robust bootstraps (wild bootstrap, cluster bootstrap) provide valid inference for panel data and difference-in-differences designs.</a:t>
            </a:r>
            <a:endParaRPr lang="en-US" sz="1050" dirty="0"/>
          </a:p>
        </p:txBody>
      </p:sp>
      <p:sp>
        <p:nvSpPr>
          <p:cNvPr id="39" name="Text 37"/>
          <p:cNvSpPr/>
          <p:nvPr/>
        </p:nvSpPr>
        <p:spPr>
          <a:xfrm>
            <a:off x="6254496" y="4645152"/>
            <a:ext cx="2688336" cy="228600"/>
          </a:xfrm>
          <a:prstGeom prst="rect">
            <a:avLst/>
          </a:prstGeom>
          <a:noFill/>
          <a:ln/>
        </p:spPr>
        <p:txBody>
          <a:bodyPr wrap="square" lIns="0" tIns="0" rIns="0" bIns="0" rtlCol="0" anchor="ctr"/>
          <a:lstStyle/>
          <a:p>
            <a:pPr marL="0" indent="0">
              <a:buNone/>
            </a:pPr>
            <a:r>
              <a:rPr lang="en-US" sz="850" i="1" dirty="0">
                <a:solidFill>
                  <a:srgbClr val="5B7285"/>
                </a:solidFill>
                <a:latin typeface="Calibri" pitchFamily="34" charset="0"/>
                <a:ea typeface="Calibri" pitchFamily="34" charset="-122"/>
                <a:cs typeface="Calibri" pitchFamily="34" charset="-120"/>
              </a:rPr>
              <a:t>Cameron &amp; Miller (2015). A practitioner's guide to cluster-robust inference. J Hum Resources.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Assumptions, Limitations &amp; Diagnostics</a:t>
            </a:r>
            <a:endParaRPr lang="en-US" sz="2400" dirty="0"/>
          </a:p>
        </p:txBody>
      </p:sp>
      <p:sp>
        <p:nvSpPr>
          <p:cNvPr id="4" name="Shape 2"/>
          <p:cNvSpPr/>
          <p:nvPr/>
        </p:nvSpPr>
        <p:spPr>
          <a:xfrm>
            <a:off x="274320" y="1078992"/>
            <a:ext cx="2834640" cy="3931920"/>
          </a:xfrm>
          <a:prstGeom prst="rect">
            <a:avLst/>
          </a:prstGeom>
          <a:solidFill>
            <a:srgbClr val="F4F8FA"/>
          </a:solidFill>
          <a:ln w="25400">
            <a:solidFill>
              <a:srgbClr val="0D6E8C"/>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78992"/>
            <a:ext cx="2834640" cy="438912"/>
          </a:xfrm>
          <a:prstGeom prst="rect">
            <a:avLst/>
          </a:prstGeom>
          <a:solidFill>
            <a:srgbClr val="0D6E8C"/>
          </a:solidFill>
          <a:ln w="12700">
            <a:solidFill>
              <a:srgbClr val="0D6E8C"/>
            </a:solidFill>
            <a:prstDash val="solid"/>
          </a:ln>
        </p:spPr>
        <p:txBody>
          <a:bodyPr/>
          <a:lstStyle/>
          <a:p>
            <a:endParaRPr lang="en-US"/>
          </a:p>
        </p:txBody>
      </p:sp>
      <p:sp>
        <p:nvSpPr>
          <p:cNvPr id="6" name="Text 4"/>
          <p:cNvSpPr/>
          <p:nvPr/>
        </p:nvSpPr>
        <p:spPr>
          <a:xfrm>
            <a:off x="365760" y="1115568"/>
            <a:ext cx="2670048"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What Bootstrap Requires</a:t>
            </a:r>
            <a:endParaRPr lang="en-US" sz="1300" dirty="0"/>
          </a:p>
        </p:txBody>
      </p:sp>
      <p:sp>
        <p:nvSpPr>
          <p:cNvPr id="7" name="Text 5"/>
          <p:cNvSpPr/>
          <p:nvPr/>
        </p:nvSpPr>
        <p:spPr>
          <a:xfrm>
            <a:off x="365760" y="1627632"/>
            <a:ext cx="2651760" cy="685800"/>
          </a:xfrm>
          <a:prstGeom prst="rect">
            <a:avLst/>
          </a:prstGeom>
          <a:noFill/>
          <a:ln/>
        </p:spPr>
        <p:txBody>
          <a:bodyPr wrap="square" rtlCol="0" anchor="ctr"/>
          <a:lstStyle/>
          <a:p>
            <a:pPr marL="0" indent="0">
              <a:buNone/>
            </a:pPr>
            <a:r>
              <a:rPr lang="en-US" sz="1200" b="1" dirty="0">
                <a:solidFill>
                  <a:srgbClr val="0D6E8C"/>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IID or exchangeable observations</a:t>
            </a:r>
            <a:endParaRPr lang="en-US" sz="1200" dirty="0"/>
          </a:p>
        </p:txBody>
      </p:sp>
      <p:sp>
        <p:nvSpPr>
          <p:cNvPr id="8" name="Text 6"/>
          <p:cNvSpPr/>
          <p:nvPr/>
        </p:nvSpPr>
        <p:spPr>
          <a:xfrm>
            <a:off x="365760" y="2404872"/>
            <a:ext cx="2651760" cy="685800"/>
          </a:xfrm>
          <a:prstGeom prst="rect">
            <a:avLst/>
          </a:prstGeom>
          <a:noFill/>
          <a:ln/>
        </p:spPr>
        <p:txBody>
          <a:bodyPr wrap="square" rtlCol="0" anchor="ctr"/>
          <a:lstStyle/>
          <a:p>
            <a:pPr marL="0" indent="0">
              <a:buNone/>
            </a:pPr>
            <a:r>
              <a:rPr lang="en-US" sz="1200" b="1" dirty="0">
                <a:solidFill>
                  <a:srgbClr val="0D6E8C"/>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The sample is representative</a:t>
            </a:r>
            <a:endParaRPr lang="en-US" sz="1200" dirty="0"/>
          </a:p>
        </p:txBody>
      </p:sp>
      <p:sp>
        <p:nvSpPr>
          <p:cNvPr id="9" name="Text 7"/>
          <p:cNvSpPr/>
          <p:nvPr/>
        </p:nvSpPr>
        <p:spPr>
          <a:xfrm>
            <a:off x="365760" y="3182112"/>
            <a:ext cx="2651760" cy="685800"/>
          </a:xfrm>
          <a:prstGeom prst="rect">
            <a:avLst/>
          </a:prstGeom>
          <a:noFill/>
          <a:ln/>
        </p:spPr>
        <p:txBody>
          <a:bodyPr wrap="square" rtlCol="0" anchor="ctr"/>
          <a:lstStyle/>
          <a:p>
            <a:pPr marL="0" indent="0">
              <a:buNone/>
            </a:pPr>
            <a:r>
              <a:rPr lang="en-US" sz="1200" b="1" dirty="0">
                <a:solidFill>
                  <a:srgbClr val="0D6E8C"/>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n large enough that EDF ≈ F</a:t>
            </a:r>
            <a:endParaRPr lang="en-US" sz="1200" dirty="0"/>
          </a:p>
        </p:txBody>
      </p:sp>
      <p:sp>
        <p:nvSpPr>
          <p:cNvPr id="10" name="Text 8"/>
          <p:cNvSpPr/>
          <p:nvPr/>
        </p:nvSpPr>
        <p:spPr>
          <a:xfrm>
            <a:off x="365760" y="3959352"/>
            <a:ext cx="2651760" cy="685800"/>
          </a:xfrm>
          <a:prstGeom prst="rect">
            <a:avLst/>
          </a:prstGeom>
          <a:noFill/>
          <a:ln/>
        </p:spPr>
        <p:txBody>
          <a:bodyPr wrap="square" rtlCol="0" anchor="ctr"/>
          <a:lstStyle/>
          <a:p>
            <a:pPr marL="0" indent="0">
              <a:buNone/>
            </a:pPr>
            <a:r>
              <a:rPr lang="en-US" sz="1200" b="1" dirty="0">
                <a:solidFill>
                  <a:srgbClr val="0D6E8C"/>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Statistic is 'smooth' (differentiable in the data)</a:t>
            </a:r>
            <a:endParaRPr lang="en-US" sz="1200" dirty="0"/>
          </a:p>
        </p:txBody>
      </p:sp>
      <p:sp>
        <p:nvSpPr>
          <p:cNvPr id="11" name="Shape 9"/>
          <p:cNvSpPr/>
          <p:nvPr/>
        </p:nvSpPr>
        <p:spPr>
          <a:xfrm>
            <a:off x="3246120" y="1078992"/>
            <a:ext cx="2834640" cy="3931920"/>
          </a:xfrm>
          <a:prstGeom prst="rect">
            <a:avLst/>
          </a:prstGeom>
          <a:solidFill>
            <a:srgbClr val="F4F8FA"/>
          </a:solidFill>
          <a:ln w="25400">
            <a:solidFill>
              <a:srgbClr val="C0392B"/>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246120" y="1078992"/>
            <a:ext cx="2834640" cy="438912"/>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3337560" y="1115568"/>
            <a:ext cx="2670048"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When Bootstrap Fails</a:t>
            </a:r>
            <a:endParaRPr lang="en-US" sz="1300" dirty="0"/>
          </a:p>
        </p:txBody>
      </p:sp>
      <p:sp>
        <p:nvSpPr>
          <p:cNvPr id="14" name="Text 12"/>
          <p:cNvSpPr/>
          <p:nvPr/>
        </p:nvSpPr>
        <p:spPr>
          <a:xfrm>
            <a:off x="3337560" y="1627632"/>
            <a:ext cx="2651760" cy="68580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Extreme order statistics (max, min)</a:t>
            </a:r>
            <a:endParaRPr lang="en-US" sz="1200" dirty="0"/>
          </a:p>
        </p:txBody>
      </p:sp>
      <p:sp>
        <p:nvSpPr>
          <p:cNvPr id="15" name="Text 13"/>
          <p:cNvSpPr/>
          <p:nvPr/>
        </p:nvSpPr>
        <p:spPr>
          <a:xfrm>
            <a:off x="3337560" y="2404872"/>
            <a:ext cx="2651760" cy="68580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Highly dependent data (time series — use block bootstrap instead)</a:t>
            </a:r>
            <a:endParaRPr lang="en-US" sz="1200" dirty="0"/>
          </a:p>
        </p:txBody>
      </p:sp>
      <p:sp>
        <p:nvSpPr>
          <p:cNvPr id="16" name="Text 14"/>
          <p:cNvSpPr/>
          <p:nvPr/>
        </p:nvSpPr>
        <p:spPr>
          <a:xfrm>
            <a:off x="3337560" y="3182112"/>
            <a:ext cx="2651760" cy="68580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Very heavy-tailed distributions</a:t>
            </a:r>
            <a:endParaRPr lang="en-US" sz="1200" dirty="0"/>
          </a:p>
        </p:txBody>
      </p:sp>
      <p:sp>
        <p:nvSpPr>
          <p:cNvPr id="17" name="Text 15"/>
          <p:cNvSpPr/>
          <p:nvPr/>
        </p:nvSpPr>
        <p:spPr>
          <a:xfrm>
            <a:off x="3337560" y="3959352"/>
            <a:ext cx="2651760" cy="68580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Non-smooth statistics (e.g., mode)</a:t>
            </a:r>
            <a:endParaRPr lang="en-US" sz="1200" dirty="0"/>
          </a:p>
        </p:txBody>
      </p:sp>
      <p:sp>
        <p:nvSpPr>
          <p:cNvPr id="18" name="Shape 16"/>
          <p:cNvSpPr/>
          <p:nvPr/>
        </p:nvSpPr>
        <p:spPr>
          <a:xfrm>
            <a:off x="6217920" y="1078992"/>
            <a:ext cx="2834640" cy="3931920"/>
          </a:xfrm>
          <a:prstGeom prst="rect">
            <a:avLst/>
          </a:prstGeom>
          <a:solidFill>
            <a:srgbClr val="F4F8FA"/>
          </a:solidFill>
          <a:ln w="25400">
            <a:solidFill>
              <a:srgbClr val="2EB8B0"/>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6217920" y="1078992"/>
            <a:ext cx="2834640" cy="438912"/>
          </a:xfrm>
          <a:prstGeom prst="rect">
            <a:avLst/>
          </a:prstGeom>
          <a:solidFill>
            <a:srgbClr val="2EB8B0"/>
          </a:solidFill>
          <a:ln w="12700">
            <a:solidFill>
              <a:srgbClr val="2EB8B0"/>
            </a:solidFill>
            <a:prstDash val="solid"/>
          </a:ln>
        </p:spPr>
        <p:txBody>
          <a:bodyPr/>
          <a:lstStyle/>
          <a:p>
            <a:endParaRPr lang="en-US"/>
          </a:p>
        </p:txBody>
      </p:sp>
      <p:sp>
        <p:nvSpPr>
          <p:cNvPr id="20" name="Text 18"/>
          <p:cNvSpPr/>
          <p:nvPr/>
        </p:nvSpPr>
        <p:spPr>
          <a:xfrm>
            <a:off x="6309360" y="1115568"/>
            <a:ext cx="2670048"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Diagnostics to Run</a:t>
            </a:r>
            <a:endParaRPr lang="en-US" sz="1300" dirty="0"/>
          </a:p>
        </p:txBody>
      </p:sp>
      <p:sp>
        <p:nvSpPr>
          <p:cNvPr id="21" name="Text 19"/>
          <p:cNvSpPr/>
          <p:nvPr/>
        </p:nvSpPr>
        <p:spPr>
          <a:xfrm>
            <a:off x="6309360" y="1627632"/>
            <a:ext cx="2651760" cy="685800"/>
          </a:xfrm>
          <a:prstGeom prst="rect">
            <a:avLst/>
          </a:prstGeom>
          <a:noFill/>
          <a:ln/>
        </p:spPr>
        <p:txBody>
          <a:bodyPr wrap="square" rtlCol="0" anchor="ctr"/>
          <a:lstStyle/>
          <a:p>
            <a:pPr marL="0" indent="0">
              <a:buNone/>
            </a:pPr>
            <a:r>
              <a:rPr lang="en-US" sz="1200" b="1" dirty="0">
                <a:solidFill>
                  <a:srgbClr val="2EB8B0"/>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Plot bootstrap distribution — should be unimodal &amp; roughly symmetric</a:t>
            </a:r>
            <a:endParaRPr lang="en-US" sz="1200" dirty="0"/>
          </a:p>
        </p:txBody>
      </p:sp>
      <p:sp>
        <p:nvSpPr>
          <p:cNvPr id="22" name="Text 20"/>
          <p:cNvSpPr/>
          <p:nvPr/>
        </p:nvSpPr>
        <p:spPr>
          <a:xfrm>
            <a:off x="6309360" y="2404872"/>
            <a:ext cx="2651760" cy="685800"/>
          </a:xfrm>
          <a:prstGeom prst="rect">
            <a:avLst/>
          </a:prstGeom>
          <a:noFill/>
          <a:ln/>
        </p:spPr>
        <p:txBody>
          <a:bodyPr wrap="square" rtlCol="0" anchor="ctr"/>
          <a:lstStyle/>
          <a:p>
            <a:pPr marL="0" indent="0">
              <a:buNone/>
            </a:pPr>
            <a:r>
              <a:rPr lang="en-US" sz="1200" b="1" dirty="0">
                <a:solidFill>
                  <a:srgbClr val="2EB8B0"/>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Check bias: |θ̂* – θ̂| should be small relative to SE</a:t>
            </a:r>
            <a:endParaRPr lang="en-US" sz="1200" dirty="0"/>
          </a:p>
        </p:txBody>
      </p:sp>
      <p:sp>
        <p:nvSpPr>
          <p:cNvPr id="23" name="Text 21"/>
          <p:cNvSpPr/>
          <p:nvPr/>
        </p:nvSpPr>
        <p:spPr>
          <a:xfrm>
            <a:off x="6309360" y="3182112"/>
            <a:ext cx="2651760" cy="685800"/>
          </a:xfrm>
          <a:prstGeom prst="rect">
            <a:avLst/>
          </a:prstGeom>
          <a:noFill/>
          <a:ln/>
        </p:spPr>
        <p:txBody>
          <a:bodyPr wrap="square" rtlCol="0" anchor="ctr"/>
          <a:lstStyle/>
          <a:p>
            <a:pPr marL="0" indent="0">
              <a:buNone/>
            </a:pPr>
            <a:r>
              <a:rPr lang="en-US" sz="1200" b="1" dirty="0">
                <a:solidFill>
                  <a:srgbClr val="2EB8B0"/>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Compare CI methods — large discrepancies signal problems</a:t>
            </a:r>
            <a:endParaRPr lang="en-US" sz="1200" dirty="0"/>
          </a:p>
        </p:txBody>
      </p:sp>
      <p:sp>
        <p:nvSpPr>
          <p:cNvPr id="24" name="Text 22"/>
          <p:cNvSpPr/>
          <p:nvPr/>
        </p:nvSpPr>
        <p:spPr>
          <a:xfrm>
            <a:off x="6309360" y="3959352"/>
            <a:ext cx="2651760" cy="685800"/>
          </a:xfrm>
          <a:prstGeom prst="rect">
            <a:avLst/>
          </a:prstGeom>
          <a:noFill/>
          <a:ln/>
        </p:spPr>
        <p:txBody>
          <a:bodyPr wrap="square" rtlCol="0" anchor="ctr"/>
          <a:lstStyle/>
          <a:p>
            <a:pPr marL="0" indent="0">
              <a:buNone/>
            </a:pPr>
            <a:r>
              <a:rPr lang="en-US" sz="1200" b="1" dirty="0">
                <a:solidFill>
                  <a:srgbClr val="2EB8B0"/>
                </a:solidFill>
                <a:latin typeface="Calibri" pitchFamily="34" charset="0"/>
                <a:ea typeface="Calibri" pitchFamily="34" charset="-122"/>
                <a:cs typeface="Calibri" pitchFamily="34" charset="-120"/>
              </a:rPr>
              <a:t>▶  </a:t>
            </a:r>
            <a:r>
              <a:rPr lang="en-US" sz="1200" dirty="0">
                <a:solidFill>
                  <a:srgbClr val="1B2F4E"/>
                </a:solidFill>
                <a:latin typeface="Calibri" pitchFamily="34" charset="0"/>
                <a:ea typeface="Calibri" pitchFamily="34" charset="-122"/>
                <a:cs typeface="Calibri" pitchFamily="34" charset="-120"/>
              </a:rPr>
              <a:t>Stability check: rerun with different B values</a:t>
            </a:r>
            <a:endParaRPr lang="en-US" sz="1200" dirty="0"/>
          </a:p>
        </p:txBody>
      </p:sp>
      <p:sp>
        <p:nvSpPr>
          <p:cNvPr id="25" name="Shape 23"/>
          <p:cNvSpPr/>
          <p:nvPr/>
        </p:nvSpPr>
        <p:spPr>
          <a:xfrm>
            <a:off x="274320" y="4864608"/>
            <a:ext cx="8595360" cy="228600"/>
          </a:xfrm>
          <a:prstGeom prst="rect">
            <a:avLst/>
          </a:prstGeom>
          <a:solidFill>
            <a:srgbClr val="E8A020">
              <a:alpha val="75000"/>
            </a:srgbClr>
          </a:solidFill>
          <a:ln w="12700">
            <a:solidFill>
              <a:srgbClr val="E8A020"/>
            </a:solidFill>
            <a:prstDash val="solid"/>
          </a:ln>
        </p:spPr>
        <p:txBody>
          <a:bodyPr/>
          <a:lstStyle/>
          <a:p>
            <a:endParaRPr lang="en-US"/>
          </a:p>
        </p:txBody>
      </p:sp>
      <p:sp>
        <p:nvSpPr>
          <p:cNvPr id="26" name="Text 24"/>
          <p:cNvSpPr/>
          <p:nvPr/>
        </p:nvSpPr>
        <p:spPr>
          <a:xfrm>
            <a:off x="411480" y="4882896"/>
            <a:ext cx="8321040" cy="192024"/>
          </a:xfrm>
          <a:prstGeom prst="rect">
            <a:avLst/>
          </a:prstGeom>
          <a:noFill/>
          <a:ln/>
        </p:spPr>
        <p:txBody>
          <a:bodyPr wrap="square" lIns="0" tIns="0" rIns="0" bIns="0" rtlCol="0" anchor="ctr"/>
          <a:lstStyle/>
          <a:p>
            <a:pPr marL="0" indent="0">
              <a:buNone/>
            </a:pPr>
            <a:r>
              <a:rPr lang="en-US" sz="1100" b="1" i="1" dirty="0">
                <a:solidFill>
                  <a:srgbClr val="1B2F4E"/>
                </a:solidFill>
                <a:latin typeface="Calibri" pitchFamily="34" charset="0"/>
                <a:ea typeface="Calibri" pitchFamily="34" charset="-122"/>
                <a:cs typeface="Calibri" pitchFamily="34" charset="-120"/>
              </a:rPr>
              <a:t>The bootstrap is not a magic wand — it cannot fix a biased or unrepresentative sample.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Implementation: R and Python</a:t>
            </a:r>
            <a:endParaRPr lang="en-US" sz="2600" dirty="0"/>
          </a:p>
        </p:txBody>
      </p:sp>
      <p:sp>
        <p:nvSpPr>
          <p:cNvPr id="4" name="Shape 2"/>
          <p:cNvSpPr/>
          <p:nvPr/>
        </p:nvSpPr>
        <p:spPr>
          <a:xfrm>
            <a:off x="274320" y="1051560"/>
            <a:ext cx="4160520" cy="3931920"/>
          </a:xfrm>
          <a:prstGeom prst="rect">
            <a:avLst/>
          </a:prstGeom>
          <a:solidFill>
            <a:srgbClr val="1B2F4E"/>
          </a:solidFill>
          <a:ln w="127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51560"/>
            <a:ext cx="4160520" cy="384048"/>
          </a:xfrm>
          <a:prstGeom prst="rect">
            <a:avLst/>
          </a:prstGeom>
          <a:solidFill>
            <a:srgbClr val="2575C4"/>
          </a:solidFill>
          <a:ln w="12700">
            <a:solidFill>
              <a:srgbClr val="2575C4"/>
            </a:solidFill>
            <a:prstDash val="solid"/>
          </a:ln>
        </p:spPr>
        <p:txBody>
          <a:bodyPr/>
          <a:lstStyle/>
          <a:p>
            <a:endParaRPr lang="en-US"/>
          </a:p>
        </p:txBody>
      </p:sp>
      <p:sp>
        <p:nvSpPr>
          <p:cNvPr id="6" name="Text 4"/>
          <p:cNvSpPr/>
          <p:nvPr/>
        </p:nvSpPr>
        <p:spPr>
          <a:xfrm>
            <a:off x="384048" y="1078992"/>
            <a:ext cx="3931920" cy="329184"/>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R  —  {boot} package</a:t>
            </a:r>
            <a:endParaRPr lang="en-US" sz="1300" dirty="0"/>
          </a:p>
        </p:txBody>
      </p:sp>
      <p:sp>
        <p:nvSpPr>
          <p:cNvPr id="7" name="Text 5"/>
          <p:cNvSpPr/>
          <p:nvPr/>
        </p:nvSpPr>
        <p:spPr>
          <a:xfrm>
            <a:off x="347472" y="1508760"/>
            <a:ext cx="3977640" cy="3383280"/>
          </a:xfrm>
          <a:prstGeom prst="rect">
            <a:avLst/>
          </a:prstGeom>
          <a:noFill/>
          <a:ln/>
        </p:spPr>
        <p:txBody>
          <a:bodyPr wrap="square" lIns="0" tIns="0" rIns="0" bIns="0" rtlCol="0" anchor="t"/>
          <a:lstStyle/>
          <a:p>
            <a:pPr marL="0" indent="0">
              <a:buNone/>
            </a:pPr>
            <a:r>
              <a:rPr lang="en-US" sz="1050" dirty="0">
                <a:solidFill>
                  <a:srgbClr val="7EC8E3"/>
                </a:solidFill>
                <a:latin typeface="Consolas" pitchFamily="34" charset="0"/>
                <a:ea typeface="Consolas" pitchFamily="34" charset="-122"/>
                <a:cs typeface="Consolas" pitchFamily="34" charset="-120"/>
              </a:rPr>
              <a:t>library(boot)</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Define statistic function</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my_stat &lt;- function(data, idx) {</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d &lt;- data[idx, ]</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coef(lm(Y ~ X1 + X2, data = d))</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Run bootstrap (B = 5000)</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set.seed(42)</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boot_res &lt;- boot(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data    = mydata,</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statistic = my_stat,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R       = 5000</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BCa confidence intervals</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boot.ci(boot_res, type = "bca", index = 2)</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View bootstrap distribution</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plot(boot_res, index = 2)</a:t>
            </a:r>
            <a:endParaRPr lang="en-US" sz="1050" dirty="0"/>
          </a:p>
        </p:txBody>
      </p:sp>
      <p:sp>
        <p:nvSpPr>
          <p:cNvPr id="8" name="Shape 6"/>
          <p:cNvSpPr/>
          <p:nvPr/>
        </p:nvSpPr>
        <p:spPr>
          <a:xfrm>
            <a:off x="4709160" y="1051560"/>
            <a:ext cx="4160520" cy="3931920"/>
          </a:xfrm>
          <a:prstGeom prst="rect">
            <a:avLst/>
          </a:prstGeom>
          <a:solidFill>
            <a:srgbClr val="1B2F4E"/>
          </a:solidFill>
          <a:ln w="12700">
            <a:solidFill>
              <a:srgbClr val="1B2F4E"/>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709160" y="1051560"/>
            <a:ext cx="4160520" cy="384048"/>
          </a:xfrm>
          <a:prstGeom prst="rect">
            <a:avLst/>
          </a:prstGeom>
          <a:solidFill>
            <a:srgbClr val="4B8BBE"/>
          </a:solidFill>
          <a:ln w="12700">
            <a:solidFill>
              <a:srgbClr val="4B8BBE"/>
            </a:solidFill>
            <a:prstDash val="solid"/>
          </a:ln>
        </p:spPr>
        <p:txBody>
          <a:bodyPr/>
          <a:lstStyle/>
          <a:p>
            <a:endParaRPr lang="en-US"/>
          </a:p>
        </p:txBody>
      </p:sp>
      <p:sp>
        <p:nvSpPr>
          <p:cNvPr id="10" name="Text 8"/>
          <p:cNvSpPr/>
          <p:nvPr/>
        </p:nvSpPr>
        <p:spPr>
          <a:xfrm>
            <a:off x="4818888" y="1078992"/>
            <a:ext cx="3931920" cy="329184"/>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Python  —  scipy / sklearn</a:t>
            </a:r>
            <a:endParaRPr lang="en-US" sz="1300" dirty="0"/>
          </a:p>
        </p:txBody>
      </p:sp>
      <p:sp>
        <p:nvSpPr>
          <p:cNvPr id="11" name="Text 9"/>
          <p:cNvSpPr/>
          <p:nvPr/>
        </p:nvSpPr>
        <p:spPr>
          <a:xfrm>
            <a:off x="4782312" y="1508760"/>
            <a:ext cx="3977640" cy="3383280"/>
          </a:xfrm>
          <a:prstGeom prst="rect">
            <a:avLst/>
          </a:prstGeom>
          <a:noFill/>
          <a:ln/>
        </p:spPr>
        <p:txBody>
          <a:bodyPr wrap="square" lIns="0" tIns="0" rIns="0" bIns="0" rtlCol="0" anchor="t"/>
          <a:lstStyle/>
          <a:p>
            <a:pPr marL="0" indent="0">
              <a:buNone/>
            </a:pPr>
            <a:r>
              <a:rPr lang="en-US" sz="1050" dirty="0">
                <a:solidFill>
                  <a:srgbClr val="7EC8E3"/>
                </a:solidFill>
                <a:latin typeface="Consolas" pitchFamily="34" charset="0"/>
                <a:ea typeface="Consolas" pitchFamily="34" charset="-122"/>
                <a:cs typeface="Consolas" pitchFamily="34" charset="-120"/>
              </a:rPr>
              <a:t>import numpy as np</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from sklearn.utils import resample</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from sklearn.linear_model import (</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LinearRegression)</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n_boot = 5000</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coefs = []</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for _ in range(n_boot):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X_s, y_s = resample(X, y,</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random_state=None)</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m = LinearRegression()</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m.fit(X_s, y_s)</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coefs.append(m.coef_[0])</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coefs = np.array(coefs)</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Percentile CI</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ci = np.percentile(coefs, [2.5, 97.5])</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print(f"95% CI: {ci}")</a:t>
            </a:r>
            <a:endParaRPr lang="en-US" sz="1050" dirty="0"/>
          </a:p>
          <a:p>
            <a:pPr marL="0" indent="0">
              <a:buNone/>
            </a:pP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SE estimate</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print(f"SE: {coefs.std():.4f}")</a:t>
            </a:r>
            <a:endParaRPr lang="en-US" sz="1050" dirty="0"/>
          </a:p>
        </p:txBody>
      </p:sp>
      <p:sp>
        <p:nvSpPr>
          <p:cNvPr id="12" name="Text 10"/>
          <p:cNvSpPr/>
          <p:nvPr/>
        </p:nvSpPr>
        <p:spPr>
          <a:xfrm>
            <a:off x="274320" y="4892040"/>
            <a:ext cx="8595360" cy="228600"/>
          </a:xfrm>
          <a:prstGeom prst="rect">
            <a:avLst/>
          </a:prstGeom>
          <a:noFill/>
          <a:ln/>
        </p:spPr>
        <p:txBody>
          <a:bodyPr wrap="square" lIns="0" tIns="0" rIns="0" bIns="0" rtlCol="0" anchor="ctr"/>
          <a:lstStyle/>
          <a:p>
            <a:pPr marL="0" indent="0">
              <a:buNone/>
            </a:pPr>
            <a:r>
              <a:rPr lang="en-US" sz="1000" i="1" dirty="0">
                <a:solidFill>
                  <a:srgbClr val="5B7285"/>
                </a:solidFill>
                <a:latin typeface="Calibri" pitchFamily="34" charset="0"/>
                <a:ea typeface="Calibri" pitchFamily="34" charset="-122"/>
                <a:cs typeface="Calibri" pitchFamily="34" charset="-120"/>
              </a:rPr>
              <a:t>Also see: {rsample} in tidymodels (R) | arch.bootstrap (Python) | lavaan::bootstrapLavaan (SEM)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F4E"/>
          </a:solidFill>
          <a:ln w="12700">
            <a:solidFill>
              <a:srgbClr val="1B2F4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Bootstrap in Psychometrics &amp; Educational Measurement</a:t>
            </a:r>
            <a:endParaRPr lang="en-US" sz="2200" dirty="0"/>
          </a:p>
        </p:txBody>
      </p:sp>
      <p:sp>
        <p:nvSpPr>
          <p:cNvPr id="4" name="Shape 2"/>
          <p:cNvSpPr/>
          <p:nvPr/>
        </p:nvSpPr>
        <p:spPr>
          <a:xfrm>
            <a:off x="320040" y="1078992"/>
            <a:ext cx="1920240" cy="1325880"/>
          </a:xfrm>
          <a:prstGeom prst="ellipse">
            <a:avLst/>
          </a:prstGeom>
          <a:solidFill>
            <a:srgbClr val="0D6E8C">
              <a:alpha val="90000"/>
            </a:srgbClr>
          </a:solidFill>
          <a:ln w="25400">
            <a:solidFill>
              <a:srgbClr val="2EB8B0"/>
            </a:solidFill>
            <a:prstDash val="solid"/>
          </a:ln>
        </p:spPr>
        <p:txBody>
          <a:bodyPr/>
          <a:lstStyle/>
          <a:p>
            <a:endParaRPr lang="en-US"/>
          </a:p>
        </p:txBody>
      </p:sp>
      <p:sp>
        <p:nvSpPr>
          <p:cNvPr id="5" name="Text 3"/>
          <p:cNvSpPr/>
          <p:nvPr/>
        </p:nvSpPr>
        <p:spPr>
          <a:xfrm>
            <a:off x="320040" y="1170432"/>
            <a:ext cx="192024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RMSEA</a:t>
            </a:r>
            <a:endParaRPr lang="en-US" sz="2600" dirty="0"/>
          </a:p>
        </p:txBody>
      </p:sp>
      <p:sp>
        <p:nvSpPr>
          <p:cNvPr id="6" name="Text 4"/>
          <p:cNvSpPr/>
          <p:nvPr/>
        </p:nvSpPr>
        <p:spPr>
          <a:xfrm>
            <a:off x="320040" y="1719072"/>
            <a:ext cx="1920240" cy="594360"/>
          </a:xfrm>
          <a:prstGeom prst="rect">
            <a:avLst/>
          </a:prstGeom>
          <a:noFill/>
          <a:ln/>
        </p:spPr>
        <p:txBody>
          <a:bodyPr wrap="square" lIns="0" tIns="0" rIns="0" bIns="0" rtlCol="0" anchor="ctr"/>
          <a:lstStyle/>
          <a:p>
            <a:pPr marL="0" indent="0" algn="ctr">
              <a:buNone/>
            </a:pPr>
            <a:r>
              <a:rPr lang="en-US" sz="1050" dirty="0">
                <a:solidFill>
                  <a:srgbClr val="A8D5E2"/>
                </a:solidFill>
                <a:latin typeface="Calibri" pitchFamily="34" charset="0"/>
                <a:ea typeface="Calibri" pitchFamily="34" charset="-122"/>
                <a:cs typeface="Calibri" pitchFamily="34" charset="-120"/>
              </a:rPr>
              <a:t>bootstrapped CI</a:t>
            </a:r>
            <a:endParaRPr lang="en-US" sz="1050" dirty="0"/>
          </a:p>
          <a:p>
            <a:pPr marL="0" indent="0" algn="ctr">
              <a:buNone/>
            </a:pPr>
            <a:r>
              <a:rPr lang="en-US" sz="1050" dirty="0">
                <a:solidFill>
                  <a:srgbClr val="A8D5E2"/>
                </a:solidFill>
                <a:latin typeface="Calibri" pitchFamily="34" charset="0"/>
                <a:ea typeface="Calibri" pitchFamily="34" charset="-122"/>
                <a:cs typeface="Calibri" pitchFamily="34" charset="-120"/>
              </a:rPr>
              <a:t>for model fit</a:t>
            </a:r>
            <a:endParaRPr lang="en-US" sz="1050" dirty="0"/>
          </a:p>
        </p:txBody>
      </p:sp>
      <p:sp>
        <p:nvSpPr>
          <p:cNvPr id="7" name="Shape 5"/>
          <p:cNvSpPr/>
          <p:nvPr/>
        </p:nvSpPr>
        <p:spPr>
          <a:xfrm>
            <a:off x="2468880" y="1078992"/>
            <a:ext cx="1920240" cy="1325880"/>
          </a:xfrm>
          <a:prstGeom prst="ellipse">
            <a:avLst/>
          </a:prstGeom>
          <a:solidFill>
            <a:srgbClr val="0D6E8C">
              <a:alpha val="90000"/>
            </a:srgbClr>
          </a:solidFill>
          <a:ln w="25400">
            <a:solidFill>
              <a:srgbClr val="2EB8B0"/>
            </a:solidFill>
            <a:prstDash val="solid"/>
          </a:ln>
        </p:spPr>
        <p:txBody>
          <a:bodyPr/>
          <a:lstStyle/>
          <a:p>
            <a:endParaRPr lang="en-US"/>
          </a:p>
        </p:txBody>
      </p:sp>
      <p:sp>
        <p:nvSpPr>
          <p:cNvPr id="8" name="Text 6"/>
          <p:cNvSpPr/>
          <p:nvPr/>
        </p:nvSpPr>
        <p:spPr>
          <a:xfrm>
            <a:off x="2468880" y="1170432"/>
            <a:ext cx="192024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ω &amp; α</a:t>
            </a:r>
            <a:endParaRPr lang="en-US" sz="2600" dirty="0"/>
          </a:p>
        </p:txBody>
      </p:sp>
      <p:sp>
        <p:nvSpPr>
          <p:cNvPr id="9" name="Text 7"/>
          <p:cNvSpPr/>
          <p:nvPr/>
        </p:nvSpPr>
        <p:spPr>
          <a:xfrm>
            <a:off x="2468880" y="1719072"/>
            <a:ext cx="1920240" cy="594360"/>
          </a:xfrm>
          <a:prstGeom prst="rect">
            <a:avLst/>
          </a:prstGeom>
          <a:noFill/>
          <a:ln/>
        </p:spPr>
        <p:txBody>
          <a:bodyPr wrap="square" lIns="0" tIns="0" rIns="0" bIns="0" rtlCol="0" anchor="ctr"/>
          <a:lstStyle/>
          <a:p>
            <a:pPr marL="0" indent="0" algn="ctr">
              <a:buNone/>
            </a:pPr>
            <a:r>
              <a:rPr lang="en-US" sz="1050" dirty="0">
                <a:solidFill>
                  <a:srgbClr val="A8D5E2"/>
                </a:solidFill>
                <a:latin typeface="Calibri" pitchFamily="34" charset="0"/>
                <a:ea typeface="Calibri" pitchFamily="34" charset="-122"/>
                <a:cs typeface="Calibri" pitchFamily="34" charset="-120"/>
              </a:rPr>
              <a:t>reliability</a:t>
            </a:r>
            <a:endParaRPr lang="en-US" sz="1050" dirty="0"/>
          </a:p>
          <a:p>
            <a:pPr marL="0" indent="0" algn="ctr">
              <a:buNone/>
            </a:pPr>
            <a:r>
              <a:rPr lang="en-US" sz="1050" dirty="0">
                <a:solidFill>
                  <a:srgbClr val="A8D5E2"/>
                </a:solidFill>
                <a:latin typeface="Calibri" pitchFamily="34" charset="0"/>
                <a:ea typeface="Calibri" pitchFamily="34" charset="-122"/>
                <a:cs typeface="Calibri" pitchFamily="34" charset="-120"/>
              </a:rPr>
              <a:t>uncertainty</a:t>
            </a:r>
            <a:endParaRPr lang="en-US" sz="1050" dirty="0"/>
          </a:p>
        </p:txBody>
      </p:sp>
      <p:sp>
        <p:nvSpPr>
          <p:cNvPr id="10" name="Shape 8"/>
          <p:cNvSpPr/>
          <p:nvPr/>
        </p:nvSpPr>
        <p:spPr>
          <a:xfrm>
            <a:off x="4617720" y="1078992"/>
            <a:ext cx="1920240" cy="1325880"/>
          </a:xfrm>
          <a:prstGeom prst="ellipse">
            <a:avLst/>
          </a:prstGeom>
          <a:solidFill>
            <a:srgbClr val="0D6E8C">
              <a:alpha val="90000"/>
            </a:srgbClr>
          </a:solidFill>
          <a:ln w="25400">
            <a:solidFill>
              <a:srgbClr val="2EB8B0"/>
            </a:solidFill>
            <a:prstDash val="solid"/>
          </a:ln>
        </p:spPr>
        <p:txBody>
          <a:bodyPr/>
          <a:lstStyle/>
          <a:p>
            <a:endParaRPr lang="en-US"/>
          </a:p>
        </p:txBody>
      </p:sp>
      <p:sp>
        <p:nvSpPr>
          <p:cNvPr id="11" name="Text 9"/>
          <p:cNvSpPr/>
          <p:nvPr/>
        </p:nvSpPr>
        <p:spPr>
          <a:xfrm>
            <a:off x="4617720" y="1170432"/>
            <a:ext cx="192024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IRT θ̂</a:t>
            </a:r>
            <a:endParaRPr lang="en-US" sz="2600" dirty="0"/>
          </a:p>
        </p:txBody>
      </p:sp>
      <p:sp>
        <p:nvSpPr>
          <p:cNvPr id="12" name="Text 10"/>
          <p:cNvSpPr/>
          <p:nvPr/>
        </p:nvSpPr>
        <p:spPr>
          <a:xfrm>
            <a:off x="4617720" y="1719072"/>
            <a:ext cx="1920240" cy="594360"/>
          </a:xfrm>
          <a:prstGeom prst="rect">
            <a:avLst/>
          </a:prstGeom>
          <a:noFill/>
          <a:ln/>
        </p:spPr>
        <p:txBody>
          <a:bodyPr wrap="square" lIns="0" tIns="0" rIns="0" bIns="0" rtlCol="0" anchor="ctr"/>
          <a:lstStyle/>
          <a:p>
            <a:pPr marL="0" indent="0" algn="ctr">
              <a:buNone/>
            </a:pPr>
            <a:r>
              <a:rPr lang="en-US" sz="1050" dirty="0">
                <a:solidFill>
                  <a:srgbClr val="A8D5E2"/>
                </a:solidFill>
                <a:latin typeface="Calibri" pitchFamily="34" charset="0"/>
                <a:ea typeface="Calibri" pitchFamily="34" charset="-122"/>
                <a:cs typeface="Calibri" pitchFamily="34" charset="-120"/>
              </a:rPr>
              <a:t>ability estimate</a:t>
            </a:r>
            <a:endParaRPr lang="en-US" sz="1050" dirty="0"/>
          </a:p>
          <a:p>
            <a:pPr marL="0" indent="0" algn="ctr">
              <a:buNone/>
            </a:pPr>
            <a:r>
              <a:rPr lang="en-US" sz="1050" dirty="0">
                <a:solidFill>
                  <a:srgbClr val="A8D5E2"/>
                </a:solidFill>
                <a:latin typeface="Calibri" pitchFamily="34" charset="0"/>
                <a:ea typeface="Calibri" pitchFamily="34" charset="-122"/>
                <a:cs typeface="Calibri" pitchFamily="34" charset="-120"/>
              </a:rPr>
              <a:t>SE validation</a:t>
            </a:r>
            <a:endParaRPr lang="en-US" sz="1050" dirty="0"/>
          </a:p>
        </p:txBody>
      </p:sp>
      <p:sp>
        <p:nvSpPr>
          <p:cNvPr id="13" name="Shape 11"/>
          <p:cNvSpPr/>
          <p:nvPr/>
        </p:nvSpPr>
        <p:spPr>
          <a:xfrm>
            <a:off x="6766560" y="1078992"/>
            <a:ext cx="1920240" cy="1325880"/>
          </a:xfrm>
          <a:prstGeom prst="ellipse">
            <a:avLst/>
          </a:prstGeom>
          <a:solidFill>
            <a:srgbClr val="0D6E8C">
              <a:alpha val="90000"/>
            </a:srgbClr>
          </a:solidFill>
          <a:ln w="25400">
            <a:solidFill>
              <a:srgbClr val="2EB8B0"/>
            </a:solidFill>
            <a:prstDash val="solid"/>
          </a:ln>
        </p:spPr>
        <p:txBody>
          <a:bodyPr/>
          <a:lstStyle/>
          <a:p>
            <a:endParaRPr lang="en-US"/>
          </a:p>
        </p:txBody>
      </p:sp>
      <p:sp>
        <p:nvSpPr>
          <p:cNvPr id="14" name="Text 12"/>
          <p:cNvSpPr/>
          <p:nvPr/>
        </p:nvSpPr>
        <p:spPr>
          <a:xfrm>
            <a:off x="6766560" y="1170432"/>
            <a:ext cx="192024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LCA</a:t>
            </a:r>
            <a:endParaRPr lang="en-US" sz="2600" dirty="0"/>
          </a:p>
        </p:txBody>
      </p:sp>
      <p:sp>
        <p:nvSpPr>
          <p:cNvPr id="15" name="Text 13"/>
          <p:cNvSpPr/>
          <p:nvPr/>
        </p:nvSpPr>
        <p:spPr>
          <a:xfrm>
            <a:off x="6766560" y="1719072"/>
            <a:ext cx="1920240" cy="594360"/>
          </a:xfrm>
          <a:prstGeom prst="rect">
            <a:avLst/>
          </a:prstGeom>
          <a:noFill/>
          <a:ln/>
        </p:spPr>
        <p:txBody>
          <a:bodyPr wrap="square" lIns="0" tIns="0" rIns="0" bIns="0" rtlCol="0" anchor="ctr"/>
          <a:lstStyle/>
          <a:p>
            <a:pPr marL="0" indent="0" algn="ctr">
              <a:buNone/>
            </a:pPr>
            <a:r>
              <a:rPr lang="en-US" sz="1050" dirty="0">
                <a:solidFill>
                  <a:srgbClr val="A8D5E2"/>
                </a:solidFill>
                <a:latin typeface="Calibri" pitchFamily="34" charset="0"/>
                <a:ea typeface="Calibri" pitchFamily="34" charset="-122"/>
                <a:cs typeface="Calibri" pitchFamily="34" charset="-120"/>
              </a:rPr>
              <a:t>class membership</a:t>
            </a:r>
            <a:endParaRPr lang="en-US" sz="1050" dirty="0"/>
          </a:p>
          <a:p>
            <a:pPr marL="0" indent="0" algn="ctr">
              <a:buNone/>
            </a:pPr>
            <a:r>
              <a:rPr lang="en-US" sz="1050" dirty="0">
                <a:solidFill>
                  <a:srgbClr val="A8D5E2"/>
                </a:solidFill>
                <a:latin typeface="Calibri" pitchFamily="34" charset="0"/>
                <a:ea typeface="Calibri" pitchFamily="34" charset="-122"/>
                <a:cs typeface="Calibri" pitchFamily="34" charset="-120"/>
              </a:rPr>
              <a:t>stability</a:t>
            </a:r>
            <a:endParaRPr lang="en-US" sz="1050" dirty="0"/>
          </a:p>
        </p:txBody>
      </p:sp>
      <p:sp>
        <p:nvSpPr>
          <p:cNvPr id="16" name="Shape 14"/>
          <p:cNvSpPr/>
          <p:nvPr/>
        </p:nvSpPr>
        <p:spPr>
          <a:xfrm>
            <a:off x="274320" y="2560320"/>
            <a:ext cx="8595360" cy="2423160"/>
          </a:xfrm>
          <a:prstGeom prst="rect">
            <a:avLst/>
          </a:prstGeom>
          <a:solidFill>
            <a:srgbClr val="EBF4F7"/>
          </a:solidFill>
          <a:ln w="12700">
            <a:solidFill>
              <a:srgbClr val="A8D5E2"/>
            </a:solidFill>
            <a:prstDash val="solid"/>
          </a:ln>
          <a:effectLst>
            <a:outerShdw blurRad="101600" dist="38100" dir="8100000" algn="bl" rotWithShape="0">
              <a:srgbClr val="000000">
                <a:alpha val="10000"/>
              </a:srgbClr>
            </a:outerShdw>
          </a:effectLst>
        </p:spPr>
        <p:txBody>
          <a:bodyPr/>
          <a:lstStyle/>
          <a:p>
            <a:endParaRPr lang="en-US"/>
          </a:p>
        </p:txBody>
      </p:sp>
      <p:sp>
        <p:nvSpPr>
          <p:cNvPr id="17" name="Text 15"/>
          <p:cNvSpPr/>
          <p:nvPr/>
        </p:nvSpPr>
        <p:spPr>
          <a:xfrm>
            <a:off x="411480" y="2633472"/>
            <a:ext cx="8321040" cy="347472"/>
          </a:xfrm>
          <a:prstGeom prst="rect">
            <a:avLst/>
          </a:prstGeom>
          <a:noFill/>
          <a:ln/>
        </p:spPr>
        <p:txBody>
          <a:bodyPr wrap="square" lIns="0" tIns="0" rIns="0" bIns="0" rtlCol="0" anchor="ctr"/>
          <a:lstStyle/>
          <a:p>
            <a:pPr marL="0" indent="0">
              <a:buNone/>
            </a:pPr>
            <a:r>
              <a:rPr lang="en-US" sz="1500" b="1" dirty="0">
                <a:solidFill>
                  <a:srgbClr val="0D6E8C"/>
                </a:solidFill>
                <a:latin typeface="Georgia" pitchFamily="34" charset="0"/>
                <a:ea typeface="Georgia" pitchFamily="34" charset="-122"/>
                <a:cs typeface="Georgia" pitchFamily="34" charset="-120"/>
              </a:rPr>
              <a:t>Case Study: Plausible Values &amp; Bootstrap in NAEP</a:t>
            </a:r>
            <a:endParaRPr lang="en-US" sz="1500" dirty="0"/>
          </a:p>
        </p:txBody>
      </p:sp>
      <p:sp>
        <p:nvSpPr>
          <p:cNvPr id="18" name="Text 16"/>
          <p:cNvSpPr/>
          <p:nvPr/>
        </p:nvSpPr>
        <p:spPr>
          <a:xfrm>
            <a:off x="411480" y="3017520"/>
            <a:ext cx="8321040" cy="1901952"/>
          </a:xfrm>
          <a:prstGeom prst="rect">
            <a:avLst/>
          </a:prstGeom>
          <a:noFill/>
          <a:ln/>
        </p:spPr>
        <p:txBody>
          <a:bodyPr wrap="square" rtlCol="0" anchor="ctr"/>
          <a:lstStyle/>
          <a:p>
            <a:pPr marL="0" indent="0">
              <a:buNone/>
            </a:pPr>
            <a:r>
              <a:rPr lang="en-US" sz="1200" b="1" dirty="0">
                <a:solidFill>
                  <a:srgbClr val="1B2F4E"/>
                </a:solidFill>
                <a:latin typeface="Calibri" pitchFamily="34" charset="0"/>
                <a:ea typeface="Calibri" pitchFamily="34" charset="-122"/>
                <a:cs typeface="Calibri" pitchFamily="34" charset="-120"/>
              </a:rPr>
              <a:t>Challenge: </a:t>
            </a:r>
            <a:r>
              <a:rPr lang="en-US" sz="1200" dirty="0">
                <a:solidFill>
                  <a:srgbClr val="1B2F4E"/>
                </a:solidFill>
                <a:latin typeface="Calibri" pitchFamily="34" charset="0"/>
                <a:ea typeface="Calibri" pitchFamily="34" charset="-122"/>
                <a:cs typeface="Calibri" pitchFamily="34" charset="-120"/>
              </a:rPr>
              <a:t>NAEP and PISA do not report individual IRT ability estimates. Instead, they use plausible values (PVs) — multiple imputed ability draws from the posterior distribution — to propagate measurement uncertainty into population statistics.
</a:t>
            </a:r>
            <a:r>
              <a:rPr lang="en-US" sz="1200" b="1" dirty="0">
                <a:solidFill>
                  <a:srgbClr val="1B2F4E"/>
                </a:solidFill>
                <a:latin typeface="Calibri" pitchFamily="34" charset="0"/>
                <a:ea typeface="Calibri" pitchFamily="34" charset="-122"/>
                <a:cs typeface="Calibri" pitchFamily="34" charset="-120"/>
              </a:rPr>
              <a:t>Bootstrap Role: </a:t>
            </a:r>
            <a:r>
              <a:rPr lang="en-US" sz="1200" dirty="0">
                <a:solidFill>
                  <a:srgbClr val="1B2F4E"/>
                </a:solidFill>
                <a:latin typeface="Calibri" pitchFamily="34" charset="0"/>
                <a:ea typeface="Calibri" pitchFamily="34" charset="-122"/>
                <a:cs typeface="Calibri" pitchFamily="34" charset="-120"/>
              </a:rPr>
              <a:t>The BRR (Balanced Repeated Replication) and jackknife procedures used in NAEP are resampling methods closely related to the bootstrap. They produce variance estimates that correctly account for the complex survey design and the multiple-imputation structure of PVs.
</a:t>
            </a:r>
            <a:r>
              <a:rPr lang="en-US" sz="1200" b="1" dirty="0">
                <a:solidFill>
                  <a:srgbClr val="1B2F4E"/>
                </a:solidFill>
                <a:latin typeface="Calibri" pitchFamily="34" charset="0"/>
                <a:ea typeface="Calibri" pitchFamily="34" charset="-122"/>
                <a:cs typeface="Calibri" pitchFamily="34" charset="-120"/>
              </a:rPr>
              <a:t>Modern Extension: </a:t>
            </a:r>
            <a:r>
              <a:rPr lang="en-US" sz="1200" dirty="0">
                <a:solidFill>
                  <a:srgbClr val="1B2F4E"/>
                </a:solidFill>
                <a:latin typeface="Calibri" pitchFamily="34" charset="0"/>
                <a:ea typeface="Calibri" pitchFamily="34" charset="-122"/>
                <a:cs typeface="Calibri" pitchFamily="34" charset="-120"/>
              </a:rPr>
              <a:t>Everson &amp; colleagues have explored using bootstrap-based Bayesian OLRE (ordinal logistic random effects) models to extend plausible value methodology to sum-score contexts.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F4E"/>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D6E8C">
              <a:alpha val="20000"/>
            </a:srgbClr>
          </a:solidFill>
          <a:ln w="12700">
            <a:solidFill>
              <a:srgbClr val="0D6E8C">
                <a:alpha val="20000"/>
              </a:srgbClr>
            </a:solidFill>
            <a:prstDash val="solid"/>
          </a:ln>
        </p:spPr>
        <p:txBody>
          <a:bodyPr/>
          <a:lstStyle/>
          <a:p>
            <a:endParaRPr lang="en-US"/>
          </a:p>
        </p:txBody>
      </p:sp>
      <p:sp>
        <p:nvSpPr>
          <p:cNvPr id="3" name="Shape 1"/>
          <p:cNvSpPr/>
          <p:nvPr/>
        </p:nvSpPr>
        <p:spPr>
          <a:xfrm>
            <a:off x="-1371600" y="3200400"/>
            <a:ext cx="3657600" cy="3657600"/>
          </a:xfrm>
          <a:prstGeom prst="ellipse">
            <a:avLst/>
          </a:prstGeom>
          <a:solidFill>
            <a:srgbClr val="2EB8B0">
              <a:alpha val="15000"/>
            </a:srgbClr>
          </a:solidFill>
          <a:ln w="12700">
            <a:solidFill>
              <a:srgbClr val="2EB8B0">
                <a:alpha val="15000"/>
              </a:srgbClr>
            </a:solidFill>
            <a:prstDash val="solid"/>
          </a:ln>
        </p:spPr>
        <p:txBody>
          <a:bodyPr/>
          <a:lstStyle/>
          <a:p>
            <a:endParaRPr lang="en-US"/>
          </a:p>
        </p:txBody>
      </p:sp>
      <p:sp>
        <p:nvSpPr>
          <p:cNvPr id="4" name="Text 2"/>
          <p:cNvSpPr/>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Key Takeaways</a:t>
            </a:r>
            <a:endParaRPr lang="en-US" sz="3000" dirty="0"/>
          </a:p>
        </p:txBody>
      </p:sp>
      <p:sp>
        <p:nvSpPr>
          <p:cNvPr id="5" name="Shape 3"/>
          <p:cNvSpPr/>
          <p:nvPr/>
        </p:nvSpPr>
        <p:spPr>
          <a:xfrm>
            <a:off x="365760" y="1005840"/>
            <a:ext cx="8412480" cy="694944"/>
          </a:xfrm>
          <a:prstGeom prst="rect">
            <a:avLst/>
          </a:prstGeom>
          <a:solidFill>
            <a:srgbClr val="FFFFFF">
              <a:alpha val="10000"/>
            </a:srgbClr>
          </a:solidFill>
          <a:ln w="12700">
            <a:solidFill>
              <a:srgbClr val="2EB8B0">
                <a:alpha val="40000"/>
              </a:srgbClr>
            </a:solidFill>
            <a:prstDash val="solid"/>
          </a:ln>
        </p:spPr>
        <p:txBody>
          <a:bodyPr/>
          <a:lstStyle/>
          <a:p>
            <a:endParaRPr lang="en-US"/>
          </a:p>
        </p:txBody>
      </p:sp>
      <p:sp>
        <p:nvSpPr>
          <p:cNvPr id="6" name="Text 4"/>
          <p:cNvSpPr/>
          <p:nvPr/>
        </p:nvSpPr>
        <p:spPr>
          <a:xfrm>
            <a:off x="457200" y="1042416"/>
            <a:ext cx="502920" cy="603504"/>
          </a:xfrm>
          <a:prstGeom prst="rect">
            <a:avLst/>
          </a:prstGeom>
          <a:noFill/>
          <a:ln/>
        </p:spPr>
        <p:txBody>
          <a:bodyPr wrap="square" lIns="0" tIns="0" rIns="0" bIns="0" rtlCol="0" anchor="ctr"/>
          <a:lstStyle/>
          <a:p>
            <a:pPr marL="0" indent="0" algn="ctr">
              <a:buNone/>
            </a:pPr>
            <a:r>
              <a:rPr lang="en-US" sz="2000" b="1" dirty="0">
                <a:solidFill>
                  <a:srgbClr val="E8A020"/>
                </a:solidFill>
                <a:latin typeface="Georgia" pitchFamily="34" charset="0"/>
                <a:ea typeface="Georgia" pitchFamily="34" charset="-122"/>
                <a:cs typeface="Georgia" pitchFamily="34" charset="-120"/>
              </a:rPr>
              <a:t>①</a:t>
            </a:r>
            <a:endParaRPr lang="en-US" sz="2000" dirty="0"/>
          </a:p>
        </p:txBody>
      </p:sp>
      <p:sp>
        <p:nvSpPr>
          <p:cNvPr id="7" name="Text 5"/>
          <p:cNvSpPr/>
          <p:nvPr/>
        </p:nvSpPr>
        <p:spPr>
          <a:xfrm>
            <a:off x="1024128" y="1060704"/>
            <a:ext cx="758952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bootstrap empirically estimates the sampling distribution of any statistic — no formula required.</a:t>
            </a:r>
            <a:endParaRPr lang="en-US" sz="1300" dirty="0"/>
          </a:p>
        </p:txBody>
      </p:sp>
      <p:sp>
        <p:nvSpPr>
          <p:cNvPr id="8" name="Shape 6"/>
          <p:cNvSpPr/>
          <p:nvPr/>
        </p:nvSpPr>
        <p:spPr>
          <a:xfrm>
            <a:off x="365760" y="1801368"/>
            <a:ext cx="8412480" cy="694944"/>
          </a:xfrm>
          <a:prstGeom prst="rect">
            <a:avLst/>
          </a:prstGeom>
          <a:solidFill>
            <a:srgbClr val="FFFFFF">
              <a:alpha val="10000"/>
            </a:srgbClr>
          </a:solidFill>
          <a:ln w="12700">
            <a:solidFill>
              <a:srgbClr val="2EB8B0">
                <a:alpha val="40000"/>
              </a:srgbClr>
            </a:solidFill>
            <a:prstDash val="solid"/>
          </a:ln>
        </p:spPr>
        <p:txBody>
          <a:bodyPr/>
          <a:lstStyle/>
          <a:p>
            <a:endParaRPr lang="en-US"/>
          </a:p>
        </p:txBody>
      </p:sp>
      <p:sp>
        <p:nvSpPr>
          <p:cNvPr id="9" name="Text 7"/>
          <p:cNvSpPr/>
          <p:nvPr/>
        </p:nvSpPr>
        <p:spPr>
          <a:xfrm>
            <a:off x="457200" y="1837944"/>
            <a:ext cx="502920" cy="603504"/>
          </a:xfrm>
          <a:prstGeom prst="rect">
            <a:avLst/>
          </a:prstGeom>
          <a:noFill/>
          <a:ln/>
        </p:spPr>
        <p:txBody>
          <a:bodyPr wrap="square" lIns="0" tIns="0" rIns="0" bIns="0" rtlCol="0" anchor="ctr"/>
          <a:lstStyle/>
          <a:p>
            <a:pPr marL="0" indent="0" algn="ctr">
              <a:buNone/>
            </a:pPr>
            <a:r>
              <a:rPr lang="en-US" sz="2000" b="1" dirty="0">
                <a:solidFill>
                  <a:srgbClr val="E8A020"/>
                </a:solidFill>
                <a:latin typeface="Georgia" pitchFamily="34" charset="0"/>
                <a:ea typeface="Georgia" pitchFamily="34" charset="-122"/>
                <a:cs typeface="Georgia" pitchFamily="34" charset="-120"/>
              </a:rPr>
              <a:t>②</a:t>
            </a:r>
            <a:endParaRPr lang="en-US" sz="2000" dirty="0"/>
          </a:p>
        </p:txBody>
      </p:sp>
      <p:sp>
        <p:nvSpPr>
          <p:cNvPr id="10" name="Text 8"/>
          <p:cNvSpPr/>
          <p:nvPr/>
        </p:nvSpPr>
        <p:spPr>
          <a:xfrm>
            <a:off x="1024128" y="1856232"/>
            <a:ext cx="758952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BCa intervals are the recommended default; they correct for both bias and skewness in the bootstrap distribution.</a:t>
            </a:r>
            <a:endParaRPr lang="en-US" sz="1300" dirty="0"/>
          </a:p>
        </p:txBody>
      </p:sp>
      <p:sp>
        <p:nvSpPr>
          <p:cNvPr id="11" name="Shape 9"/>
          <p:cNvSpPr/>
          <p:nvPr/>
        </p:nvSpPr>
        <p:spPr>
          <a:xfrm>
            <a:off x="365760" y="2596896"/>
            <a:ext cx="8412480" cy="694944"/>
          </a:xfrm>
          <a:prstGeom prst="rect">
            <a:avLst/>
          </a:prstGeom>
          <a:solidFill>
            <a:srgbClr val="FFFFFF">
              <a:alpha val="10000"/>
            </a:srgbClr>
          </a:solidFill>
          <a:ln w="12700">
            <a:solidFill>
              <a:srgbClr val="2EB8B0">
                <a:alpha val="40000"/>
              </a:srgbClr>
            </a:solidFill>
            <a:prstDash val="solid"/>
          </a:ln>
        </p:spPr>
        <p:txBody>
          <a:bodyPr/>
          <a:lstStyle/>
          <a:p>
            <a:endParaRPr lang="en-US"/>
          </a:p>
        </p:txBody>
      </p:sp>
      <p:sp>
        <p:nvSpPr>
          <p:cNvPr id="12" name="Text 10"/>
          <p:cNvSpPr/>
          <p:nvPr/>
        </p:nvSpPr>
        <p:spPr>
          <a:xfrm>
            <a:off x="457200" y="2633472"/>
            <a:ext cx="502920" cy="603504"/>
          </a:xfrm>
          <a:prstGeom prst="rect">
            <a:avLst/>
          </a:prstGeom>
          <a:noFill/>
          <a:ln/>
        </p:spPr>
        <p:txBody>
          <a:bodyPr wrap="square" lIns="0" tIns="0" rIns="0" bIns="0" rtlCol="0" anchor="ctr"/>
          <a:lstStyle/>
          <a:p>
            <a:pPr marL="0" indent="0" algn="ctr">
              <a:buNone/>
            </a:pPr>
            <a:r>
              <a:rPr lang="en-US" sz="2000" b="1" dirty="0">
                <a:solidFill>
                  <a:srgbClr val="E8A020"/>
                </a:solidFill>
                <a:latin typeface="Georgia" pitchFamily="34" charset="0"/>
                <a:ea typeface="Georgia" pitchFamily="34" charset="-122"/>
                <a:cs typeface="Georgia" pitchFamily="34" charset="-120"/>
              </a:rPr>
              <a:t>③</a:t>
            </a:r>
            <a:endParaRPr lang="en-US" sz="2000" dirty="0"/>
          </a:p>
        </p:txBody>
      </p:sp>
      <p:sp>
        <p:nvSpPr>
          <p:cNvPr id="13" name="Text 11"/>
          <p:cNvSpPr/>
          <p:nvPr/>
        </p:nvSpPr>
        <p:spPr>
          <a:xfrm>
            <a:off x="1024128" y="2651760"/>
            <a:ext cx="758952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Use case resampling when regression assumptions are uncertain; residual resampling when you trust the model structure.</a:t>
            </a:r>
            <a:endParaRPr lang="en-US" sz="1300" dirty="0"/>
          </a:p>
        </p:txBody>
      </p:sp>
      <p:sp>
        <p:nvSpPr>
          <p:cNvPr id="14" name="Shape 12"/>
          <p:cNvSpPr/>
          <p:nvPr/>
        </p:nvSpPr>
        <p:spPr>
          <a:xfrm>
            <a:off x="365760" y="3392424"/>
            <a:ext cx="8412480" cy="694944"/>
          </a:xfrm>
          <a:prstGeom prst="rect">
            <a:avLst/>
          </a:prstGeom>
          <a:solidFill>
            <a:srgbClr val="FFFFFF">
              <a:alpha val="10000"/>
            </a:srgbClr>
          </a:solidFill>
          <a:ln w="12700">
            <a:solidFill>
              <a:srgbClr val="2EB8B0">
                <a:alpha val="40000"/>
              </a:srgbClr>
            </a:solidFill>
            <a:prstDash val="solid"/>
          </a:ln>
        </p:spPr>
        <p:txBody>
          <a:bodyPr/>
          <a:lstStyle/>
          <a:p>
            <a:endParaRPr lang="en-US"/>
          </a:p>
        </p:txBody>
      </p:sp>
      <p:sp>
        <p:nvSpPr>
          <p:cNvPr id="15" name="Text 13"/>
          <p:cNvSpPr/>
          <p:nvPr/>
        </p:nvSpPr>
        <p:spPr>
          <a:xfrm>
            <a:off x="457200" y="3429000"/>
            <a:ext cx="502920" cy="603504"/>
          </a:xfrm>
          <a:prstGeom prst="rect">
            <a:avLst/>
          </a:prstGeom>
          <a:noFill/>
          <a:ln/>
        </p:spPr>
        <p:txBody>
          <a:bodyPr wrap="square" lIns="0" tIns="0" rIns="0" bIns="0" rtlCol="0" anchor="ctr"/>
          <a:lstStyle/>
          <a:p>
            <a:pPr marL="0" indent="0" algn="ctr">
              <a:buNone/>
            </a:pPr>
            <a:r>
              <a:rPr lang="en-US" sz="2000" b="1" dirty="0">
                <a:solidFill>
                  <a:srgbClr val="E8A020"/>
                </a:solidFill>
                <a:latin typeface="Georgia" pitchFamily="34" charset="0"/>
                <a:ea typeface="Georgia" pitchFamily="34" charset="-122"/>
                <a:cs typeface="Georgia" pitchFamily="34" charset="-120"/>
              </a:rPr>
              <a:t>④</a:t>
            </a:r>
            <a:endParaRPr lang="en-US" sz="2000" dirty="0"/>
          </a:p>
        </p:txBody>
      </p:sp>
      <p:sp>
        <p:nvSpPr>
          <p:cNvPr id="16" name="Text 14"/>
          <p:cNvSpPr/>
          <p:nvPr/>
        </p:nvSpPr>
        <p:spPr>
          <a:xfrm>
            <a:off x="1024128" y="3447288"/>
            <a:ext cx="758952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bootstrap is not a cure for small samples or biased data — it can only approximate what repeated sampling from the population would yield.</a:t>
            </a:r>
            <a:endParaRPr lang="en-US" sz="1300" dirty="0"/>
          </a:p>
        </p:txBody>
      </p:sp>
      <p:sp>
        <p:nvSpPr>
          <p:cNvPr id="17" name="Shape 15"/>
          <p:cNvSpPr/>
          <p:nvPr/>
        </p:nvSpPr>
        <p:spPr>
          <a:xfrm>
            <a:off x="365760" y="4187952"/>
            <a:ext cx="8412480" cy="694944"/>
          </a:xfrm>
          <a:prstGeom prst="rect">
            <a:avLst/>
          </a:prstGeom>
          <a:solidFill>
            <a:srgbClr val="FFFFFF">
              <a:alpha val="10000"/>
            </a:srgbClr>
          </a:solidFill>
          <a:ln w="12700">
            <a:solidFill>
              <a:srgbClr val="2EB8B0">
                <a:alpha val="40000"/>
              </a:srgbClr>
            </a:solidFill>
            <a:prstDash val="solid"/>
          </a:ln>
        </p:spPr>
        <p:txBody>
          <a:bodyPr/>
          <a:lstStyle/>
          <a:p>
            <a:endParaRPr lang="en-US"/>
          </a:p>
        </p:txBody>
      </p:sp>
      <p:sp>
        <p:nvSpPr>
          <p:cNvPr id="18" name="Text 16"/>
          <p:cNvSpPr/>
          <p:nvPr/>
        </p:nvSpPr>
        <p:spPr>
          <a:xfrm>
            <a:off x="457200" y="4224528"/>
            <a:ext cx="502920" cy="603504"/>
          </a:xfrm>
          <a:prstGeom prst="rect">
            <a:avLst/>
          </a:prstGeom>
          <a:noFill/>
          <a:ln/>
        </p:spPr>
        <p:txBody>
          <a:bodyPr wrap="square" lIns="0" tIns="0" rIns="0" bIns="0" rtlCol="0" anchor="ctr"/>
          <a:lstStyle/>
          <a:p>
            <a:pPr marL="0" indent="0" algn="ctr">
              <a:buNone/>
            </a:pPr>
            <a:r>
              <a:rPr lang="en-US" sz="2000" b="1" dirty="0">
                <a:solidFill>
                  <a:srgbClr val="E8A020"/>
                </a:solidFill>
                <a:latin typeface="Georgia" pitchFamily="34" charset="0"/>
                <a:ea typeface="Georgia" pitchFamily="34" charset="-122"/>
                <a:cs typeface="Georgia" pitchFamily="34" charset="-120"/>
              </a:rPr>
              <a:t>⑤</a:t>
            </a:r>
            <a:endParaRPr lang="en-US" sz="2000" dirty="0"/>
          </a:p>
        </p:txBody>
      </p:sp>
      <p:sp>
        <p:nvSpPr>
          <p:cNvPr id="19" name="Text 17"/>
          <p:cNvSpPr/>
          <p:nvPr/>
        </p:nvSpPr>
        <p:spPr>
          <a:xfrm>
            <a:off x="1024128" y="4242816"/>
            <a:ext cx="758952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Modern ML (random forests, bagging), psychometrics (NAEP, reliability), and causal inference (mediation) all rely on bootstrap logic.</a:t>
            </a:r>
            <a:endParaRPr lang="en-US" sz="1300" dirty="0"/>
          </a:p>
        </p:txBody>
      </p:sp>
      <p:sp>
        <p:nvSpPr>
          <p:cNvPr id="20" name="Text 18"/>
          <p:cNvSpPr/>
          <p:nvPr/>
        </p:nvSpPr>
        <p:spPr>
          <a:xfrm>
            <a:off x="365760" y="4828032"/>
            <a:ext cx="8412480" cy="274320"/>
          </a:xfrm>
          <a:prstGeom prst="rect">
            <a:avLst/>
          </a:prstGeom>
          <a:noFill/>
          <a:ln/>
        </p:spPr>
        <p:txBody>
          <a:bodyPr wrap="square" lIns="0" tIns="0" rIns="0" bIns="0" rtlCol="0" anchor="ctr"/>
          <a:lstStyle/>
          <a:p>
            <a:pPr marL="0" indent="0">
              <a:buNone/>
            </a:pPr>
            <a:r>
              <a:rPr lang="en-US" sz="1050" i="1" dirty="0">
                <a:solidFill>
                  <a:srgbClr val="A8D5E2"/>
                </a:solidFill>
                <a:latin typeface="Georgia" pitchFamily="34" charset="0"/>
                <a:ea typeface="Georgia" pitchFamily="34" charset="-122"/>
                <a:cs typeface="Georgia" pitchFamily="34" charset="-120"/>
              </a:rPr>
              <a:t>"To pull oneself up by one's bootstraps" — doing something seemingly impossible with the resources at hand.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8C"/>
          </a:solidFill>
          <a:ln w="12700">
            <a:solidFill>
              <a:srgbClr val="0D6E8C"/>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Selected References</a:t>
            </a:r>
            <a:endParaRPr lang="en-US" sz="2600" dirty="0"/>
          </a:p>
        </p:txBody>
      </p:sp>
      <p:sp>
        <p:nvSpPr>
          <p:cNvPr id="4" name="Text 2"/>
          <p:cNvSpPr/>
          <p:nvPr/>
        </p:nvSpPr>
        <p:spPr>
          <a:xfrm>
            <a:off x="320040" y="1078992"/>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Breiman, L. (2001). Random forests. Machine Learning, 45(1), 5–32.</a:t>
            </a:r>
            <a:endParaRPr lang="en-US" sz="1050" dirty="0"/>
          </a:p>
        </p:txBody>
      </p:sp>
      <p:sp>
        <p:nvSpPr>
          <p:cNvPr id="5" name="Text 3"/>
          <p:cNvSpPr/>
          <p:nvPr/>
        </p:nvSpPr>
        <p:spPr>
          <a:xfrm>
            <a:off x="320040" y="1508760"/>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Cameron, A. C., &amp; Miller, D. L. (2015). A practitioner's guide to cluster-robust inference. Journal of Human Resources, 50(2), 317–372.</a:t>
            </a:r>
            <a:endParaRPr lang="en-US" sz="1050" dirty="0"/>
          </a:p>
        </p:txBody>
      </p:sp>
      <p:sp>
        <p:nvSpPr>
          <p:cNvPr id="6" name="Text 4"/>
          <p:cNvSpPr/>
          <p:nvPr/>
        </p:nvSpPr>
        <p:spPr>
          <a:xfrm>
            <a:off x="320040" y="1938528"/>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Davison, A. C., &amp; Hinkley, D. V. (1997). Bootstrap Methods and Their Application. Cambridge University Press.</a:t>
            </a:r>
            <a:endParaRPr lang="en-US" sz="1050" dirty="0"/>
          </a:p>
        </p:txBody>
      </p:sp>
      <p:sp>
        <p:nvSpPr>
          <p:cNvPr id="7" name="Text 5"/>
          <p:cNvSpPr/>
          <p:nvPr/>
        </p:nvSpPr>
        <p:spPr>
          <a:xfrm>
            <a:off x="320040" y="2368296"/>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DiCiccio, T. J., &amp; Efron, B. (1996). Bootstrap confidence intervals. Statistical Science, 11(3), 189–212.</a:t>
            </a:r>
            <a:endParaRPr lang="en-US" sz="1050" dirty="0"/>
          </a:p>
        </p:txBody>
      </p:sp>
      <p:sp>
        <p:nvSpPr>
          <p:cNvPr id="8" name="Text 6"/>
          <p:cNvSpPr/>
          <p:nvPr/>
        </p:nvSpPr>
        <p:spPr>
          <a:xfrm>
            <a:off x="320040" y="2798064"/>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Efron, B. (1979). Bootstrap methods: Another look at the jackknife. The Annals of Statistics, 7(1), 1–26.</a:t>
            </a:r>
            <a:endParaRPr lang="en-US" sz="1050" dirty="0"/>
          </a:p>
        </p:txBody>
      </p:sp>
      <p:sp>
        <p:nvSpPr>
          <p:cNvPr id="9" name="Text 7"/>
          <p:cNvSpPr/>
          <p:nvPr/>
        </p:nvSpPr>
        <p:spPr>
          <a:xfrm>
            <a:off x="320040" y="3227832"/>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Efron, B., &amp; Tibshirani, R. J. (1993). An Introduction to the Bootstrap. Chapman &amp; Hall/CRC.</a:t>
            </a:r>
            <a:endParaRPr lang="en-US" sz="1050" dirty="0"/>
          </a:p>
        </p:txBody>
      </p:sp>
      <p:sp>
        <p:nvSpPr>
          <p:cNvPr id="10" name="Text 8"/>
          <p:cNvSpPr/>
          <p:nvPr/>
        </p:nvSpPr>
        <p:spPr>
          <a:xfrm>
            <a:off x="320040" y="3657600"/>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Kelley, K., &amp; Pornprasertmanit, S. (2016). Confidence intervals for population reliability coefficients. Psychological Methods, 21(1), 69–92.</a:t>
            </a:r>
            <a:endParaRPr lang="en-US" sz="1050" dirty="0"/>
          </a:p>
        </p:txBody>
      </p:sp>
      <p:sp>
        <p:nvSpPr>
          <p:cNvPr id="11" name="Text 9"/>
          <p:cNvSpPr/>
          <p:nvPr/>
        </p:nvSpPr>
        <p:spPr>
          <a:xfrm>
            <a:off x="320040" y="4087368"/>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Mislevy, R. J., Beaton, A. E., Kaplan, B., &amp; Sheehan, K. M. (1992). Estimating population characteristics from sparse matrix samples of item responses. Journal of Educational Measurement, 29(2), 133–161.</a:t>
            </a:r>
            <a:endParaRPr lang="en-US" sz="1050" dirty="0"/>
          </a:p>
        </p:txBody>
      </p:sp>
      <p:sp>
        <p:nvSpPr>
          <p:cNvPr id="12" name="Text 10"/>
          <p:cNvSpPr/>
          <p:nvPr/>
        </p:nvSpPr>
        <p:spPr>
          <a:xfrm>
            <a:off x="320040" y="4517136"/>
            <a:ext cx="8503920" cy="402336"/>
          </a:xfrm>
          <a:prstGeom prst="rect">
            <a:avLst/>
          </a:prstGeom>
          <a:noFill/>
          <a:ln/>
        </p:spPr>
        <p:txBody>
          <a:bodyPr wrap="square" lIns="0" tIns="0" rIns="0" bIns="0" rtlCol="0" anchor="ctr"/>
          <a:lstStyle/>
          <a:p>
            <a:pPr marL="0" indent="0">
              <a:buNone/>
            </a:pPr>
            <a:r>
              <a:rPr lang="en-US" sz="1050" b="1" dirty="0">
                <a:solidFill>
                  <a:srgbClr val="0D6E8C"/>
                </a:solidFill>
                <a:latin typeface="Calibri" pitchFamily="34" charset="0"/>
                <a:ea typeface="Calibri" pitchFamily="34" charset="-122"/>
                <a:cs typeface="Calibri" pitchFamily="34" charset="-120"/>
              </a:rPr>
              <a:t>▪  </a:t>
            </a:r>
            <a:r>
              <a:rPr lang="en-US" sz="1050" dirty="0">
                <a:solidFill>
                  <a:srgbClr val="1B2F4E"/>
                </a:solidFill>
                <a:latin typeface="Calibri" pitchFamily="34" charset="0"/>
                <a:ea typeface="Calibri" pitchFamily="34" charset="-122"/>
                <a:cs typeface="Calibri" pitchFamily="34" charset="-120"/>
              </a:rPr>
              <a:t>Preacher, K. J., &amp; Hayes, A. F. (2008). Asymptotic and resampling strategies for assessing and comparing indirect effects. Behavior Research Methods, 40(3), 879–891.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2331</Words>
  <Application>Microsoft Macintosh PowerPoint</Application>
  <PresentationFormat>On-screen Show (16:9)</PresentationFormat>
  <Paragraphs>265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Bootstrap Method in Contemporary Statistical Analysis</dc:title>
  <dc:subject>PptxGenJS Presentation</dc:subject>
  <dc:creator>Graduate Statistics Lecture</dc:creator>
  <cp:lastModifiedBy>Howard Everson</cp:lastModifiedBy>
  <cp:revision>3</cp:revision>
  <dcterms:created xsi:type="dcterms:W3CDTF">2026-05-07T19:06:55Z</dcterms:created>
  <dcterms:modified xsi:type="dcterms:W3CDTF">2026-05-07T22:28:40Z</dcterms:modified>
</cp:coreProperties>
</file>