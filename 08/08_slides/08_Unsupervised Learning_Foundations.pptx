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304" r:id="rId25"/>
    <p:sldId id="305" r:id="rId26"/>
    <p:sldId id="306" r:id="rId27"/>
    <p:sldId id="307" r:id="rId28"/>
    <p:sldId id="279" r:id="rId29"/>
    <p:sldId id="280" r:id="rId30"/>
    <p:sldId id="281" r:id="rId31"/>
    <p:sldId id="282" r:id="rId32"/>
    <p:sldId id="283" r:id="rId33"/>
    <p:sldId id="285" r:id="rId34"/>
    <p:sldId id="287" r:id="rId35"/>
    <p:sldId id="289" r:id="rId36"/>
    <p:sldId id="291" r:id="rId37"/>
    <p:sldId id="293" r:id="rId38"/>
    <p:sldId id="295" r:id="rId39"/>
    <p:sldId id="297" r:id="rId40"/>
    <p:sldId id="299" r:id="rId41"/>
    <p:sldId id="301" r:id="rId42"/>
    <p:sldId id="302" r:id="rId43"/>
    <p:sldId id="303" r:id="rId4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210"/>
    <p:restoredTop sz="94610"/>
  </p:normalViewPr>
  <p:slideViewPr>
    <p:cSldViewPr snapToGrid="0" snapToObjects="1">
      <p:cViewPr varScale="1">
        <p:scale>
          <a:sx n="219" d="100"/>
          <a:sy n="219" d="100"/>
        </p:scale>
        <p:origin x="4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9" d="100"/>
        <a:sy n="129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0552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01168" y="4069080"/>
            <a:ext cx="8942832" cy="10744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Foundations of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230428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Concepts, Models, Assumptions &amp; Algorithms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2907792"/>
            <a:ext cx="4114800" cy="0"/>
          </a:xfrm>
          <a:prstGeom prst="line">
            <a:avLst/>
          </a:prstGeom>
          <a:noFill/>
          <a:ln w="1905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3035808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Topics: The Unsupervised Problem · Clustering (K-Means, Hierarchical, Gaussian Mixture Models) · Dimensionality Reduction (PCA, t-SNE, UMAP) · Density Estimation · Autoencoders · Model Evaluation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Roadmap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06240" cy="749808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347472" cy="74980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76656" y="941832"/>
            <a:ext cx="3730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Unsupervised Learning Problem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4320" y="1627632"/>
            <a:ext cx="4206240" cy="749808"/>
          </a:xfrm>
          <a:prstGeom prst="rect">
            <a:avLst/>
          </a:prstGeom>
          <a:solidFill>
            <a:srgbClr val="C9CBE0"/>
          </a:solidFill>
          <a:ln w="12700">
            <a:solidFill>
              <a:srgbClr val="C9C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1627632"/>
            <a:ext cx="347472" cy="749808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1627632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76656" y="1792224"/>
            <a:ext cx="3730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I: K-Means &amp; Its Assumptions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74320" y="2478024"/>
            <a:ext cx="4206240" cy="749808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2478024"/>
            <a:ext cx="347472" cy="74980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2478024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76656" y="2642616"/>
            <a:ext cx="3730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II: Hierarchical &amp; Density-Based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74320" y="3328416"/>
            <a:ext cx="4206240" cy="749808"/>
          </a:xfrm>
          <a:prstGeom prst="rect">
            <a:avLst/>
          </a:prstGeom>
          <a:solidFill>
            <a:srgbClr val="C9CBE0"/>
          </a:solidFill>
          <a:ln w="12700">
            <a:solidFill>
              <a:srgbClr val="C9C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3328416"/>
            <a:ext cx="347472" cy="749808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3328416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76656" y="3493008"/>
            <a:ext cx="3730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III: Gaussian Mixture Models &amp; EM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74320" y="4178808"/>
            <a:ext cx="4206240" cy="749808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4178808"/>
            <a:ext cx="347472" cy="74980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4178808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76656" y="4343400"/>
            <a:ext cx="3730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Reduction: PCA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663440" y="777240"/>
            <a:ext cx="4206240" cy="749808"/>
          </a:xfrm>
          <a:prstGeom prst="rect">
            <a:avLst/>
          </a:prstGeom>
          <a:solidFill>
            <a:srgbClr val="C9CBE0"/>
          </a:solidFill>
          <a:ln w="12700">
            <a:solidFill>
              <a:srgbClr val="C9C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63440" y="777240"/>
            <a:ext cx="347472" cy="749808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663440" y="777240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065776" y="941832"/>
            <a:ext cx="3730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Nonlinear Reduction: t-SNE &amp; UMAP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663440" y="1627632"/>
            <a:ext cx="4206240" cy="749808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663440" y="1627632"/>
            <a:ext cx="347472" cy="74980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663440" y="1627632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5065776" y="1792224"/>
            <a:ext cx="3730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Estimation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663440" y="2478024"/>
            <a:ext cx="4206240" cy="749808"/>
          </a:xfrm>
          <a:prstGeom prst="rect">
            <a:avLst/>
          </a:prstGeom>
          <a:solidFill>
            <a:srgbClr val="C9CBE0"/>
          </a:solidFill>
          <a:ln w="12700">
            <a:solidFill>
              <a:srgbClr val="C9C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663440" y="2478024"/>
            <a:ext cx="347472" cy="749808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663440" y="2478024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5065776" y="2642616"/>
            <a:ext cx="3730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Autoencoders &amp; Representation Learning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4663440" y="3328416"/>
            <a:ext cx="4206240" cy="749808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663440" y="3328416"/>
            <a:ext cx="347472" cy="74980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663440" y="3328416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5065776" y="3493008"/>
            <a:ext cx="3730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Unsupervised Models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D6A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Unsupervised Learning Problem</a:t>
            </a:r>
            <a:endParaRPr lang="en-US" sz="3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vs. Unsupervised: A Fundamental Distinction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114800" cy="4069080"/>
          </a:xfrm>
          <a:prstGeom prst="rect">
            <a:avLst/>
          </a:prstGeom>
          <a:solidFill>
            <a:srgbClr val="D6EEF8"/>
          </a:solidFill>
          <a:ln w="12700">
            <a:solidFill>
              <a:srgbClr val="D6E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4114800" cy="420624"/>
          </a:xfrm>
          <a:prstGeom prst="rect">
            <a:avLst/>
          </a:prstGeom>
          <a:solidFill>
            <a:srgbClr val="118AB2"/>
          </a:solidFill>
          <a:ln w="12700">
            <a:solidFill>
              <a:srgbClr val="118A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225296"/>
            <a:ext cx="39319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training data: {(xᵢ, yᵢ)}ⁿᵢ₌₁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 y is known and explicit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learn f: X → Y minimizing prediction loss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is straightforward: compare ŷ to y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P(Y|X) or P(X,Y) is estimable from labels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749808"/>
            <a:ext cx="4114800" cy="4069080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63440" y="749808"/>
            <a:ext cx="4114800" cy="42062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0" y="74980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1225296"/>
            <a:ext cx="39319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Unlabeled data: {xᵢ}ⁿᵢ₌₁  — no y observed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criterion to predict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r>
              <a:rPr lang="en-US" sz="1300" dirty="0">
                <a:solidFill>
                  <a:srgbClr val="1A1A2E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discover structure 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P(X) itself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is inherently harder — no ground truth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structure exists: clusters, manifolds, factors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" y="4873752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challenge: without y, what does 'correct' mean? The answer defines the method.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Structure Are We Looking For? A Taxonomy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4206240" cy="1965960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56032" y="749808"/>
            <a:ext cx="4206240" cy="42062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749808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7472" y="1225296"/>
            <a:ext cx="4023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X into groups (clusters) such that within-group observations are more similar than between-group ones.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K-Means, GMMs, DBSCAN, Hierarchical Clustering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749808"/>
            <a:ext cx="4206240" cy="1965960"/>
          </a:xfrm>
          <a:prstGeom prst="rect">
            <a:avLst/>
          </a:prstGeom>
          <a:solidFill>
            <a:srgbClr val="C9CBE0"/>
          </a:solidFill>
          <a:ln w="12700">
            <a:solidFill>
              <a:srgbClr val="C9C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63440" y="749808"/>
            <a:ext cx="4206240" cy="420624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0" y="749808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1225296"/>
            <a:ext cx="4023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low-dimensional representation z ∈ ℝᵏ (k≪p) that preserves the essential structure of x ∈ ℝᵖ.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PCA, ICA, t-SNE, UMAP, Autoencoders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56032" y="2871216"/>
            <a:ext cx="4206240" cy="1965960"/>
          </a:xfrm>
          <a:prstGeom prst="rect">
            <a:avLst/>
          </a:prstGeom>
          <a:solidFill>
            <a:srgbClr val="D6EAD6"/>
          </a:solidFill>
          <a:ln w="12700">
            <a:solidFill>
              <a:srgbClr val="D6E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56032" y="2871216"/>
            <a:ext cx="4206240" cy="420624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7472" y="2871216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Estimation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7472" y="3346704"/>
            <a:ext cx="4023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the probability density P(X) from which the data were drawn.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KDE, Gaussian Mixture Models, Normalizing Flows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63440" y="2871216"/>
            <a:ext cx="4206240" cy="1965960"/>
          </a:xfrm>
          <a:prstGeom prst="rect">
            <a:avLst/>
          </a:prstGeom>
          <a:solidFill>
            <a:srgbClr val="D6EEF8"/>
          </a:solidFill>
          <a:ln w="12700">
            <a:solidFill>
              <a:srgbClr val="D6E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63440" y="2871216"/>
            <a:ext cx="4206240" cy="420624"/>
          </a:xfrm>
          <a:prstGeom prst="rect">
            <a:avLst/>
          </a:prstGeom>
          <a:solidFill>
            <a:srgbClr val="118AB2"/>
          </a:solidFill>
          <a:ln w="12700">
            <a:solidFill>
              <a:srgbClr val="118A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54880" y="2871216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 Learning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0" y="3346704"/>
            <a:ext cx="4023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</a:t>
            </a:r>
            <a:r>
              <a:rPr lang="en-US" sz="1150" dirty="0">
                <a:solidFill>
                  <a:srgbClr val="1A1A2E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latent features </a:t>
            </a: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(embeddings) that encode meaningful structure for downstream tasks.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Autoencoders, VAEs, word2vec, contrastive learning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74320" y="484632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methods serve multiple goals simultaneously: GMMs do both density estimation and clustering; autoencoders do both dimensionality reduction and representation learning.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Assumptions of Unsupervised Methods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475488"/>
          </a:xfrm>
          <a:prstGeom prst="rect">
            <a:avLst/>
          </a:prstGeom>
          <a:solidFill>
            <a:srgbClr val="FFF8DC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unsupervised method encodes prior assumptions about what kind of structure is worth finding.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2514600" cy="292608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129844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34640" y="1298448"/>
            <a:ext cx="3520440" cy="292608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07792" y="129844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1298448"/>
            <a:ext cx="2468880" cy="292608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73952" y="12984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Methods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609344"/>
            <a:ext cx="2514600" cy="530352"/>
          </a:xfrm>
          <a:prstGeom prst="rect">
            <a:avLst/>
          </a:prstGeom>
          <a:solidFill>
            <a:srgbClr val="D8F3DC"/>
          </a:solidFill>
          <a:ln w="12700">
            <a:solidFill>
              <a:srgbClr val="E0E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7472" y="1664208"/>
            <a:ext cx="2386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Smoothness / Continuity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834640" y="1609344"/>
            <a:ext cx="3520440" cy="530352"/>
          </a:xfrm>
          <a:prstGeom prst="rect">
            <a:avLst/>
          </a:prstGeom>
          <a:solidFill>
            <a:srgbClr val="D8F3DC"/>
          </a:solidFill>
          <a:ln w="12700">
            <a:solidFill>
              <a:srgbClr val="E0E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907792" y="1664208"/>
            <a:ext cx="3392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points in X-space belong to the same cluster or lie on the same manifold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1609344"/>
            <a:ext cx="2468880" cy="530352"/>
          </a:xfrm>
          <a:prstGeom prst="rect">
            <a:avLst/>
          </a:prstGeom>
          <a:solidFill>
            <a:srgbClr val="D8F3DC"/>
          </a:solidFill>
          <a:ln w="12700">
            <a:solidFill>
              <a:srgbClr val="E0E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73952" y="1664208"/>
            <a:ext cx="2340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K-Means, KDE, UMAP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176272"/>
            <a:ext cx="25146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47472" y="2231136"/>
            <a:ext cx="2386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Compactness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834640" y="2176272"/>
            <a:ext cx="3520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907792" y="2231136"/>
            <a:ext cx="3392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have higher internal density than boundary regions; each cluster has a natural 'center'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0" y="2176272"/>
            <a:ext cx="24688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73952" y="2231136"/>
            <a:ext cx="2340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K-Means, GMM, DBSCAN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2743200"/>
            <a:ext cx="2514600" cy="530352"/>
          </a:xfrm>
          <a:prstGeom prst="rect">
            <a:avLst/>
          </a:prstGeom>
          <a:solidFill>
            <a:srgbClr val="D8F3DC"/>
          </a:solidFill>
          <a:ln w="12700">
            <a:solidFill>
              <a:srgbClr val="E0E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47472" y="2798064"/>
            <a:ext cx="2386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Low-Dimensional Manifold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834640" y="2743200"/>
            <a:ext cx="3520440" cy="530352"/>
          </a:xfrm>
          <a:prstGeom prst="rect">
            <a:avLst/>
          </a:prstGeom>
          <a:solidFill>
            <a:srgbClr val="D8F3DC"/>
          </a:solidFill>
          <a:ln w="12700">
            <a:solidFill>
              <a:srgbClr val="E0E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907792" y="2798064"/>
            <a:ext cx="3392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High-dimensional data lies near a low-dimensional manifold embedded in ℝᵖ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0" y="2743200"/>
            <a:ext cx="2468880" cy="530352"/>
          </a:xfrm>
          <a:prstGeom prst="rect">
            <a:avLst/>
          </a:prstGeom>
          <a:solidFill>
            <a:srgbClr val="D8F3DC"/>
          </a:solidFill>
          <a:ln w="12700">
            <a:solidFill>
              <a:srgbClr val="E0E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73952" y="2798064"/>
            <a:ext cx="2340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PCA, t-SNE, UMAP, Autoencoders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3310128"/>
            <a:ext cx="25146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47472" y="3364992"/>
            <a:ext cx="2386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Independence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834640" y="3310128"/>
            <a:ext cx="3520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907792" y="3364992"/>
            <a:ext cx="3392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sources or components are independent (or orthogonal) of one another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0" y="3310128"/>
            <a:ext cx="24688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73952" y="3364992"/>
            <a:ext cx="2340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(orthogonality), ICA (independence)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3877056"/>
            <a:ext cx="2514600" cy="530352"/>
          </a:xfrm>
          <a:prstGeom prst="rect">
            <a:avLst/>
          </a:prstGeom>
          <a:solidFill>
            <a:srgbClr val="D8F3DC"/>
          </a:solidFill>
          <a:ln w="12700">
            <a:solidFill>
              <a:srgbClr val="E0E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47472" y="3931920"/>
            <a:ext cx="2386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Model Existence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834640" y="3877056"/>
            <a:ext cx="3520440" cy="530352"/>
          </a:xfrm>
          <a:prstGeom prst="rect">
            <a:avLst/>
          </a:prstGeom>
          <a:solidFill>
            <a:srgbClr val="D8F3DC"/>
          </a:solidFill>
          <a:ln w="12700">
            <a:solidFill>
              <a:srgbClr val="E0E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907792" y="3931920"/>
            <a:ext cx="3392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data were generated by a tractable latent variable model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00800" y="3877056"/>
            <a:ext cx="2468880" cy="530352"/>
          </a:xfrm>
          <a:prstGeom prst="rect">
            <a:avLst/>
          </a:prstGeom>
          <a:solidFill>
            <a:srgbClr val="D8F3DC"/>
          </a:solidFill>
          <a:ln w="12700">
            <a:solidFill>
              <a:srgbClr val="E0E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473952" y="3931920"/>
            <a:ext cx="2340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GMM, VAE, Factor Analysis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74320" y="4443984"/>
            <a:ext cx="25146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47472" y="4498848"/>
            <a:ext cx="2386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i.i.d. Sampling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834640" y="4443984"/>
            <a:ext cx="3520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907792" y="4498848"/>
            <a:ext cx="3392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are drawn independently from the same distribution P(X)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400800" y="4443984"/>
            <a:ext cx="24688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473952" y="4498848"/>
            <a:ext cx="2340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methods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D6A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I: K-Means &amp; Its Assumptions</a:t>
            </a:r>
            <a:endParaRPr lang="en-US" sz="3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Clustering: Algorithm &amp; Objective Function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621792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Minimize:  W(C) = Σₖ Σ_{i∈Cₖ} ‖xᵢ − μₖ‖²     (within-cluster sum of squares, WCSS)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4114800" cy="3337560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51790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Lloyd's Algorithm (Coordinate Descent on WCSS)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7472" y="1920240"/>
            <a:ext cx="310896" cy="310896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3232" y="1938528"/>
            <a:ext cx="36027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Initialize: Choose K cluster centroids μ₁,…,μₖ (random, K-Means++, or user-specified)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7472" y="2670048"/>
            <a:ext cx="310896" cy="310896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" y="2670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3232" y="2688336"/>
            <a:ext cx="36027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Assign: Assign each xᵢ to nearest centroid:  Cₖ = {i : k = argmin_j ‖xᵢ−μⱼ‖²}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47472" y="3419856"/>
            <a:ext cx="310896" cy="310896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7472" y="3419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13232" y="3438144"/>
            <a:ext cx="36027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Update: Recompute centroids as cluster means:  μₖ = (1/|Cₖ|) Σ_{i∈Cₖ} xᵢ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47472" y="4169664"/>
            <a:ext cx="310896" cy="310896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7472" y="4169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3232" y="4187952"/>
            <a:ext cx="36027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Repeat: Iterate steps 2–3 until assignments do not change (convergence guaranteed — WCSS decreases monotonically)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663440" y="1463040"/>
            <a:ext cx="4114800" cy="3337560"/>
          </a:xfrm>
          <a:prstGeom prst="rect">
            <a:avLst/>
          </a:prstGeom>
          <a:solidFill>
            <a:srgbClr val="C9CBE0"/>
          </a:solidFill>
          <a:ln w="12700">
            <a:solidFill>
              <a:srgbClr val="C9C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0" y="151790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Assumptions &amp; Limitations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754880" y="1901952"/>
            <a:ext cx="39319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must be specified in advance — not inferred from data</a:t>
            </a:r>
            <a:endParaRPr lang="en-US" sz="1150" dirty="0"/>
          </a:p>
          <a:p>
            <a:pPr marL="711200" lvl="1" indent="-355600">
              <a:buSzPct val="100000"/>
              <a:buChar char="•"/>
            </a:pPr>
            <a:r>
              <a:rPr lang="en-US" sz="10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elbow plot, silhouette, or gap statistic to choose K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clusters are convex, isotropic, and similarly sized</a:t>
            </a:r>
            <a:endParaRPr lang="en-US" sz="1150" dirty="0"/>
          </a:p>
          <a:p>
            <a:pPr marL="711200" lvl="1" indent="-355600">
              <a:buSzPct val="100000"/>
              <a:buChar char="•"/>
            </a:pPr>
            <a:r>
              <a:rPr lang="en-US" sz="10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on elongated, ring-shaped, or very unequal clusters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 distance encodes implicit spherical Gaussian assumption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outliers (outliers pull centroids)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Non-convex objective — algorithm finds local minimum, not global</a:t>
            </a:r>
            <a:endParaRPr lang="en-US" sz="1150" dirty="0"/>
          </a:p>
          <a:p>
            <a:pPr marL="711200" lvl="1" indent="-355600">
              <a:buSzPct val="100000"/>
              <a:buChar char="•"/>
            </a:pPr>
            <a:r>
              <a:rPr lang="en-US" sz="10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multiple restarts; K-Means++ initialization reduces instability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Complexity: O(n·K·p·T) per iteration — scales well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K: Elbow, Silhouette &amp; Gap Statistic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2816352" cy="4160520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56032" y="749808"/>
            <a:ext cx="2816352" cy="402336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749808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Method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" y="1188720"/>
            <a:ext cx="2633472" cy="310896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1188720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W(K) = Σₖ Σ_{i∈Cₖ} ‖xᵢ−μₖ‖²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7472" y="1554480"/>
            <a:ext cx="2633472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WCSS vs. K. Look for the 'elbow' — the point where marginal reduction in WCSS diminishes sharply.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elbow is often ambiguous and subjective. Best used as a first-pass heuristic.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82112" y="749808"/>
            <a:ext cx="2816352" cy="4160520"/>
          </a:xfrm>
          <a:prstGeom prst="rect">
            <a:avLst/>
          </a:prstGeom>
          <a:solidFill>
            <a:srgbClr val="C9CBE0"/>
          </a:solidFill>
          <a:ln w="12700">
            <a:solidFill>
              <a:srgbClr val="C9C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182112" y="749808"/>
            <a:ext cx="2816352" cy="402336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73552" y="749808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73552" y="1188720"/>
            <a:ext cx="2633472" cy="310896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73552" y="1188720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s(i) ∈ [−1, 1]; higher = better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73552" y="1554480"/>
            <a:ext cx="2633472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point i, compute: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a(i) = mean intra-cluster distance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b(i) = mean nearest-cluster distance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s(i) = [b(i)−a(i)] / max(a(i),b(i))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s(i) over all points. Range: [−1, 1]. Maximize over K.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08192" y="749808"/>
            <a:ext cx="2816352" cy="4160520"/>
          </a:xfrm>
          <a:prstGeom prst="rect">
            <a:avLst/>
          </a:prstGeom>
          <a:solidFill>
            <a:srgbClr val="D6EEF8"/>
          </a:solidFill>
          <a:ln w="12700">
            <a:solidFill>
              <a:srgbClr val="D6E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08192" y="749808"/>
            <a:ext cx="2816352" cy="402336"/>
          </a:xfrm>
          <a:prstGeom prst="rect">
            <a:avLst/>
          </a:prstGeom>
          <a:solidFill>
            <a:srgbClr val="118AB2"/>
          </a:solidFill>
          <a:ln w="12700">
            <a:solidFill>
              <a:srgbClr val="118A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99632" y="749808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Statistic (Tibshirani 2001)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99632" y="1188720"/>
            <a:ext cx="2633472" cy="310896"/>
          </a:xfrm>
          <a:prstGeom prst="rect">
            <a:avLst/>
          </a:prstGeom>
          <a:solidFill>
            <a:srgbClr val="118AB2"/>
          </a:solidFill>
          <a:ln w="12700">
            <a:solidFill>
              <a:srgbClr val="118A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99632" y="1188720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Gap(K) = 𝔼*[log Wₖ] − log Wₖ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199632" y="1554480"/>
            <a:ext cx="2633472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observed log(W(K)) to its expectation under a null reference distribution (uniform data with no cluster structure).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Gap(K) = E*[log W(K)] − log W(K)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smallest K where Gap(K) ≥ Gap(K+1) − SE.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method is definitive — use multiple criteria and domain knowledge. K-selection is as much art as science.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D6A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II: Hierarchical &amp; Density-Based</a:t>
            </a:r>
            <a:endParaRPr lang="en-US" sz="3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Clustering: Agglomerative &amp; Divisive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475488"/>
          </a:xfrm>
          <a:prstGeom prst="rect">
            <a:avLst/>
          </a:prstGeom>
          <a:solidFill>
            <a:srgbClr val="FFF8DC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advantage: does not require specifying K in advance. Output is a dendrogram — a full hierarchy of merges.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4114800" cy="3520440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35331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Agglomerative (Bottom-Up)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3931920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n singleton clusters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Iteratively merge the two closest clusters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when one cluster remains (or at desired K)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Linkage criteria determine 'closest':</a:t>
            </a:r>
            <a:endParaRPr lang="en-US" sz="1200" dirty="0"/>
          </a:p>
          <a:p>
            <a:pPr marL="711200" lvl="1" indent="-355600">
              <a:buSzPct val="100000"/>
              <a:buChar char="•"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Single: min inter-cluster distance → chaining effect</a:t>
            </a:r>
            <a:endParaRPr lang="en-US" sz="1200" dirty="0"/>
          </a:p>
          <a:p>
            <a:pPr marL="711200" lvl="1" indent="-355600">
              <a:buSzPct val="100000"/>
              <a:buChar char="•"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Complete: max inter-cluster distance → compact clusters</a:t>
            </a:r>
            <a:endParaRPr lang="en-US" sz="1200" dirty="0"/>
          </a:p>
          <a:p>
            <a:pPr marL="711200" lvl="1" indent="-355600">
              <a:buSzPct val="100000"/>
              <a:buChar char="•"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(UPGMA): mean of all pairwise distances</a:t>
            </a:r>
            <a:endParaRPr lang="en-US" sz="1200" dirty="0"/>
          </a:p>
          <a:p>
            <a:pPr marL="711200" lvl="1" indent="-355600">
              <a:buSzPct val="100000"/>
              <a:buChar char="•"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Ward: minimizes increase in total WCSS on merge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Complexity: O(n²) space, O(n³) naive (O(n² log n) with tricks)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298448"/>
            <a:ext cx="4114800" cy="3520440"/>
          </a:xfrm>
          <a:prstGeom prst="rect">
            <a:avLst/>
          </a:prstGeom>
          <a:solidFill>
            <a:srgbClr val="C9CBE0"/>
          </a:solidFill>
          <a:ln w="12700">
            <a:solidFill>
              <a:srgbClr val="C9C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0" y="135331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DBSCAN: Density-Based Approach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1737360"/>
            <a:ext cx="3931920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hyperparameters: ε (neighborhood radius), MinPts (core point threshold)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point: has ≥ MinPts neighbors within ε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point: within ε of a core point but not core itself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point: neither core nor border — labeled as outlier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grow by density-reachability from core points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Discovers arbitrary-shaped clusters; robust to outliers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require K; naturally identifies noise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Struggles with varying density; sensitive to ε and MinPts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HDBSCAN extends to hierarchical density-based clustering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D6A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III: Gaussian Mixture Models &amp; EM</a:t>
            </a:r>
            <a:endParaRPr lang="en-US" sz="3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Mixture Models: A Probabilistic Framework for Clustering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59436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786384"/>
            <a:ext cx="8412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0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P(x) = Σₖ πₖ · N(x | μₖ, Σₖ)     where πₖ ≥ 0 and Σₖ πₖ = 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4114800" cy="3401568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47218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Specification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component Gaussians, each with mean μₖ and covariance Σₖ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 weights πₖ = P(Z=k) are the prior cluster probabilities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variable Z ∈ {1,…,K} indicates component membership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Σₖ can be constrained:</a:t>
            </a:r>
            <a:endParaRPr lang="en-US" sz="1150" dirty="0"/>
          </a:p>
          <a:p>
            <a:pPr marL="711200" lvl="1" indent="-355600">
              <a:buSzPct val="100000"/>
              <a:buChar char="•"/>
            </a:pPr>
            <a:r>
              <a:rPr lang="en-US" sz="10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Spherical: Σₖ = σ²I  (K-Means as a limiting case)</a:t>
            </a:r>
            <a:endParaRPr lang="en-US" sz="1150" dirty="0"/>
          </a:p>
          <a:p>
            <a:pPr marL="711200" lvl="1" indent="-355600">
              <a:buSzPct val="100000"/>
              <a:buChar char="•"/>
            </a:pPr>
            <a:r>
              <a:rPr lang="en-US" sz="10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Diagonal: independent features within cluster</a:t>
            </a:r>
            <a:endParaRPr lang="en-US" sz="1150" dirty="0"/>
          </a:p>
          <a:p>
            <a:pPr marL="711200" lvl="1" indent="-355600">
              <a:buSzPct val="100000"/>
              <a:buChar char="•"/>
            </a:pPr>
            <a:r>
              <a:rPr lang="en-US" sz="10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Full: arbitrary elliptical clusters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assignment: each point has probability of belonging to each cluster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θ = {πₖ, μₖ, Σₖ} estimated by maximum likelihood via EM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417320"/>
            <a:ext cx="4114800" cy="3401568"/>
          </a:xfrm>
          <a:prstGeom prst="rect">
            <a:avLst/>
          </a:prstGeom>
          <a:solidFill>
            <a:srgbClr val="C9CBE0"/>
          </a:solidFill>
          <a:ln w="12700">
            <a:solidFill>
              <a:srgbClr val="C9C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0" y="147218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Algorithm for GMM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754880" y="182880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E-Step (Expectation): compute soft cluster responsibilities</a:t>
            </a:r>
            <a:endParaRPr lang="en-US" sz="1150" dirty="0"/>
          </a:p>
          <a:p>
            <a:pPr marL="711200" lvl="1" indent="-355600">
              <a:buSzPct val="100000"/>
              <a:buChar char="•"/>
            </a:pPr>
            <a:r>
              <a:rPr lang="en-US" sz="10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rᵢₖ = P(Z=k|xᵢ,θ) = πₖN(xᵢ|μₖ,Σₖ) / Σⱼ πⱼN(xᵢ|μⱼ,Σⱼ)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M-Step (Maximization): update parameters using weighted MLE</a:t>
            </a:r>
            <a:endParaRPr lang="en-US" sz="1150" dirty="0"/>
          </a:p>
          <a:p>
            <a:pPr marL="711200" lvl="1" indent="-355600">
              <a:buSzPct val="100000"/>
              <a:buChar char="•"/>
            </a:pPr>
            <a:r>
              <a:rPr lang="en-US" sz="10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πₖ = (1/n)Σᵢrᵢₖ ;  μₖ = Σᵢrᵢₖxᵢ/Σᵢrᵢₖ</a:t>
            </a:r>
            <a:endParaRPr lang="en-US" sz="1150" dirty="0"/>
          </a:p>
          <a:p>
            <a:pPr marL="711200" lvl="1" indent="-355600">
              <a:buSzPct val="100000"/>
              <a:buChar char="•"/>
            </a:pPr>
            <a:r>
              <a:rPr lang="en-US" sz="10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Σₖ = Σᵢrᵢₖ(xᵢ−μₖ)(xᵢ−μₖ)ᵀ / Σᵢrᵢₖ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monotonically increases the log-likelihood — guaranteed not to decrease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Converges to local maximum; run multiple restarts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is a hard-assignment limiting case of GMM (Σₖ→σ²I, σ²→0)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selection: use BIC or AIC to choose K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D6A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Reduction: Principal Component Analysis</a:t>
            </a:r>
            <a:endParaRPr lang="en-US" sz="3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PCA: Finding the Directions of Maximum Variance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566928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7955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find orthogonal directions v₁,…,vₖ that maximize variance of projected data  Var(Xvⱼ)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389888"/>
            <a:ext cx="4114800" cy="3429000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44475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Derivation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65760" y="1810512"/>
            <a:ext cx="3931920" cy="2944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X: subtract column means → X̃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sample covariance: S = (1/n)X̃ᵀX̃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Eigen-decompose: S = VΛVᵀ  (or use SVD of X̃)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components v₁,…,vₚ are eigenvectors of S ordered by eigenvalue λ₁≥…≥λₚ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Z = X̃V_k  where V_k contains first k eigenvectors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 of variance explained by first k PCs:</a:t>
            </a:r>
            <a:endParaRPr lang="en-US" sz="1150" dirty="0"/>
          </a:p>
          <a:p>
            <a:pPr marL="711200" lvl="1" indent="-355600">
              <a:buSzPct val="100000"/>
              <a:buChar char="•"/>
            </a:pPr>
            <a:r>
              <a:rPr lang="en-US" sz="10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PVE = (Σⱼ₌₁ᵏ λⱼ) / (Σⱼ₌₁ᵖ λⱼ)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is the MLE solution to probabilistic PCA (PPCA) model: x = Wz + ε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to SVD: X̃ = UDVᵀ; PCs = columns of V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389888"/>
            <a:ext cx="4114800" cy="3429000"/>
          </a:xfrm>
          <a:prstGeom prst="rect">
            <a:avLst/>
          </a:prstGeom>
          <a:solidFill>
            <a:srgbClr val="C9CBE0"/>
          </a:solidFill>
          <a:ln w="12700">
            <a:solidFill>
              <a:srgbClr val="C9C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0" y="144475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Assumptions, Uses &amp; Limitations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754880" y="1810512"/>
            <a:ext cx="3931920" cy="2944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Assumptions:</a:t>
            </a:r>
            <a:endParaRPr lang="en-US" sz="1150" dirty="0"/>
          </a:p>
          <a:p>
            <a:pPr marL="711200" lvl="1" indent="-355600">
              <a:buSzPct val="100000"/>
              <a:buChar char="•"/>
            </a:pPr>
            <a:r>
              <a:rPr lang="en-US" sz="10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structure: signal lives in a linear subspace</a:t>
            </a:r>
            <a:endParaRPr lang="en-US" sz="1150" dirty="0"/>
          </a:p>
          <a:p>
            <a:pPr marL="711200" lvl="1" indent="-355600">
              <a:buSzPct val="100000"/>
              <a:buChar char="•"/>
            </a:pPr>
            <a:r>
              <a:rPr lang="en-US" sz="10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variance ≈ important signal (not always true)</a:t>
            </a:r>
            <a:endParaRPr lang="en-US" sz="1150" dirty="0"/>
          </a:p>
          <a:p>
            <a:pPr marL="711200" lvl="1" indent="-355600">
              <a:buSzPct val="100000"/>
              <a:buChar char="•"/>
            </a:pPr>
            <a:r>
              <a:rPr lang="en-US" sz="10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are (approximately) normally distributed for inference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uses:</a:t>
            </a:r>
            <a:endParaRPr lang="en-US" sz="1150" dirty="0"/>
          </a:p>
          <a:p>
            <a:pPr marL="711200" lvl="1" indent="-355600">
              <a:buSzPct val="100000"/>
              <a:buChar char="•"/>
            </a:pPr>
            <a:r>
              <a:rPr lang="en-US" sz="10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(2D/3D projections)</a:t>
            </a:r>
            <a:endParaRPr lang="en-US" sz="1150" dirty="0"/>
          </a:p>
          <a:p>
            <a:pPr marL="711200" lvl="1" indent="-355600">
              <a:buSzPct val="100000"/>
              <a:buChar char="•"/>
            </a:pPr>
            <a:r>
              <a:rPr lang="en-US" sz="10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reduction before downstream modeling</a:t>
            </a:r>
            <a:endParaRPr lang="en-US" sz="1150" dirty="0"/>
          </a:p>
          <a:p>
            <a:pPr marL="711200" lvl="1" indent="-355600">
              <a:buSzPct val="100000"/>
              <a:buChar char="•"/>
            </a:pPr>
            <a:r>
              <a:rPr lang="en-US" sz="10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Collinearity reduction before regression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</a:t>
            </a:r>
            <a:endParaRPr lang="en-US" sz="1150" dirty="0"/>
          </a:p>
          <a:p>
            <a:pPr marL="711200" lvl="1" indent="-355600">
              <a:buSzPct val="100000"/>
              <a:buChar char="•"/>
            </a:pPr>
            <a:r>
              <a:rPr lang="en-US" sz="10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only — cannot capture curved manifolds</a:t>
            </a:r>
            <a:endParaRPr lang="en-US" sz="1150" dirty="0"/>
          </a:p>
          <a:p>
            <a:pPr marL="711200" lvl="1" indent="-355600">
              <a:buSzPct val="100000"/>
              <a:buChar char="•"/>
            </a:pPr>
            <a:r>
              <a:rPr lang="en-US" sz="10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PCs are linear combos of original features — hard to interpret</a:t>
            </a:r>
            <a:endParaRPr lang="en-US" sz="1150" dirty="0"/>
          </a:p>
          <a:p>
            <a:pPr marL="711200" lvl="1" indent="-355600">
              <a:buSzPct val="100000"/>
              <a:buChar char="•"/>
            </a:pPr>
            <a:r>
              <a:rPr lang="en-US" sz="10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feature scaling — always standardize first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Number of Components: Scree Plot &amp; Cumulative PVE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206240" cy="4069080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 Plot (schematic)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4480560"/>
            <a:ext cx="3566160" cy="0"/>
          </a:xfrm>
          <a:prstGeom prst="line">
            <a:avLst/>
          </a:prstGeom>
          <a:noFill/>
          <a:ln w="15240">
            <a:solidFill>
              <a:srgbClr val="3D40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234440"/>
            <a:ext cx="0" cy="3246120"/>
          </a:xfrm>
          <a:prstGeom prst="line">
            <a:avLst/>
          </a:prstGeom>
          <a:noFill/>
          <a:ln w="15240">
            <a:solidFill>
              <a:srgbClr val="3D40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4572000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Component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" y="1920240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(Variance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04672" y="1554480"/>
            <a:ext cx="256032" cy="29260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04672" y="4498848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133856" y="2724912"/>
            <a:ext cx="256032" cy="175564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33856" y="4498848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463040" y="3477333"/>
            <a:ext cx="256032" cy="1003227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463040" y="4498848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792224" y="3853543"/>
            <a:ext cx="256032" cy="627017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792224" y="4498848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121408" y="4062549"/>
            <a:ext cx="256032" cy="418011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121408" y="4498848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450592" y="4162871"/>
            <a:ext cx="256032" cy="317689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450592" y="4498848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79776" y="4229753"/>
            <a:ext cx="256032" cy="250807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79776" y="4498848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108960" y="4263194"/>
            <a:ext cx="256032" cy="217366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108960" y="4498848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438144" y="4279915"/>
            <a:ext cx="256032" cy="200645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438144" y="4498848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767328" y="4296635"/>
            <a:ext cx="256032" cy="183925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767328" y="4498848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389888" y="1463040"/>
            <a:ext cx="0" cy="1188720"/>
          </a:xfrm>
          <a:prstGeom prst="line">
            <a:avLst/>
          </a:prstGeom>
          <a:noFill/>
          <a:ln w="19050">
            <a:solidFill>
              <a:srgbClr val="B5451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417320" y="1417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Elbow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(choose k=3)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749808"/>
            <a:ext cx="4114800" cy="4069080"/>
          </a:xfrm>
          <a:prstGeom prst="rect">
            <a:avLst/>
          </a:prstGeom>
          <a:solidFill>
            <a:srgbClr val="C9CBE0"/>
          </a:solidFill>
          <a:ln w="12700">
            <a:solidFill>
              <a:srgbClr val="C9C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54880" y="80467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Strategies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754880" y="1170432"/>
            <a:ext cx="393192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 plot elbow rule</a:t>
            </a:r>
            <a:endParaRPr lang="en-US" sz="1150" dirty="0"/>
          </a:p>
          <a:p>
            <a:pPr marL="711200" lvl="1" indent="-355600">
              <a:buSzPct val="100000"/>
              <a:buChar char="•"/>
            </a:pPr>
            <a:r>
              <a:rPr lang="en-US" sz="10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PCs before the eigenvalue 'drops off'</a:t>
            </a:r>
            <a:endParaRPr lang="en-US" sz="1150" dirty="0"/>
          </a:p>
          <a:p>
            <a:pPr marL="711200" lvl="1" indent="-355600">
              <a:buSzPct val="100000"/>
              <a:buChar char="•"/>
            </a:pPr>
            <a:r>
              <a:rPr lang="en-US" sz="10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Subjective but widely used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PVE threshold</a:t>
            </a:r>
            <a:endParaRPr lang="en-US" sz="1150" dirty="0"/>
          </a:p>
          <a:p>
            <a:pPr marL="711200" lvl="1" indent="-355600">
              <a:buSzPct val="100000"/>
              <a:buChar char="•"/>
            </a:pPr>
            <a:r>
              <a:rPr lang="en-US" sz="10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k PCs explaining ≥80–95% of total variance</a:t>
            </a:r>
            <a:endParaRPr lang="en-US" sz="1150" dirty="0"/>
          </a:p>
          <a:p>
            <a:pPr marL="711200" lvl="1" indent="-355600">
              <a:buSzPct val="100000"/>
              <a:buChar char="•"/>
            </a:pPr>
            <a:r>
              <a:rPr lang="en-US" sz="10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choice is problem-dependent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Kaiser criterion</a:t>
            </a:r>
            <a:endParaRPr lang="en-US" sz="1150" dirty="0"/>
          </a:p>
          <a:p>
            <a:pPr marL="711200" lvl="1" indent="-355600">
              <a:buSzPct val="100000"/>
              <a:buChar char="•"/>
            </a:pPr>
            <a:r>
              <a:rPr lang="en-US" sz="10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PCs with eigenvalue λⱼ &gt; 1 (when features are standardized)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Horn's parallel analysis</a:t>
            </a:r>
            <a:endParaRPr lang="en-US" sz="1150" dirty="0"/>
          </a:p>
          <a:p>
            <a:pPr marL="711200" lvl="1" indent="-355600">
              <a:buSzPct val="100000"/>
              <a:buChar char="•"/>
            </a:pPr>
            <a:r>
              <a:rPr lang="en-US" sz="10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eigenvalues to those from random data of same size — retain PCs above the random baseline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on reconstruction error</a:t>
            </a:r>
            <a:endParaRPr lang="en-US" sz="1150" dirty="0"/>
          </a:p>
          <a:p>
            <a:pPr marL="711200" lvl="1" indent="-355600">
              <a:buSzPct val="100000"/>
              <a:buChar char="•"/>
            </a:pPr>
            <a:r>
              <a:rPr lang="en-US" sz="10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k as a hyperparameter; minimize held-out ‖X − ZVᵀ‖²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D6A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Nonlinear Dimensionality Reduction: t-SNE &amp; UMAP</a:t>
            </a:r>
            <a:endParaRPr lang="en-US" sz="3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&amp; UMAP: Preserving Local &amp; Global Structure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475488"/>
          </a:xfrm>
          <a:prstGeom prst="rect">
            <a:avLst/>
          </a:prstGeom>
          <a:solidFill>
            <a:srgbClr val="FFF8DC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Motivation: PCA is linear — it cannot 'unfold' curved manifolds. t-SNE and UMAP learn nonlinear embeddings.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4114800" cy="3520440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298448"/>
            <a:ext cx="4114800" cy="38404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29844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 (van der Maaten &amp; Hinton 2008)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5760" y="1737360"/>
            <a:ext cx="39319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high-dim pairwise distances to conditional probabilities pᵢⱼ (Gaussian kernel)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2D embedding, use Student-t (df=1) distribution qᵢⱼ — heavy tails prevent crowding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KL divergence: KL(P‖Q) = Σᵢⱼ pᵢⱼ log(pᵢⱼ/qᵢⱼ) via gradient descent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hyperparameter (~5–50): controls effective neighborhood size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Excels at revealing local cluster structure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limitations:</a:t>
            </a:r>
            <a:endParaRPr lang="en-US" sz="1150" dirty="0"/>
          </a:p>
          <a:p>
            <a:pPr marL="711200" lvl="1" indent="-355600">
              <a:buSzPct val="100000"/>
              <a:buChar char="•"/>
            </a:pPr>
            <a:r>
              <a:rPr lang="en-US" sz="10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— different runs give different layouts</a:t>
            </a:r>
            <a:endParaRPr lang="en-US" sz="1150" dirty="0"/>
          </a:p>
          <a:p>
            <a:pPr marL="711200" lvl="1" indent="-355600">
              <a:buSzPct val="100000"/>
              <a:buChar char="•"/>
            </a:pPr>
            <a:r>
              <a:rPr lang="en-US" sz="10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Distances between clusters are NOT meaningful</a:t>
            </a:r>
            <a:endParaRPr lang="en-US" sz="1150" dirty="0"/>
          </a:p>
          <a:p>
            <a:pPr marL="711200" lvl="1" indent="-355600">
              <a:buSzPct val="100000"/>
              <a:buChar char="•"/>
            </a:pPr>
            <a:r>
              <a:rPr lang="en-US" sz="10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structure (cluster ordering) not preserved</a:t>
            </a:r>
            <a:endParaRPr lang="en-US" sz="1150" dirty="0"/>
          </a:p>
          <a:p>
            <a:pPr marL="711200" lvl="1" indent="-355600">
              <a:buSzPct val="100000"/>
              <a:buChar char="•"/>
            </a:pPr>
            <a:r>
              <a:rPr lang="en-US" sz="10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 naive cost; Barnes-Hut approximation → O(n log n)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298448"/>
            <a:ext cx="4114800" cy="3520440"/>
          </a:xfrm>
          <a:prstGeom prst="rect">
            <a:avLst/>
          </a:prstGeom>
          <a:solidFill>
            <a:srgbClr val="C9CBE0"/>
          </a:solidFill>
          <a:ln w="12700">
            <a:solidFill>
              <a:srgbClr val="C9C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63440" y="1298448"/>
            <a:ext cx="4114800" cy="384048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0" y="129844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UMAP  (McInnes et al. 2018)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754880" y="1737360"/>
            <a:ext cx="39319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Riemannian geometry &amp; fuzzy simplicial sets (topological data analysis)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Constructs a fuzzy topological representation of high-dim data; optimizes low-dim equivalent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key hyperparameters: n_neighbors (local vs global balance) and min_dist (cluster compactness)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over t-SNE:</a:t>
            </a:r>
            <a:endParaRPr lang="en-US" sz="1150" dirty="0"/>
          </a:p>
          <a:p>
            <a:pPr marL="711200" lvl="1" indent="-355600">
              <a:buSzPct val="100000"/>
              <a:buChar char="•"/>
            </a:pPr>
            <a:r>
              <a:rPr lang="en-US" sz="10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global structure preservation</a:t>
            </a:r>
            <a:endParaRPr lang="en-US" sz="1150" dirty="0"/>
          </a:p>
          <a:p>
            <a:pPr marL="711200" lvl="1" indent="-355600">
              <a:buSzPct val="100000"/>
              <a:buChar char="•"/>
            </a:pPr>
            <a:r>
              <a:rPr lang="en-US" sz="10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Faster: O(n^1.14) empirically; scales to millions of points</a:t>
            </a:r>
            <a:endParaRPr lang="en-US" sz="1150" dirty="0"/>
          </a:p>
          <a:p>
            <a:pPr marL="711200" lvl="1" indent="-355600">
              <a:buSzPct val="100000"/>
              <a:buChar char="•"/>
            </a:pPr>
            <a:r>
              <a:rPr lang="en-US" sz="10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out-of-sample projection (transform new points)</a:t>
            </a:r>
            <a:endParaRPr lang="en-US" sz="1150" dirty="0"/>
          </a:p>
          <a:p>
            <a:pPr marL="711200" lvl="1" indent="-355600">
              <a:buSzPct val="100000"/>
              <a:buChar char="•"/>
            </a:pPr>
            <a:r>
              <a:rPr lang="en-US" sz="10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used as a general-purpose non-linear dimension reduction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Caution:</a:t>
            </a:r>
            <a:endParaRPr lang="en-US" sz="1150" dirty="0"/>
          </a:p>
          <a:p>
            <a:pPr marL="711200" lvl="1" indent="-355600">
              <a:buSzPct val="100000"/>
              <a:buChar char="•"/>
            </a:pPr>
            <a:r>
              <a:rPr lang="en-US" sz="10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stochastic; hyperparameters strongly influence output</a:t>
            </a:r>
            <a:endParaRPr lang="en-US" sz="1150" dirty="0"/>
          </a:p>
          <a:p>
            <a:pPr marL="711200" lvl="1" indent="-355600">
              <a:buSzPct val="100000"/>
              <a:buChar char="•"/>
            </a:pPr>
            <a:r>
              <a:rPr lang="en-US" sz="10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Axes of embedding carry no intrinsic meaning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D6A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Estimation</a:t>
            </a:r>
            <a:endParaRPr lang="en-US" sz="3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Estimation: Parametric, Nonparametric &amp; Mixture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2816352" cy="4297680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56032" y="749808"/>
            <a:ext cx="2816352" cy="402336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749808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 Density Estimation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" y="1188720"/>
            <a:ext cx="2633472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a distributional form: X ~ P(x | θ).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θ by MLE or MAP: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θ̂ = argmax Σᵢ log P(xᵢ|θ)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Gaussian, exponential, Poisson.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efficient if model is correct.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Weakness: biased if form is wrong (misspecification).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182112" y="749808"/>
            <a:ext cx="2816352" cy="4297680"/>
          </a:xfrm>
          <a:prstGeom prst="rect">
            <a:avLst/>
          </a:prstGeom>
          <a:solidFill>
            <a:srgbClr val="C9CBE0"/>
          </a:solidFill>
          <a:ln w="12700">
            <a:solidFill>
              <a:srgbClr val="C9C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182112" y="749808"/>
            <a:ext cx="2816352" cy="402336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73552" y="749808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Density Estimation (KDE)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73552" y="1188720"/>
            <a:ext cx="2633472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Nonparametric: no distributional assumption.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f̂(x) = (1/nh) Σᵢ K((x−xᵢ)/h)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kernel (Gaussian, Epanechnikov); h = bandwidth.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Bias–variance: small h → low bias, high variance; large h → high bias, low variance.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h (MISE): h* ∝ n^{−1/5} (Silverman's rule of thumb).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Suffers from curse of dimensionality: breaks down for p &gt; 3–4.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08192" y="749808"/>
            <a:ext cx="2816352" cy="4297680"/>
          </a:xfrm>
          <a:prstGeom prst="rect">
            <a:avLst/>
          </a:prstGeom>
          <a:solidFill>
            <a:srgbClr val="D6EEF8"/>
          </a:solidFill>
          <a:ln w="12700">
            <a:solidFill>
              <a:srgbClr val="D6E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08192" y="749808"/>
            <a:ext cx="2816352" cy="402336"/>
          </a:xfrm>
          <a:prstGeom prst="rect">
            <a:avLst/>
          </a:prstGeom>
          <a:solidFill>
            <a:srgbClr val="118AB2"/>
          </a:solidFill>
          <a:ln w="12700">
            <a:solidFill>
              <a:srgbClr val="118A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99632" y="749808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Mixture Models (as Density)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99632" y="1188720"/>
            <a:ext cx="2633472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Semi-parametric: flexible within-component Gaussians.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P(x) = Σₖ πₖ N(x | μₖ, Σₖ)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by EM algorithm.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order K selected by BIC.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between parametric and fully nonparametric — can approximate any smooth density with enough components.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74320" y="5093208"/>
            <a:ext cx="8595360" cy="365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Curse of dimensionality: the volume of p-dimensional space grows exponentially in p — sparse data means unreliable density estimates for p ≫ 3.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D6A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Autoencoders &amp; Representation Learning</a:t>
            </a:r>
            <a:endParaRPr lang="en-US" sz="3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Autoencoders: Nonlinear Dimensionality Reduction via Neural Networks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640080" cy="32918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627632"/>
            <a:ext cx="640080" cy="32918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2066544"/>
            <a:ext cx="640080" cy="32918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2505456"/>
            <a:ext cx="640080" cy="32918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2944368"/>
            <a:ext cx="640080" cy="32918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343814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∈ ℝᵖ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371600" y="1188720"/>
            <a:ext cx="640080" cy="329184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371600" y="1627632"/>
            <a:ext cx="640080" cy="329184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371600" y="2066544"/>
            <a:ext cx="640080" cy="329184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371600" y="2505456"/>
            <a:ext cx="640080" cy="329184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371600" y="299923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331720" y="1188720"/>
            <a:ext cx="640080" cy="32918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331720" y="1627632"/>
            <a:ext cx="640080" cy="32918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331720" y="21214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∈ ℝᵏ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91840" y="1188720"/>
            <a:ext cx="640080" cy="329184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91840" y="1627632"/>
            <a:ext cx="640080" cy="329184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91840" y="2066544"/>
            <a:ext cx="640080" cy="329184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91840" y="2505456"/>
            <a:ext cx="640080" cy="329184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91840" y="299923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251960" y="1188720"/>
            <a:ext cx="640080" cy="32918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251960" y="1627632"/>
            <a:ext cx="640080" cy="32918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251960" y="2066544"/>
            <a:ext cx="640080" cy="32918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251960" y="2505456"/>
            <a:ext cx="640080" cy="32918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251960" y="2944368"/>
            <a:ext cx="640080" cy="32918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251960" y="343814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x̂ ∈ ℝᵖ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24128" y="2395728"/>
            <a:ext cx="786384" cy="0"/>
          </a:xfrm>
          <a:prstGeom prst="line">
            <a:avLst/>
          </a:prstGeom>
          <a:noFill/>
          <a:ln w="12700">
            <a:solidFill>
              <a:srgbClr val="8D99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029968" y="2395728"/>
            <a:ext cx="941832" cy="0"/>
          </a:xfrm>
          <a:prstGeom prst="line">
            <a:avLst/>
          </a:prstGeom>
          <a:noFill/>
          <a:ln w="12700">
            <a:solidFill>
              <a:srgbClr val="8D99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990088" y="2395728"/>
            <a:ext cx="941832" cy="0"/>
          </a:xfrm>
          <a:prstGeom prst="line">
            <a:avLst/>
          </a:prstGeom>
          <a:noFill/>
          <a:ln w="12700">
            <a:solidFill>
              <a:srgbClr val="8D99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995928" y="2395728"/>
            <a:ext cx="877824" cy="0"/>
          </a:xfrm>
          <a:prstGeom prst="line">
            <a:avLst/>
          </a:prstGeom>
          <a:noFill/>
          <a:ln w="12700">
            <a:solidFill>
              <a:srgbClr val="8D99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097280" y="210312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f: ℝᵖ→ℝᵏ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246120" y="210312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g: ℝᵏ→ℝᵖ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029200" y="749808"/>
            <a:ext cx="3749040" cy="4160520"/>
          </a:xfrm>
          <a:prstGeom prst="rect">
            <a:avLst/>
          </a:prstGeom>
          <a:solidFill>
            <a:srgbClr val="C9CBE0"/>
          </a:solidFill>
          <a:ln w="12700">
            <a:solidFill>
              <a:srgbClr val="C9C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120640" y="80467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5120640" y="1170432"/>
            <a:ext cx="35661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minimize reconstruction loss</a:t>
            </a:r>
            <a:endParaRPr lang="en-US" sz="1150" dirty="0"/>
          </a:p>
          <a:p>
            <a:pPr marL="711200" lvl="1" indent="-355600">
              <a:buSzPct val="100000"/>
              <a:buChar char="•"/>
            </a:pPr>
            <a:r>
              <a:rPr lang="en-US" sz="10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MSE: ‖x − x̂‖² for continuous data</a:t>
            </a:r>
            <a:endParaRPr lang="en-US" sz="1150" dirty="0"/>
          </a:p>
          <a:p>
            <a:pPr marL="711200" lvl="1" indent="-355600">
              <a:buSzPct val="100000"/>
              <a:buChar char="•"/>
            </a:pPr>
            <a:r>
              <a:rPr lang="en-US" sz="10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 for binary inputs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 z is a compressed representation (encoding)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Nonlinear generalization of PCA when activation functions are linear → AE ≡ PCA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Variational Autoencoder (VAE):</a:t>
            </a:r>
            <a:endParaRPr lang="en-US" sz="1150" dirty="0"/>
          </a:p>
          <a:p>
            <a:pPr marL="711200" lvl="1" indent="-355600">
              <a:buSzPct val="100000"/>
              <a:buChar char="•"/>
            </a:pPr>
            <a:r>
              <a:rPr lang="en-US" sz="10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Encodes x as distribution z ~ N(μ(x), σ²(x)) — not a point</a:t>
            </a:r>
            <a:endParaRPr lang="en-US" sz="1150" dirty="0"/>
          </a:p>
          <a:p>
            <a:pPr marL="711200" lvl="1" indent="-355600">
              <a:buSzPct val="100000"/>
              <a:buChar char="•"/>
            </a:pPr>
            <a:r>
              <a:rPr lang="en-US" sz="10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 loss = reconstruction + KL(q(z|x)‖p(z))</a:t>
            </a:r>
            <a:endParaRPr lang="en-US" sz="1150" dirty="0"/>
          </a:p>
          <a:p>
            <a:pPr marL="711200" lvl="1" indent="-355600">
              <a:buSzPct val="100000"/>
              <a:buChar char="•"/>
            </a:pPr>
            <a:r>
              <a:rPr lang="en-US" sz="10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generation of new samples by decoding z ~ N(0,I)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Denoising AE: train on corrupted inputs, reconstruct clean — learns robust features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AE: add L1 penalty on z — encourages few active units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274320" y="493776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 loss ≠ cluster quality. AEs optimize a different objective than clustering methods.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D6A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Unsupervised Models</a:t>
            </a:r>
            <a:endParaRPr lang="en-US" sz="3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5D6094-DF6F-81EC-450D-F42B82B23D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874648"/>
            <a:ext cx="8178799" cy="3394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687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FBFF6D-B4EA-4186-A85E-3DA400B978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5526"/>
            <a:ext cx="7772400" cy="3427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2270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EE59B1-5F5A-CE09-9D2A-0045E9BE4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584" y="0"/>
            <a:ext cx="726483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7664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D20F95-E1B3-05B0-7B20-BB30CE8E37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431" y="122736"/>
            <a:ext cx="7462484" cy="475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7923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Unsupervised Models: Internal &amp; External Criteria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475488"/>
          </a:xfrm>
          <a:prstGeom prst="rect">
            <a:avLst/>
          </a:prstGeom>
          <a:solidFill>
            <a:srgbClr val="FFF8DC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fundamental challenge: no y means no held-out prediction error. Evaluation requires different strategies.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4114800" cy="3520440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298448"/>
            <a:ext cx="4114800" cy="402336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29844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Criteria (No Labels Needed)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92608" y="1755648"/>
            <a:ext cx="407822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" y="180136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WCSS / Inertia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11680" y="1801368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objective; lower = tighter clusters. Decreases with K — not useful alone.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92608" y="2249424"/>
            <a:ext cx="4078224" cy="457200"/>
          </a:xfrm>
          <a:prstGeom prst="rect">
            <a:avLst/>
          </a:prstGeom>
          <a:solidFill>
            <a:srgbClr val="D8F3DC"/>
          </a:solidFill>
          <a:ln w="12700">
            <a:solidFill>
              <a:srgbClr val="D0E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7472" y="229514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2295144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s(i) = (b−a)/max(a,b) ∈ [−1,1]. Mean over all points; higher = better-separated clusters.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92608" y="2743200"/>
            <a:ext cx="407822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7472" y="27889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Davies-Bouldin Index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11680" y="2788920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of within-cluster scatter to between-cluster separation. Lower = better.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92608" y="3236976"/>
            <a:ext cx="4078224" cy="457200"/>
          </a:xfrm>
          <a:prstGeom prst="rect">
            <a:avLst/>
          </a:prstGeom>
          <a:solidFill>
            <a:srgbClr val="D8F3DC"/>
          </a:solidFill>
          <a:ln w="12700">
            <a:solidFill>
              <a:srgbClr val="D0E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47472" y="328269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Calinski-Harabasz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11680" y="3282696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of between- to within-cluster variance. Higher = better. Favors compact, well-separated clusters.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92608" y="3730752"/>
            <a:ext cx="407822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7472" y="37764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 Error (AE/PCA)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011680" y="3776472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‖X − X̂‖² on held-out data. Analogous to test MSE for supervised models.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92608" y="4224528"/>
            <a:ext cx="4078224" cy="457200"/>
          </a:xfrm>
          <a:prstGeom prst="rect">
            <a:avLst/>
          </a:prstGeom>
          <a:solidFill>
            <a:srgbClr val="D8F3DC"/>
          </a:solidFill>
          <a:ln w="12700">
            <a:solidFill>
              <a:srgbClr val="D0E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47472" y="42702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Log-Likelihood (GMM/KDE)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011680" y="4270248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log P(x|θ̂). Direct model evaluation in generative frameworks.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63440" y="1298448"/>
            <a:ext cx="4114800" cy="3520440"/>
          </a:xfrm>
          <a:prstGeom prst="rect">
            <a:avLst/>
          </a:prstGeom>
          <a:solidFill>
            <a:srgbClr val="C9CBE0"/>
          </a:solidFill>
          <a:ln w="12700">
            <a:solidFill>
              <a:srgbClr val="C9C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663440" y="1298448"/>
            <a:ext cx="4114800" cy="402336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54880" y="129844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Criteria (Requires Ground-Truth Labels)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681728" y="1755648"/>
            <a:ext cx="4078224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B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36592" y="18013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Rand Index (ARI)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0" y="18013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agreement between cluster labels and true labels, corrected for chance. Range: [−1,1], 1=perfect.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81728" y="2340864"/>
            <a:ext cx="4078224" cy="548640"/>
          </a:xfrm>
          <a:prstGeom prst="rect">
            <a:avLst/>
          </a:prstGeom>
          <a:solidFill>
            <a:srgbClr val="C9CBE0"/>
          </a:solidFill>
          <a:ln w="12700">
            <a:solidFill>
              <a:srgbClr val="C8CB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36592" y="238658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Mutual Information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0" y="238658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MI(C,K)/[H(C)+H(K)]/2. Measures shared information; normalized to [0,1].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681728" y="2926080"/>
            <a:ext cx="4078224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B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36592" y="2971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Fowlkes-Mallows Index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0" y="2971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mean of pairwise precision and recall of cluster assignments.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681728" y="3511296"/>
            <a:ext cx="4078224" cy="548640"/>
          </a:xfrm>
          <a:prstGeom prst="rect">
            <a:avLst/>
          </a:prstGeom>
          <a:solidFill>
            <a:srgbClr val="C9CBE0"/>
          </a:solidFill>
          <a:ln w="12700">
            <a:solidFill>
              <a:srgbClr val="C8CB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736592" y="355701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Purity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00800" y="355701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of correctly assigned points if each cluster is labeled by its majority class. Simple but ignores recall.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681728" y="4096512"/>
            <a:ext cx="4078224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B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736592" y="414223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V-Measure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400800" y="41422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 of homogeneity and completeness. Homogeneity: each cluster = one class. Completeness: each class = one cluster.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Comparison: Choosing the Right Unsupervised Tool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1316736" cy="292608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9184" y="731520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645920" y="731520"/>
            <a:ext cx="1371600" cy="292608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700784" y="7315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063240" y="731520"/>
            <a:ext cx="2651760" cy="292608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118104" y="7315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Assumption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760720" y="731520"/>
            <a:ext cx="1371600" cy="292608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815584" y="7315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78040" y="731520"/>
            <a:ext cx="1719072" cy="292608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232904" y="73152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1042416"/>
            <a:ext cx="1316736" cy="420624"/>
          </a:xfrm>
          <a:prstGeom prst="rect">
            <a:avLst/>
          </a:prstGeom>
          <a:solidFill>
            <a:srgbClr val="D8F3DC"/>
          </a:solidFill>
          <a:ln w="12700">
            <a:solidFill>
              <a:srgbClr val="D0E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9184" y="1097280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645920" y="1042416"/>
            <a:ext cx="1371600" cy="420624"/>
          </a:xfrm>
          <a:prstGeom prst="rect">
            <a:avLst/>
          </a:prstGeom>
          <a:solidFill>
            <a:srgbClr val="D8F3DC"/>
          </a:solidFill>
          <a:ln w="12700">
            <a:solidFill>
              <a:srgbClr val="D0E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700784" y="109728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063240" y="1042416"/>
            <a:ext cx="2651760" cy="420624"/>
          </a:xfrm>
          <a:prstGeom prst="rect">
            <a:avLst/>
          </a:prstGeom>
          <a:solidFill>
            <a:srgbClr val="D8F3DC"/>
          </a:solidFill>
          <a:ln w="12700">
            <a:solidFill>
              <a:srgbClr val="D0E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118104" y="109728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Convex, isotropic clusters; K known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760720" y="1042416"/>
            <a:ext cx="1371600" cy="420624"/>
          </a:xfrm>
          <a:prstGeom prst="rect">
            <a:avLst/>
          </a:prstGeom>
          <a:solidFill>
            <a:srgbClr val="D8F3DC"/>
          </a:solidFill>
          <a:ln w="12700">
            <a:solidFill>
              <a:srgbClr val="D0E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815584" y="109728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Large n,p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178040" y="1042416"/>
            <a:ext cx="1719072" cy="420624"/>
          </a:xfrm>
          <a:prstGeom prst="rect">
            <a:avLst/>
          </a:prstGeom>
          <a:solidFill>
            <a:srgbClr val="D8F3DC"/>
          </a:solidFill>
          <a:ln w="12700">
            <a:solidFill>
              <a:srgbClr val="D0E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232904" y="109728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cluster labels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1490472"/>
            <a:ext cx="1316736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9184" y="1545336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GMM + EM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645920" y="1490472"/>
            <a:ext cx="1371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700784" y="154533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Clustering/Density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063240" y="1490472"/>
            <a:ext cx="26517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118104" y="154533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components; K known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760720" y="1490472"/>
            <a:ext cx="1371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815584" y="154533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178040" y="1490472"/>
            <a:ext cx="17190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232904" y="154533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probabilities + density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1938528"/>
            <a:ext cx="1316736" cy="420624"/>
          </a:xfrm>
          <a:prstGeom prst="rect">
            <a:avLst/>
          </a:prstGeom>
          <a:solidFill>
            <a:srgbClr val="D8F3DC"/>
          </a:solidFill>
          <a:ln w="12700">
            <a:solidFill>
              <a:srgbClr val="D0E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29184" y="1993392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645920" y="1938528"/>
            <a:ext cx="1371600" cy="420624"/>
          </a:xfrm>
          <a:prstGeom prst="rect">
            <a:avLst/>
          </a:prstGeom>
          <a:solidFill>
            <a:srgbClr val="D8F3DC"/>
          </a:solidFill>
          <a:ln w="12700">
            <a:solidFill>
              <a:srgbClr val="D0E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700784" y="199339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063240" y="1938528"/>
            <a:ext cx="2651760" cy="420624"/>
          </a:xfrm>
          <a:prstGeom prst="rect">
            <a:avLst/>
          </a:prstGeom>
          <a:solidFill>
            <a:srgbClr val="D8F3DC"/>
          </a:solidFill>
          <a:ln w="12700">
            <a:solidFill>
              <a:srgbClr val="D0E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118104" y="19933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metric appropriate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760720" y="1938528"/>
            <a:ext cx="1371600" cy="420624"/>
          </a:xfrm>
          <a:prstGeom prst="rect">
            <a:avLst/>
          </a:prstGeom>
          <a:solidFill>
            <a:srgbClr val="D8F3DC"/>
          </a:solidFill>
          <a:ln w="12700">
            <a:solidFill>
              <a:srgbClr val="D0E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815584" y="199339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Small 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178040" y="1938528"/>
            <a:ext cx="1719072" cy="420624"/>
          </a:xfrm>
          <a:prstGeom prst="rect">
            <a:avLst/>
          </a:prstGeom>
          <a:solidFill>
            <a:srgbClr val="D8F3DC"/>
          </a:solidFill>
          <a:ln w="12700">
            <a:solidFill>
              <a:srgbClr val="D0E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232904" y="1993392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Dendrogram (all K)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2386584"/>
            <a:ext cx="1316736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29184" y="2441448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645920" y="2386584"/>
            <a:ext cx="1371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700784" y="244144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063240" y="2386584"/>
            <a:ext cx="26517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118104" y="244144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density regions; ε, MinPts set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760720" y="2386584"/>
            <a:ext cx="1371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815584" y="244144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Moderate 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178040" y="2386584"/>
            <a:ext cx="17190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7232904" y="24414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labels + noise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74320" y="2834640"/>
            <a:ext cx="1316736" cy="420624"/>
          </a:xfrm>
          <a:prstGeom prst="rect">
            <a:avLst/>
          </a:prstGeom>
          <a:solidFill>
            <a:srgbClr val="D8F3DC"/>
          </a:solidFill>
          <a:ln w="12700">
            <a:solidFill>
              <a:srgbClr val="D0E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29184" y="2889504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1645920" y="2834640"/>
            <a:ext cx="1371600" cy="420624"/>
          </a:xfrm>
          <a:prstGeom prst="rect">
            <a:avLst/>
          </a:prstGeom>
          <a:solidFill>
            <a:srgbClr val="D8F3DC"/>
          </a:solidFill>
          <a:ln w="12700">
            <a:solidFill>
              <a:srgbClr val="D0E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1700784" y="288950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Dim. Reduction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063240" y="2834640"/>
            <a:ext cx="2651760" cy="420624"/>
          </a:xfrm>
          <a:prstGeom prst="rect">
            <a:avLst/>
          </a:prstGeom>
          <a:solidFill>
            <a:srgbClr val="D8F3DC"/>
          </a:solidFill>
          <a:ln w="12700">
            <a:solidFill>
              <a:srgbClr val="D0E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3118104" y="288950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manifold; high-var = signal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760720" y="2834640"/>
            <a:ext cx="1371600" cy="420624"/>
          </a:xfrm>
          <a:prstGeom prst="rect">
            <a:avLst/>
          </a:prstGeom>
          <a:solidFill>
            <a:srgbClr val="D8F3DC"/>
          </a:solidFill>
          <a:ln w="12700">
            <a:solidFill>
              <a:srgbClr val="D0E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5815584" y="288950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Large n,p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178040" y="2834640"/>
            <a:ext cx="1719072" cy="420624"/>
          </a:xfrm>
          <a:prstGeom prst="rect">
            <a:avLst/>
          </a:prstGeom>
          <a:solidFill>
            <a:srgbClr val="D8F3DC"/>
          </a:solidFill>
          <a:ln w="12700">
            <a:solidFill>
              <a:srgbClr val="D0E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7232904" y="2889504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projections z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274320" y="3282696"/>
            <a:ext cx="1316736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329184" y="3337560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1645920" y="3282696"/>
            <a:ext cx="1371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1700784" y="333756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063240" y="3282696"/>
            <a:ext cx="26517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3118104" y="333756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structure; perplexity set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760720" y="3282696"/>
            <a:ext cx="1371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5815584" y="333756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Small n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7178040" y="3282696"/>
            <a:ext cx="17190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7232904" y="333756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2D/3D embedding only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274320" y="3730752"/>
            <a:ext cx="1316736" cy="420624"/>
          </a:xfrm>
          <a:prstGeom prst="rect">
            <a:avLst/>
          </a:prstGeom>
          <a:solidFill>
            <a:srgbClr val="D8F3DC"/>
          </a:solidFill>
          <a:ln w="12700">
            <a:solidFill>
              <a:srgbClr val="D0E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329184" y="3785616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UMAP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1645920" y="3730752"/>
            <a:ext cx="1371600" cy="420624"/>
          </a:xfrm>
          <a:prstGeom prst="rect">
            <a:avLst/>
          </a:prstGeom>
          <a:solidFill>
            <a:srgbClr val="D8F3DC"/>
          </a:solidFill>
          <a:ln w="12700">
            <a:solidFill>
              <a:srgbClr val="D0E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1700784" y="378561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Dim. Reduction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3063240" y="3730752"/>
            <a:ext cx="2651760" cy="420624"/>
          </a:xfrm>
          <a:prstGeom prst="rect">
            <a:avLst/>
          </a:prstGeom>
          <a:solidFill>
            <a:srgbClr val="D8F3DC"/>
          </a:solidFill>
          <a:ln w="12700">
            <a:solidFill>
              <a:srgbClr val="D0E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3118104" y="378561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Manifold hypothesis; topology preserved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5760720" y="3730752"/>
            <a:ext cx="1371600" cy="420624"/>
          </a:xfrm>
          <a:prstGeom prst="rect">
            <a:avLst/>
          </a:prstGeom>
          <a:solidFill>
            <a:srgbClr val="D8F3DC"/>
          </a:solidFill>
          <a:ln w="12700">
            <a:solidFill>
              <a:srgbClr val="D0E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5815584" y="378561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Large n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7178040" y="3730752"/>
            <a:ext cx="1719072" cy="420624"/>
          </a:xfrm>
          <a:prstGeom prst="rect">
            <a:avLst/>
          </a:prstGeom>
          <a:solidFill>
            <a:srgbClr val="D8F3DC"/>
          </a:solidFill>
          <a:ln w="12700">
            <a:solidFill>
              <a:srgbClr val="D0E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7232904" y="378561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Low-dim embedding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274320" y="4178808"/>
            <a:ext cx="1316736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329184" y="4233672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KDE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1645920" y="4178808"/>
            <a:ext cx="1371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1700784" y="423367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Estimation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3063240" y="4178808"/>
            <a:ext cx="26517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3118104" y="423367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P(X); bandwidth h set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5760720" y="4178808"/>
            <a:ext cx="1371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5815584" y="423367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Low p only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7178040" y="4178808"/>
            <a:ext cx="17190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7232904" y="4233672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estimate f̂(x)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274320" y="4626864"/>
            <a:ext cx="1316736" cy="420624"/>
          </a:xfrm>
          <a:prstGeom prst="rect">
            <a:avLst/>
          </a:prstGeom>
          <a:solidFill>
            <a:srgbClr val="D8F3DC"/>
          </a:solidFill>
          <a:ln w="12700">
            <a:solidFill>
              <a:srgbClr val="D0E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329184" y="4681728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1645920" y="4626864"/>
            <a:ext cx="1371600" cy="420624"/>
          </a:xfrm>
          <a:prstGeom prst="rect">
            <a:avLst/>
          </a:prstGeom>
          <a:solidFill>
            <a:srgbClr val="D8F3DC"/>
          </a:solidFill>
          <a:ln w="12700">
            <a:solidFill>
              <a:srgbClr val="D0E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1700784" y="468172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3063240" y="4626864"/>
            <a:ext cx="2651760" cy="420624"/>
          </a:xfrm>
          <a:prstGeom prst="rect">
            <a:avLst/>
          </a:prstGeom>
          <a:solidFill>
            <a:srgbClr val="D8F3DC"/>
          </a:solidFill>
          <a:ln w="12700">
            <a:solidFill>
              <a:srgbClr val="D0E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3118104" y="468172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lies on a learnable manifold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5760720" y="4626864"/>
            <a:ext cx="1371600" cy="420624"/>
          </a:xfrm>
          <a:prstGeom prst="rect">
            <a:avLst/>
          </a:prstGeom>
          <a:solidFill>
            <a:srgbClr val="D8F3DC"/>
          </a:solidFill>
          <a:ln w="12700">
            <a:solidFill>
              <a:srgbClr val="D0E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5815584" y="468172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Very large n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7178040" y="4626864"/>
            <a:ext cx="1719072" cy="420624"/>
          </a:xfrm>
          <a:prstGeom prst="rect">
            <a:avLst/>
          </a:prstGeom>
          <a:solidFill>
            <a:srgbClr val="D8F3DC"/>
          </a:solidFill>
          <a:ln w="12700">
            <a:solidFill>
              <a:srgbClr val="D0E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7232904" y="468172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code z; x̂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3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4048" y="14630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84048" y="676656"/>
            <a:ext cx="7772400" cy="0"/>
          </a:xfrm>
          <a:prstGeom prst="line">
            <a:avLst/>
          </a:prstGeom>
          <a:noFill/>
          <a:ln w="1524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84048" y="786384"/>
            <a:ext cx="347472" cy="40233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786384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86384" y="83210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 discovers structure in P(X) with no target variable — the method choice embeds assumptions about what structure looks like.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4048" y="1325880"/>
            <a:ext cx="347472" cy="40233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" y="1325880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6384" y="137160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minimizes WCSS via coordinate descent; it implicitly assumes spherical, equal-size clusters and is a limiting case of GMM.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4048" y="1865376"/>
            <a:ext cx="347472" cy="40233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4048" y="1865376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86384" y="191109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GMMs are a probabilistic generalization: EM alternates between soft cluster assignments (E-step) and weighted MLE updates (M-step), monotonically increasing log-likelihood.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4048" y="2404872"/>
            <a:ext cx="347472" cy="40233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84048" y="2404872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86384" y="245059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finds the linear subspace of maximum variance via eigendecomposition of the covariance matrix — equivalent to MLE under a PPCA generative model.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84048" y="2944368"/>
            <a:ext cx="347472" cy="40233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84048" y="2944368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86384" y="299008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and UMAP are nonlinear methods for visualization; inter-cluster distances in their embeddings are not interpretable — they preserve local topology, not global geometry.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84048" y="3483864"/>
            <a:ext cx="347472" cy="40233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84048" y="3483864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86384" y="352958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KDE is a nonparametric density estimator governed by a bias-variance tradeoff in bandwidth h. It breaks down in high dimensions (curse of dimensionality).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84048" y="4023360"/>
            <a:ext cx="347472" cy="40233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84048" y="4023360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86384" y="406908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Autoencoders learn a compressed latent representation z by minimizing reconstruction loss; VAEs impose a probabilistic prior on z, enabling generation.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84048" y="4562856"/>
            <a:ext cx="347472" cy="40233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84048" y="4562856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86384" y="460857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unsupervised models is inherently harder than supervised: use internal criteria (silhouette, BIC, reconstruction error) and external criteria (ARI, NMI) when labels are available for validation.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01168" y="4069080"/>
            <a:ext cx="8942832" cy="10744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Workflow for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12774"/>
            <a:ext cx="8229600" cy="12092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Fitting an</a:t>
            </a:r>
          </a:p>
          <a:p>
            <a:pPr marL="0" indent="0">
              <a:buNone/>
            </a:pPr>
            <a:endParaRPr lang="en-US" sz="3800" b="1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Developing &amp; Fitting an </a:t>
            </a:r>
            <a:r>
              <a:rPr lang="en-US" sz="32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Usupervised</a:t>
            </a:r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ML Model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Model</a:t>
            </a:r>
          </a:p>
          <a:p>
            <a:pPr marL="0" indent="0">
              <a:buNone/>
            </a:pPr>
            <a:endParaRPr lang="en-US" sz="38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Fitting an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ML Model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Steps from Problem Definition to Deployment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4114800" cy="0"/>
          </a:xfrm>
          <a:prstGeom prst="line">
            <a:avLst/>
          </a:prstGeom>
          <a:noFill/>
          <a:ln w="1905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3328416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Goal  ·  Audit Data  ·  Preprocess  ·  Select Algorithm  ·  Fit  ·  Tune Hyperparameters  ·  Interpret  ·  Diagnose  ·  Deploy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Unsupervised Modeling Workflow at a Glance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1609344" cy="102412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347472" cy="34747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804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10896" y="1207008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83664" y="1316736"/>
            <a:ext cx="109728" cy="0"/>
          </a:xfrm>
          <a:prstGeom prst="line">
            <a:avLst/>
          </a:prstGeom>
          <a:noFill/>
          <a:ln w="2286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993392" y="804672"/>
            <a:ext cx="1609344" cy="1024128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993392" y="804672"/>
            <a:ext cx="347472" cy="34747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993392" y="804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29968" y="1207008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02736" y="1316736"/>
            <a:ext cx="109728" cy="0"/>
          </a:xfrm>
          <a:prstGeom prst="line">
            <a:avLst/>
          </a:prstGeom>
          <a:noFill/>
          <a:ln w="2286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712464" y="804672"/>
            <a:ext cx="1609344" cy="102412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712464" y="804672"/>
            <a:ext cx="347472" cy="34747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712464" y="804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49040" y="1207008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Engineer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321808" y="1316736"/>
            <a:ext cx="109728" cy="0"/>
          </a:xfrm>
          <a:prstGeom prst="line">
            <a:avLst/>
          </a:prstGeom>
          <a:noFill/>
          <a:ln w="2286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31536" y="804672"/>
            <a:ext cx="1609344" cy="1024128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431536" y="804672"/>
            <a:ext cx="347472" cy="34747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31536" y="804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68112" y="1207008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040880" y="1316736"/>
            <a:ext cx="109728" cy="0"/>
          </a:xfrm>
          <a:prstGeom prst="line">
            <a:avLst/>
          </a:prstGeom>
          <a:noFill/>
          <a:ln w="2286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150608" y="804672"/>
            <a:ext cx="1609344" cy="102412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150608" y="804672"/>
            <a:ext cx="347472" cy="34747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150608" y="804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187184" y="1207008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955280" y="1828800"/>
            <a:ext cx="0" cy="256032"/>
          </a:xfrm>
          <a:prstGeom prst="line">
            <a:avLst/>
          </a:prstGeom>
          <a:noFill/>
          <a:ln w="2286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236208" y="2084832"/>
            <a:ext cx="1609344" cy="1024128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236208" y="2084832"/>
            <a:ext cx="347472" cy="34747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36208" y="2084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72784" y="2487168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26480" y="2596896"/>
            <a:ext cx="109728" cy="0"/>
          </a:xfrm>
          <a:prstGeom prst="line">
            <a:avLst/>
          </a:prstGeom>
          <a:noFill/>
          <a:ln w="2286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517136" y="2084832"/>
            <a:ext cx="1609344" cy="102412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517136" y="2084832"/>
            <a:ext cx="347472" cy="34747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17136" y="2084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53712" y="2487168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Validate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407408" y="2596896"/>
            <a:ext cx="109728" cy="0"/>
          </a:xfrm>
          <a:prstGeom prst="line">
            <a:avLst/>
          </a:prstGeom>
          <a:noFill/>
          <a:ln w="2286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2798064" y="2084832"/>
            <a:ext cx="1609344" cy="1024128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2798064" y="2084832"/>
            <a:ext cx="347472" cy="34747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798064" y="2084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2834640" y="2487168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Iterate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688336" y="2596896"/>
            <a:ext cx="109728" cy="0"/>
          </a:xfrm>
          <a:prstGeom prst="line">
            <a:avLst/>
          </a:prstGeom>
          <a:noFill/>
          <a:ln w="2286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1078992" y="2084832"/>
            <a:ext cx="1609344" cy="102412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1078992" y="2084832"/>
            <a:ext cx="347472" cy="34747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078992" y="2084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1115568" y="2487168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74320" y="3255264"/>
            <a:ext cx="8595360" cy="402336"/>
          </a:xfrm>
          <a:prstGeom prst="rect">
            <a:avLst/>
          </a:prstGeom>
          <a:solidFill>
            <a:srgbClr val="FFF8DC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84048" y="3291840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⟳  The workflow is iterative, not linear — diagnostics at Step 8 routinely loop back to Steps 3, 4, or 6.</a:t>
            </a:r>
            <a:endParaRPr lang="en-US" sz="12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Define the Goal &amp; Choose the Right Method Class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114800" cy="4069080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84048" y="804672"/>
            <a:ext cx="3895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Governing Question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4048" y="1161288"/>
            <a:ext cx="3895344" cy="65836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" y="1161288"/>
            <a:ext cx="3895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kind of structure am I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for in P(X)?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4048" y="1883664"/>
            <a:ext cx="3895344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observations into groups?</a:t>
            </a:r>
            <a:endParaRPr lang="en-US" sz="1250" dirty="0"/>
          </a:p>
          <a:p>
            <a:pPr marL="711200" lvl="1" indent="-355600">
              <a:buSzPct val="100000"/>
              <a:buChar char="•"/>
            </a:pPr>
            <a:r>
              <a:rPr lang="en-US" sz="11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Clustering: K-Means, GMM, DBSCAN, Hierarchical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to a lower-dimensional space?</a:t>
            </a:r>
            <a:endParaRPr lang="en-US" sz="1250" dirty="0"/>
          </a:p>
          <a:p>
            <a:pPr marL="711200" lvl="1" indent="-355600">
              <a:buSzPct val="100000"/>
              <a:buChar char="•"/>
            </a:pPr>
            <a:r>
              <a:rPr lang="en-US" sz="11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Dim. reduction: PCA, t-SNE, UMAP, Autoencoder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the data-generating density?</a:t>
            </a:r>
            <a:endParaRPr lang="en-US" sz="1250" dirty="0"/>
          </a:p>
          <a:p>
            <a:pPr marL="711200" lvl="1" indent="-355600">
              <a:buSzPct val="100000"/>
              <a:buChar char="•"/>
            </a:pPr>
            <a:r>
              <a:rPr lang="en-US" sz="11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Density estimation: KDE, GMM, normalizing flows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compact feature representations?</a:t>
            </a:r>
            <a:endParaRPr lang="en-US" sz="1250" dirty="0"/>
          </a:p>
          <a:p>
            <a:pPr marL="711200" lvl="1" indent="-355600">
              <a:buSzPct val="100000"/>
              <a:buChar char="•"/>
            </a:pPr>
            <a:r>
              <a:rPr lang="en-US" sz="11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Representation learning: AE, VAE, contrastive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749808"/>
            <a:ext cx="4114800" cy="4069080"/>
          </a:xfrm>
          <a:prstGeom prst="rect">
            <a:avLst/>
          </a:prstGeom>
          <a:solidFill>
            <a:srgbClr val="C9CBE0"/>
          </a:solidFill>
          <a:ln w="12700">
            <a:solidFill>
              <a:srgbClr val="C9C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73168" y="804672"/>
            <a:ext cx="3895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Step Is Non-Trivial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73168" y="1170432"/>
            <a:ext cx="3895344" cy="3547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method encodes assumptions about structure — choosing the method is choosing the model of reality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Misaligned goal → wasted computation and uninterpretable results regardless of execution quality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questions to answer before writing code:</a:t>
            </a:r>
            <a:endParaRPr lang="en-US" sz="1250" dirty="0"/>
          </a:p>
          <a:p>
            <a:pPr marL="711200" lvl="1" indent="-355600">
              <a:buSzPct val="100000"/>
              <a:buChar char="•"/>
            </a:pPr>
            <a:r>
              <a:rPr lang="en-US" sz="11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 expect hard-boundary groups or soft, overlapping ones?</a:t>
            </a:r>
            <a:endParaRPr lang="en-US" sz="1250" dirty="0"/>
          </a:p>
          <a:p>
            <a:pPr marL="711200" lvl="1" indent="-355600">
              <a:buSzPct val="100000"/>
              <a:buChar char="•"/>
            </a:pPr>
            <a:r>
              <a:rPr lang="en-US" sz="11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structure likely linear or curved/nonlinear?</a:t>
            </a:r>
            <a:endParaRPr lang="en-US" sz="1250" dirty="0"/>
          </a:p>
          <a:p>
            <a:pPr marL="711200" lvl="1" indent="-355600">
              <a:buSzPct val="100000"/>
              <a:buChar char="•"/>
            </a:pPr>
            <a:r>
              <a:rPr lang="en-US" sz="11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I need to project new data after fitting?</a:t>
            </a:r>
            <a:endParaRPr lang="en-US" sz="1250" dirty="0"/>
          </a:p>
          <a:p>
            <a:pPr marL="711200" lvl="1" indent="-355600">
              <a:buSzPct val="100000"/>
              <a:buChar char="•"/>
            </a:pPr>
            <a:r>
              <a:rPr lang="en-US" sz="11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interpretability required, or is prediction quality enough?</a:t>
            </a:r>
            <a:endParaRPr lang="en-US" sz="1250" dirty="0"/>
          </a:p>
          <a:p>
            <a:pPr marL="711200" lvl="1" indent="-355600">
              <a:buSzPct val="100000"/>
              <a:buChar char="•"/>
            </a:pPr>
            <a:r>
              <a:rPr lang="en-US" sz="11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large is n? How large is p?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goal in writing before modeling begins — acts as a north star for every subsequent decision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Data Audit — Understanding What You Have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457200"/>
          </a:xfrm>
          <a:prstGeom prst="rect">
            <a:avLst/>
          </a:prstGeom>
          <a:solidFill>
            <a:srgbClr val="FFF8DC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84048" y="795528"/>
            <a:ext cx="8375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y to catch errors, data quality is the single biggest threat to valid unsupervised conclusions.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298448"/>
            <a:ext cx="4206240" cy="1737360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032" y="1298448"/>
            <a:ext cx="4206240" cy="3657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12984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Distributional Checks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47472" y="1719072"/>
            <a:ext cx="4023360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histograms and density plots for each feature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multimodality — may signal subpopulations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extreme skewness: consider log/Box-Cox transforms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value ranges for impossible values (age = −3)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298448"/>
            <a:ext cx="4206240" cy="1737360"/>
          </a:xfrm>
          <a:prstGeom prst="rect">
            <a:avLst/>
          </a:prstGeom>
          <a:solidFill>
            <a:srgbClr val="C9CBE0"/>
          </a:solidFill>
          <a:ln w="12700">
            <a:solidFill>
              <a:srgbClr val="C9C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63440" y="1298448"/>
            <a:ext cx="4206240" cy="365760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0" y="12984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754880" y="1719072"/>
            <a:ext cx="4023360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missingness per feature and per row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missingness MCAR, MAR, or MNAR?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MNAR is the most dangerous: missingness itself encodes structure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Decide: impute, drop, or retain as a feature?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56032" y="3145536"/>
            <a:ext cx="4206240" cy="1737360"/>
          </a:xfrm>
          <a:prstGeom prst="rect">
            <a:avLst/>
          </a:prstGeom>
          <a:solidFill>
            <a:srgbClr val="D6EEF8"/>
          </a:solidFill>
          <a:ln w="12700">
            <a:solidFill>
              <a:srgbClr val="D6E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56032" y="3145536"/>
            <a:ext cx="4206240" cy="365760"/>
          </a:xfrm>
          <a:prstGeom prst="rect">
            <a:avLst/>
          </a:prstGeom>
          <a:solidFill>
            <a:srgbClr val="118AB2"/>
          </a:solidFill>
          <a:ln w="12700">
            <a:solidFill>
              <a:srgbClr val="118A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7472" y="314553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&amp; Duplicates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47472" y="3566160"/>
            <a:ext cx="4023360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distort centroids (K-Means) and covariances (PCA/GMM)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z-scores, IQR, or Mahalanobis distance to flag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inflate cluster density artificially — remove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record: removed points may be scientifically meaningful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63440" y="3145536"/>
            <a:ext cx="4206240" cy="1737360"/>
          </a:xfrm>
          <a:prstGeom prst="rect">
            <a:avLst/>
          </a:prstGeom>
          <a:solidFill>
            <a:srgbClr val="D6EAD6"/>
          </a:solidFill>
          <a:ln w="12700">
            <a:solidFill>
              <a:srgbClr val="D6E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63440" y="3145536"/>
            <a:ext cx="4206240" cy="36576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54880" y="314553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Representativeness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754880" y="3566160"/>
            <a:ext cx="4023360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sample reflect the target population?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bias produces spurious clusters in over-represented groups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against known population benchmarks where possible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results are only as valid as the data they were fit on</a:t>
            </a:r>
            <a:endParaRPr lang="en-US" sz="11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Preprocessing — Scaling, Encoding &amp; Feature Engineering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457200"/>
          </a:xfrm>
          <a:prstGeom prst="rect">
            <a:avLst/>
          </a:prstGeom>
          <a:solidFill>
            <a:srgbClr val="FFF8DC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84048" y="795528"/>
            <a:ext cx="8375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unsupervised algorithms are distance- or variance-based. Unscaled features silently dominate the result.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4114800" cy="3520440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" y="1353312"/>
            <a:ext cx="3895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&amp; Encoding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719072"/>
            <a:ext cx="3895344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standardization (μ=0, σ=1)</a:t>
            </a:r>
            <a:endParaRPr lang="en-US" sz="1200" dirty="0"/>
          </a:p>
          <a:p>
            <a:pPr marL="711200" lvl="1" indent="-355600">
              <a:buSzPct val="100000"/>
              <a:buChar char="•"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for K-Means, PCA, GMM — mandatory when features differ in scale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 scaling to [0,1]</a:t>
            </a:r>
            <a:endParaRPr lang="en-US" sz="1200" dirty="0"/>
          </a:p>
          <a:p>
            <a:pPr marL="711200" lvl="1" indent="-355600">
              <a:buSzPct val="100000"/>
              <a:buChar char="•"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when bounded range matters; sensitive to outliers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scaling (median/IQR)</a:t>
            </a:r>
            <a:endParaRPr lang="en-US" sz="1200" dirty="0"/>
          </a:p>
          <a:p>
            <a:pPr marL="711200" lvl="1" indent="-355600">
              <a:buSzPct val="100000"/>
              <a:buChar char="•"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when outliers are present but must be retained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encoding</a:t>
            </a:r>
            <a:endParaRPr lang="en-US" sz="1200" dirty="0"/>
          </a:p>
          <a:p>
            <a:pPr marL="711200" lvl="1" indent="-355600">
              <a:buSzPct val="100000"/>
              <a:buChar char="•"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One-hot: adds dimensionality but is distance-safe</a:t>
            </a:r>
            <a:endParaRPr lang="en-US" sz="1200" dirty="0"/>
          </a:p>
          <a:p>
            <a:pPr marL="711200" lvl="1" indent="-355600">
              <a:buSzPct val="100000"/>
              <a:buChar char="•"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Embedding: learn a continuous representation (for high-cardinality)</a:t>
            </a:r>
            <a:endParaRPr lang="en-US" sz="1200" dirty="0"/>
          </a:p>
          <a:p>
            <a:pPr marL="711200" lvl="1" indent="-355600">
              <a:buSzPct val="100000"/>
              <a:buChar char="•"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Gower distance: handles mixed-type features natively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after scaling, no single feature should dominate variance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298448"/>
            <a:ext cx="4114800" cy="3520440"/>
          </a:xfrm>
          <a:prstGeom prst="rect">
            <a:avLst/>
          </a:prstGeom>
          <a:solidFill>
            <a:srgbClr val="C9CBE0"/>
          </a:solidFill>
          <a:ln w="12700">
            <a:solidFill>
              <a:srgbClr val="C9C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73168" y="1353312"/>
            <a:ext cx="3895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 &amp; Dimensionality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73168" y="1719072"/>
            <a:ext cx="3895344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Curse of dimensionality in clustering:</a:t>
            </a:r>
            <a:endParaRPr lang="en-US" sz="1200" dirty="0"/>
          </a:p>
          <a:p>
            <a:pPr marL="711200" lvl="1" indent="-355600">
              <a:buSzPct val="100000"/>
              <a:buChar char="•"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 grows, pairwise distances become increasingly uniform</a:t>
            </a:r>
            <a:endParaRPr lang="en-US" sz="1200" dirty="0"/>
          </a:p>
          <a:p>
            <a:pPr marL="711200" lvl="1" indent="-355600">
              <a:buSzPct val="100000"/>
              <a:buChar char="•"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structure erodes; signal-to-noise ratio falls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irrelevant features before clustering:</a:t>
            </a:r>
            <a:endParaRPr lang="en-US" sz="1200" dirty="0"/>
          </a:p>
          <a:p>
            <a:pPr marL="711200" lvl="1" indent="-355600">
              <a:buSzPct val="100000"/>
              <a:buChar char="•"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High-correlation features add redundancy, not signal</a:t>
            </a:r>
            <a:endParaRPr lang="en-US" sz="1200" dirty="0"/>
          </a:p>
          <a:p>
            <a:pPr marL="711200" lvl="1" indent="-355600">
              <a:buSzPct val="100000"/>
              <a:buChar char="•"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Near-zero-variance features contribute noise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PCA before clustering:</a:t>
            </a:r>
            <a:endParaRPr lang="en-US" sz="1200" dirty="0"/>
          </a:p>
          <a:p>
            <a:pPr marL="711200" lvl="1" indent="-355600">
              <a:buSzPct val="100000"/>
              <a:buChar char="•"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pipeline: standardize → PCA (retain 80–95% PVE) → cluster</a:t>
            </a:r>
            <a:endParaRPr lang="en-US" sz="1200" dirty="0"/>
          </a:p>
          <a:p>
            <a:pPr marL="711200" lvl="1" indent="-355600">
              <a:buSzPct val="100000"/>
              <a:buChar char="•"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noise and computation; aids visualization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knowledge is the gold standard for feature relevance — always consult subject-matter expertise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Algorithm Selection — Matching Method to Problem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3108960" cy="292608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01568" y="749808"/>
            <a:ext cx="5468112" cy="292608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749808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Question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74720" y="749808"/>
            <a:ext cx="5321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Guidance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060704"/>
            <a:ext cx="3108960" cy="530352"/>
          </a:xfrm>
          <a:prstGeom prst="rect">
            <a:avLst/>
          </a:prstGeom>
          <a:solidFill>
            <a:srgbClr val="D8F3DC"/>
          </a:solidFill>
          <a:ln w="12700">
            <a:solidFill>
              <a:srgbClr val="D0E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401568" y="1060704"/>
            <a:ext cx="5468112" cy="530352"/>
          </a:xfrm>
          <a:prstGeom prst="rect">
            <a:avLst/>
          </a:prstGeom>
          <a:solidFill>
            <a:srgbClr val="C9CBE0"/>
          </a:solidFill>
          <a:ln w="12700">
            <a:solidFill>
              <a:srgbClr val="C8CB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" y="1124712"/>
            <a:ext cx="2962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shape expected?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474720" y="1124712"/>
            <a:ext cx="5321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Spherical/convex → K-Means   |   Elliptical → GMM   |   Arbitrary → DBSCAN / Hierarchical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627632"/>
            <a:ext cx="3108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401568" y="1627632"/>
            <a:ext cx="5468112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B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7472" y="1691640"/>
            <a:ext cx="2962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K known in advance?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474720" y="1691640"/>
            <a:ext cx="5321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K-Means, GMM   |   No → DBSCAN, Hierarchical (full dendrogram)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194560"/>
            <a:ext cx="3108960" cy="530352"/>
          </a:xfrm>
          <a:prstGeom prst="rect">
            <a:avLst/>
          </a:prstGeom>
          <a:solidFill>
            <a:srgbClr val="D8F3DC"/>
          </a:solidFill>
          <a:ln w="12700">
            <a:solidFill>
              <a:srgbClr val="D0E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401568" y="2194560"/>
            <a:ext cx="5468112" cy="530352"/>
          </a:xfrm>
          <a:prstGeom prst="rect">
            <a:avLst/>
          </a:prstGeom>
          <a:solidFill>
            <a:srgbClr val="C9CBE0"/>
          </a:solidFill>
          <a:ln w="12700">
            <a:solidFill>
              <a:srgbClr val="C8CB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7472" y="2258568"/>
            <a:ext cx="2962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vs. hard assignments?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474720" y="2258568"/>
            <a:ext cx="5321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(one cluster per point) → K-Means, DBSCAN   |   Soft (probabilities) → GMM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761488"/>
            <a:ext cx="3108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401568" y="2761488"/>
            <a:ext cx="5468112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B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7472" y="2825496"/>
            <a:ext cx="2962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/ noise expected?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474720" y="2825496"/>
            <a:ext cx="5321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DBSCAN (labels noise), robust K-Medoids   |   No → K-Means or GMM fine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328416"/>
            <a:ext cx="3108960" cy="530352"/>
          </a:xfrm>
          <a:prstGeom prst="rect">
            <a:avLst/>
          </a:prstGeom>
          <a:solidFill>
            <a:srgbClr val="D8F3DC"/>
          </a:solidFill>
          <a:ln w="12700">
            <a:solidFill>
              <a:srgbClr val="D0E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401568" y="3328416"/>
            <a:ext cx="5468112" cy="530352"/>
          </a:xfrm>
          <a:prstGeom prst="rect">
            <a:avLst/>
          </a:prstGeom>
          <a:solidFill>
            <a:srgbClr val="C9CBE0"/>
          </a:solidFill>
          <a:ln w="12700">
            <a:solidFill>
              <a:srgbClr val="C8CB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47472" y="3392424"/>
            <a:ext cx="2962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reduction?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474720" y="3392424"/>
            <a:ext cx="5321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structure → PCA   |   Nonlinear, visualization → t-SNE / UMAP   |   General nonlinear → Autoencoder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895344"/>
            <a:ext cx="3108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401568" y="3895344"/>
            <a:ext cx="5468112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B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47472" y="3959352"/>
            <a:ext cx="2962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out-of-sample transform?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474720" y="3959352"/>
            <a:ext cx="5321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PCA, UMAP, Autoencoder   |   No → t-SNE acceptable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4462272"/>
            <a:ext cx="3108960" cy="530352"/>
          </a:xfrm>
          <a:prstGeom prst="rect">
            <a:avLst/>
          </a:prstGeom>
          <a:solidFill>
            <a:srgbClr val="D8F3DC"/>
          </a:solidFill>
          <a:ln w="12700">
            <a:solidFill>
              <a:srgbClr val="D0E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401568" y="4462272"/>
            <a:ext cx="5468112" cy="530352"/>
          </a:xfrm>
          <a:prstGeom prst="rect">
            <a:avLst/>
          </a:prstGeom>
          <a:solidFill>
            <a:srgbClr val="C9CBE0"/>
          </a:solidFill>
          <a:ln w="12700">
            <a:solidFill>
              <a:srgbClr val="C8CB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47472" y="4526280"/>
            <a:ext cx="2962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(n, p)?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3474720" y="4526280"/>
            <a:ext cx="5321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large n → K-Means, UMAP, Autoencoder   |   Small n → Hierarchical, KDE   |   High p → PCA first, then cluster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5029200"/>
            <a:ext cx="8595360" cy="91440"/>
          </a:xfrm>
          <a:prstGeom prst="rect">
            <a:avLst/>
          </a:prstGeom>
          <a:solidFill>
            <a:srgbClr val="FFF8DC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84048" y="5047488"/>
            <a:ext cx="8375904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 Algorithm choice embeds assumptions. Document the rationale — it becomes the first paragraph of your methods section.</a:t>
            </a:r>
            <a:endParaRPr lang="en-US" sz="11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Fitting — Initialization, Convergence &amp; Best Practices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457200"/>
          </a:xfrm>
          <a:prstGeom prst="rect">
            <a:avLst/>
          </a:prstGeom>
          <a:solidFill>
            <a:srgbClr val="FFF8DC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84048" y="795528"/>
            <a:ext cx="8375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Fitting is not a single button-press. Initialization strategy and convergence monitoring both affect solution quality.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4206240" cy="3520440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298448"/>
            <a:ext cx="4206240" cy="38404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29844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Initialization Strategy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737360"/>
            <a:ext cx="40233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K-Means: use K-Means++ (not random restart)</a:t>
            </a:r>
            <a:endParaRPr lang="en-US" sz="1200" dirty="0"/>
          </a:p>
          <a:p>
            <a:pPr marL="711200" lvl="1" indent="-355600">
              <a:buSzPct val="100000"/>
              <a:buChar char="•"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K-Means++ selects initial centroids proportional to distance² from existing centroids — reduces bad initializations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GMM / EM: initialize μₖ from K-Means run; helps EM converge to better local maxima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run multiple restarts (≥10) for any stochastic algorithm</a:t>
            </a:r>
            <a:endParaRPr lang="en-US" sz="1200" dirty="0"/>
          </a:p>
          <a:p>
            <a:pPr marL="711200" lvl="1" indent="-355600">
              <a:buSzPct val="100000"/>
              <a:buChar char="•"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the best solution (lowest WCSS / highest log-likelihood) across restarts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AEs: standard techniques (Xavier init, batch norm, Adam optimizer)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81728" y="1298448"/>
            <a:ext cx="4206240" cy="3520440"/>
          </a:xfrm>
          <a:prstGeom prst="rect">
            <a:avLst/>
          </a:prstGeom>
          <a:solidFill>
            <a:srgbClr val="C9CBE0"/>
          </a:solidFill>
          <a:ln w="12700">
            <a:solidFill>
              <a:srgbClr val="C9C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81728" y="1298448"/>
            <a:ext cx="4206240" cy="384048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73168" y="129844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Monitoring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73168" y="1737360"/>
            <a:ext cx="40233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the objective per iteration: WCSS for K-Means, log-likelihood for GMM/EM, reconstruction loss for AE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the learning curve — a flat plateau signals convergence; non-monotonic behavior signals a bug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K-Means: declare convergence when no point changes cluster assignment between iterations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EM: convergence when |ℓ(θᵗ) − ℓ(θᵗ⁻¹)| &lt; ε (e.g., 10⁻⁶)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PCA: deterministic — no iteration needed; verify eigenvalues are non-negative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convergence often signals: wrong K, unscaled features, or poorly separated clusters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6: Hyperparameter Selection — The Hardest Step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457200"/>
          </a:xfrm>
          <a:prstGeom prst="rect">
            <a:avLst/>
          </a:prstGeom>
          <a:solidFill>
            <a:srgbClr val="FFF8DC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84048" y="795528"/>
            <a:ext cx="8375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target variable, there is no single held-out loss to minimize. Multiple criteria must be examined together.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1481328" cy="27432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9184" y="128016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783080" y="1280160"/>
            <a:ext cx="1435608" cy="27432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837944" y="1280160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1280160"/>
            <a:ext cx="3163824" cy="27432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00984" y="128016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Criteria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46520" y="1280160"/>
            <a:ext cx="2423160" cy="27432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01384" y="12801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Caveat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1572768"/>
            <a:ext cx="1481328" cy="548640"/>
          </a:xfrm>
          <a:prstGeom prst="rect">
            <a:avLst/>
          </a:prstGeom>
          <a:solidFill>
            <a:srgbClr val="D8F3DC"/>
          </a:solidFill>
          <a:ln w="12700">
            <a:solidFill>
              <a:srgbClr val="D0E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9184" y="1618488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(number of clusters)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783080" y="1572768"/>
            <a:ext cx="1435608" cy="548640"/>
          </a:xfrm>
          <a:prstGeom prst="rect">
            <a:avLst/>
          </a:prstGeom>
          <a:solidFill>
            <a:srgbClr val="C9CBE0"/>
          </a:solidFill>
          <a:ln w="12700">
            <a:solidFill>
              <a:srgbClr val="D0E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837944" y="1618488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K-Means, GMM, Hierarchical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46120" y="1572768"/>
            <a:ext cx="3163824" cy="548640"/>
          </a:xfrm>
          <a:prstGeom prst="rect">
            <a:avLst/>
          </a:prstGeom>
          <a:solidFill>
            <a:srgbClr val="D8F3DC"/>
          </a:solidFill>
          <a:ln w="12700">
            <a:solidFill>
              <a:srgbClr val="D0E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300984" y="1618488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plot (WCSS), silhouette score, gap statistic, BIC/AIC (GMM). Dendrogram cut height for hierarchical.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1572768"/>
            <a:ext cx="2423160" cy="548640"/>
          </a:xfrm>
          <a:prstGeom prst="rect">
            <a:avLst/>
          </a:prstGeom>
          <a:solidFill>
            <a:srgbClr val="C9CBE0"/>
          </a:solidFill>
          <a:ln w="12700">
            <a:solidFill>
              <a:srgbClr val="D0E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01384" y="161848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criterion is definitive. Use ≥2 criteria and domain knowledge.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157984"/>
            <a:ext cx="148132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9184" y="2203704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(number of components)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783080" y="2157984"/>
            <a:ext cx="143560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837944" y="2203704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PCA, Factor Analysis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46120" y="2157984"/>
            <a:ext cx="3163824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300984" y="2203704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PVE ≥ 80–95%, scree plot elbow, Kaiser criterion (λ &gt; 1), parallel analysis, CV on reconstruction error.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46520" y="2157984"/>
            <a:ext cx="24231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501384" y="220370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the fewest components that preserve interpretable structure.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2743200"/>
            <a:ext cx="1481328" cy="548640"/>
          </a:xfrm>
          <a:prstGeom prst="rect">
            <a:avLst/>
          </a:prstGeom>
          <a:solidFill>
            <a:srgbClr val="D8F3DC"/>
          </a:solidFill>
          <a:ln w="12700">
            <a:solidFill>
              <a:srgbClr val="D0E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9184" y="278892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ε, MinPts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783080" y="2743200"/>
            <a:ext cx="1435608" cy="548640"/>
          </a:xfrm>
          <a:prstGeom prst="rect">
            <a:avLst/>
          </a:prstGeom>
          <a:solidFill>
            <a:srgbClr val="C9CBE0"/>
          </a:solidFill>
          <a:ln w="12700">
            <a:solidFill>
              <a:srgbClr val="D0E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837944" y="2788920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46120" y="2743200"/>
            <a:ext cx="3163824" cy="548640"/>
          </a:xfrm>
          <a:prstGeom prst="rect">
            <a:avLst/>
          </a:prstGeom>
          <a:solidFill>
            <a:srgbClr val="D8F3DC"/>
          </a:solidFill>
          <a:ln w="12700">
            <a:solidFill>
              <a:srgbClr val="D0E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300984" y="2788920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k-distance plot: plot sorted distance to k-th nearest neighbor; ε at the 'elbow'. MinPts ≥ ln(n) as a starting rule.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46520" y="2743200"/>
            <a:ext cx="2423160" cy="548640"/>
          </a:xfrm>
          <a:prstGeom prst="rect">
            <a:avLst/>
          </a:prstGeom>
          <a:solidFill>
            <a:srgbClr val="C9CBE0"/>
          </a:solidFill>
          <a:ln w="12700">
            <a:solidFill>
              <a:srgbClr val="D0E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501384" y="2788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sensitive; different settings produce radically different cluster counts.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3328416"/>
            <a:ext cx="148132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29184" y="3374136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 h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783080" y="3328416"/>
            <a:ext cx="143560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837944" y="3374136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46120" y="3328416"/>
            <a:ext cx="3163824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300984" y="3374136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Silverman's rule of thumb: h* = 1.06σn^{−1/5}. Or cross-validate held-out log-likelihood.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446520" y="3328416"/>
            <a:ext cx="24231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501384" y="337413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h depends on true density shape; Silverman assumes Gaussian.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74320" y="3913632"/>
            <a:ext cx="1481328" cy="548640"/>
          </a:xfrm>
          <a:prstGeom prst="rect">
            <a:avLst/>
          </a:prstGeom>
          <a:solidFill>
            <a:srgbClr val="D8F3DC"/>
          </a:solidFill>
          <a:ln w="12700">
            <a:solidFill>
              <a:srgbClr val="D0E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29184" y="3959352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n_neighbors, min_dist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783080" y="3913632"/>
            <a:ext cx="1435608" cy="548640"/>
          </a:xfrm>
          <a:prstGeom prst="rect">
            <a:avLst/>
          </a:prstGeom>
          <a:solidFill>
            <a:srgbClr val="C9CBE0"/>
          </a:solidFill>
          <a:ln w="12700">
            <a:solidFill>
              <a:srgbClr val="D0E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1837944" y="3959352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UMAP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246120" y="3913632"/>
            <a:ext cx="3163824" cy="548640"/>
          </a:xfrm>
          <a:prstGeom prst="rect">
            <a:avLst/>
          </a:prstGeom>
          <a:solidFill>
            <a:srgbClr val="D8F3DC"/>
          </a:solidFill>
          <a:ln w="12700">
            <a:solidFill>
              <a:srgbClr val="D0E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300984" y="3959352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 criterion — explore visually. n_neighbors controls local vs. global structure balance.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446520" y="3913632"/>
            <a:ext cx="2423160" cy="548640"/>
          </a:xfrm>
          <a:prstGeom prst="rect">
            <a:avLst/>
          </a:prstGeom>
          <a:solidFill>
            <a:srgbClr val="C9CBE0"/>
          </a:solidFill>
          <a:ln w="12700">
            <a:solidFill>
              <a:srgbClr val="D0E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501384" y="395935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stochastic and layout depends strongly on these parameters.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74320" y="4498848"/>
            <a:ext cx="148132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29184" y="4544568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dim k, architecture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1783080" y="4498848"/>
            <a:ext cx="143560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1837944" y="4544568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246120" y="4498848"/>
            <a:ext cx="3163824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3300984" y="4544568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 error on held-out data vs. k. Elbow in reconstruction loss curve.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446520" y="4498848"/>
            <a:ext cx="24231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501384" y="45445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Over-parameterized AE memorizes rather than compresses — use held-out set.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7: Interpretation &amp; Validation — Making Sense of Structure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457200"/>
          </a:xfrm>
          <a:prstGeom prst="rect">
            <a:avLst/>
          </a:prstGeom>
          <a:solidFill>
            <a:srgbClr val="FFF8DC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84048" y="795528"/>
            <a:ext cx="8375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fitted model produces labels, projections, or embeddings — but meaning must be constructed through interpretation.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298448"/>
            <a:ext cx="4206240" cy="1773936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032" y="1298448"/>
            <a:ext cx="4206240" cy="3657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12984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Profiling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47472" y="1719072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mean, SD, and distribution of each feature within each cluster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ANOVA / Kruskal-Wallis to test which features differ significantly across clusters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Visualize: heatmap of cluster centroids; box plots by cluster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does each cluster have a coherent, interpretable identity?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clusters based on their profiles — not their index numbers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298448"/>
            <a:ext cx="4206240" cy="1773936"/>
          </a:xfrm>
          <a:prstGeom prst="rect">
            <a:avLst/>
          </a:prstGeom>
          <a:solidFill>
            <a:srgbClr val="C9CBE0"/>
          </a:solidFill>
          <a:ln w="12700">
            <a:solidFill>
              <a:srgbClr val="C9C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63440" y="1298448"/>
            <a:ext cx="4206240" cy="365760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0" y="12984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 Interpretation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754880" y="1719072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PCA: examine loadings — which features load heavily on PC1, PC2?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Biplot: overlay feature vectors on score plot to see structure simultaneously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/ UMAP: visual inspection only — cluster separation is informative; distances between clusters are NOT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that embedding structure aligns with domain expectations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" y="3182112"/>
            <a:ext cx="4206240" cy="1773936"/>
          </a:xfrm>
          <a:prstGeom prst="rect">
            <a:avLst/>
          </a:prstGeom>
          <a:solidFill>
            <a:srgbClr val="D6EEF8"/>
          </a:solidFill>
          <a:ln w="12700">
            <a:solidFill>
              <a:srgbClr val="D6E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56032" y="3182112"/>
            <a:ext cx="4206240" cy="365760"/>
          </a:xfrm>
          <a:prstGeom prst="rect">
            <a:avLst/>
          </a:prstGeom>
          <a:solidFill>
            <a:srgbClr val="118AB2"/>
          </a:solidFill>
          <a:ln w="12700">
            <a:solidFill>
              <a:srgbClr val="118A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7472" y="31821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Analysis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47472" y="3602736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Refit on bootstrap resamples or random subsets of the data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solutions reproduce themselves under perturbation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ARI between pairs of bootstrap solutions — median ARI &gt; 0.8 suggests robust structure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Unstable solutions indicate noise-driven clusters, not genuine population subgroups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3182112"/>
            <a:ext cx="4206240" cy="1773936"/>
          </a:xfrm>
          <a:prstGeom prst="rect">
            <a:avLst/>
          </a:prstGeom>
          <a:solidFill>
            <a:srgbClr val="D6EAD6"/>
          </a:solidFill>
          <a:ln w="12700">
            <a:solidFill>
              <a:srgbClr val="D6E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63440" y="3182112"/>
            <a:ext cx="4206240" cy="36576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54880" y="31821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Validation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754880" y="3602736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known labels exist (even unused in fitting), compare with ARI or NMI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if clusters align with theoretical groupings from domain literature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supervised model predicting cluster membership from features — high accuracy confirms cluster separability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labels: use labeled subset as a sanity check only, not for tuning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8: Diagnosis &amp; Iteration — The Most Common Failure Modes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2651760" cy="27432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749808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71800" y="749808"/>
            <a:ext cx="2651760" cy="27432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044952" y="749808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Cause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0" y="749808"/>
            <a:ext cx="3200400" cy="27432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742432" y="74980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Action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042416"/>
            <a:ext cx="2651760" cy="539496"/>
          </a:xfrm>
          <a:prstGeom prst="rect">
            <a:avLst/>
          </a:prstGeom>
          <a:solidFill>
            <a:srgbClr val="D8F3DC"/>
          </a:solidFill>
          <a:ln w="12700">
            <a:solidFill>
              <a:srgbClr val="D8E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" y="1088136"/>
            <a:ext cx="25237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cluster is a 'catch-all' with very high 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971800" y="1042416"/>
            <a:ext cx="2651760" cy="539496"/>
          </a:xfrm>
          <a:prstGeom prst="rect">
            <a:avLst/>
          </a:prstGeom>
          <a:solidFill>
            <a:srgbClr val="C9CBE0"/>
          </a:solidFill>
          <a:ln w="12700">
            <a:solidFill>
              <a:srgbClr val="D8E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044952" y="1088136"/>
            <a:ext cx="25237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is too small; genuine sub-groups are lumped together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0" y="1042416"/>
            <a:ext cx="3200400" cy="539496"/>
          </a:xfrm>
          <a:prstGeom prst="rect">
            <a:avLst/>
          </a:prstGeom>
          <a:solidFill>
            <a:srgbClr val="D6EEF8"/>
          </a:solidFill>
          <a:ln w="12700">
            <a:solidFill>
              <a:srgbClr val="D8E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742432" y="1088136"/>
            <a:ext cx="307238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K; re-examine elbow / silhouette; split and re-cluster the large group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1618488"/>
            <a:ext cx="265176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7472" y="1664208"/>
            <a:ext cx="25237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WCSS / log-likelihood varies widely across restarts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971800" y="1618488"/>
            <a:ext cx="265176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044952" y="1664208"/>
            <a:ext cx="25237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local optima; poorly separated clusters; bad initialization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0" y="1618488"/>
            <a:ext cx="320040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742432" y="1664208"/>
            <a:ext cx="307238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K-Means++ initialization; increase n_init; reconsider K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2194560"/>
            <a:ext cx="2651760" cy="539496"/>
          </a:xfrm>
          <a:prstGeom prst="rect">
            <a:avLst/>
          </a:prstGeom>
          <a:solidFill>
            <a:srgbClr val="D8F3DC"/>
          </a:solidFill>
          <a:ln w="12700">
            <a:solidFill>
              <a:srgbClr val="D8E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7472" y="2240280"/>
            <a:ext cx="25237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/ UMAP produces a single blob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971800" y="2194560"/>
            <a:ext cx="2651760" cy="539496"/>
          </a:xfrm>
          <a:prstGeom prst="rect">
            <a:avLst/>
          </a:prstGeom>
          <a:solidFill>
            <a:srgbClr val="C9CBE0"/>
          </a:solidFill>
          <a:ln w="12700">
            <a:solidFill>
              <a:srgbClr val="D8E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044952" y="2240280"/>
            <a:ext cx="25237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n_neighbors or perplexity too large; no real cluster structure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0" y="2194560"/>
            <a:ext cx="3200400" cy="539496"/>
          </a:xfrm>
          <a:prstGeom prst="rect">
            <a:avLst/>
          </a:prstGeom>
          <a:solidFill>
            <a:srgbClr val="D6EEF8"/>
          </a:solidFill>
          <a:ln w="12700">
            <a:solidFill>
              <a:srgbClr val="D8E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742432" y="2240280"/>
            <a:ext cx="307238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n_neighbors; try PCA first to remove noise dimensions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2770632"/>
            <a:ext cx="265176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47472" y="2816352"/>
            <a:ext cx="25237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PC1 explains &gt;90% of variance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971800" y="2770632"/>
            <a:ext cx="265176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044952" y="2816352"/>
            <a:ext cx="25237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feature dominates (scaling omitted, or single noisy feature)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669280" y="2770632"/>
            <a:ext cx="320040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742432" y="2816352"/>
            <a:ext cx="307238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all features are standardized; check for near-constant features or outlier-driven variance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74320" y="3346704"/>
            <a:ext cx="2651760" cy="539496"/>
          </a:xfrm>
          <a:prstGeom prst="rect">
            <a:avLst/>
          </a:prstGeom>
          <a:solidFill>
            <a:srgbClr val="D8F3DC"/>
          </a:solidFill>
          <a:ln w="12700">
            <a:solidFill>
              <a:srgbClr val="D8E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47472" y="3392424"/>
            <a:ext cx="25237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does not converge / degenerates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971800" y="3346704"/>
            <a:ext cx="2651760" cy="539496"/>
          </a:xfrm>
          <a:prstGeom prst="rect">
            <a:avLst/>
          </a:prstGeom>
          <a:solidFill>
            <a:srgbClr val="C9CBE0"/>
          </a:solidFill>
          <a:ln w="12700">
            <a:solidFill>
              <a:srgbClr val="D8E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044952" y="3392424"/>
            <a:ext cx="25237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Gaussian component collapses onto a single point (Σₖ → 0)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669280" y="3346704"/>
            <a:ext cx="3200400" cy="539496"/>
          </a:xfrm>
          <a:prstGeom prst="rect">
            <a:avLst/>
          </a:prstGeom>
          <a:solidFill>
            <a:srgbClr val="D6EEF8"/>
          </a:solidFill>
          <a:ln w="12700">
            <a:solidFill>
              <a:srgbClr val="D8E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742432" y="3392424"/>
            <a:ext cx="307238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regularization to Σₖ; use diagonal covariance; reduce K; try better initialization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74320" y="3922776"/>
            <a:ext cx="265176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47472" y="3968496"/>
            <a:ext cx="25237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change dramatically across bootstrap resamples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971800" y="3922776"/>
            <a:ext cx="265176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044952" y="3968496"/>
            <a:ext cx="25237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is noise-driven, not genuine; n is too small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669280" y="3922776"/>
            <a:ext cx="320040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742432" y="3968496"/>
            <a:ext cx="307238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n; reduce K; switch to a more regularized method (GMM with BIC); report instability honestly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74320" y="4498848"/>
            <a:ext cx="2651760" cy="539496"/>
          </a:xfrm>
          <a:prstGeom prst="rect">
            <a:avLst/>
          </a:prstGeom>
          <a:solidFill>
            <a:srgbClr val="D8F3DC"/>
          </a:solidFill>
          <a:ln w="12700">
            <a:solidFill>
              <a:srgbClr val="D8E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47472" y="4544568"/>
            <a:ext cx="25237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 error high (Autoencoder)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971800" y="4498848"/>
            <a:ext cx="2651760" cy="539496"/>
          </a:xfrm>
          <a:prstGeom prst="rect">
            <a:avLst/>
          </a:prstGeom>
          <a:solidFill>
            <a:srgbClr val="C9CBE0"/>
          </a:solidFill>
          <a:ln w="12700">
            <a:solidFill>
              <a:srgbClr val="D8E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044952" y="4544568"/>
            <a:ext cx="25237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dim k too small; network underpowered; insufficient training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669280" y="4498848"/>
            <a:ext cx="3200400" cy="539496"/>
          </a:xfrm>
          <a:prstGeom prst="rect">
            <a:avLst/>
          </a:prstGeom>
          <a:solidFill>
            <a:srgbClr val="D6EEF8"/>
          </a:solidFill>
          <a:ln w="12700">
            <a:solidFill>
              <a:srgbClr val="D8E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742432" y="4544568"/>
            <a:ext cx="307238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k or network depth; train longer; check for data preprocessing errors</a:t>
            </a:r>
            <a:endParaRPr lang="en-US" sz="10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9: Communication &amp; Deployment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457200"/>
          </a:xfrm>
          <a:prstGeom prst="rect">
            <a:avLst/>
          </a:prstGeom>
          <a:solidFill>
            <a:srgbClr val="FFF8DC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84048" y="795528"/>
            <a:ext cx="8375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audience for results is the domain — not the algorithm. Cluster 1 must become a name, not a number.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4114800" cy="3520440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" y="1353312"/>
            <a:ext cx="3895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Communicating Unsupervised Results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84048" y="1719072"/>
            <a:ext cx="3895344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and describe clusters in domain terms</a:t>
            </a:r>
            <a:endParaRPr lang="en-US" sz="1200" dirty="0"/>
          </a:p>
          <a:p>
            <a:pPr marL="711200" lvl="1" indent="-355600">
              <a:buSzPct val="100000"/>
              <a:buChar char="•"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'High-engagement, low-tenure users' not 'Cluster 3'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the structure, not the method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the evidence for stability — bootstrap ARI, sensitivity to K, silhouette distributions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PCA: explain each retained PC in terms of the original features, not just variance explained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explicit about what the model cannot tell you:</a:t>
            </a:r>
            <a:endParaRPr lang="en-US" sz="1200" dirty="0"/>
          </a:p>
          <a:p>
            <a:pPr marL="711200" lvl="1" indent="-355600">
              <a:buSzPct val="100000"/>
              <a:buChar char="•"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distances are not metric</a:t>
            </a:r>
            <a:endParaRPr lang="en-US" sz="1200" dirty="0"/>
          </a:p>
          <a:p>
            <a:pPr marL="711200" lvl="1" indent="-355600">
              <a:buSzPct val="100000"/>
              <a:buChar char="•"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membership is not a causal category</a:t>
            </a:r>
            <a:endParaRPr lang="en-US" sz="1200" dirty="0"/>
          </a:p>
          <a:p>
            <a:pPr marL="711200" lvl="1" indent="-355600">
              <a:buSzPct val="100000"/>
              <a:buChar char="•"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 of high-dimensional structure are always partial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 the assumptions embedded in the chosen method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298448"/>
            <a:ext cx="4114800" cy="3520440"/>
          </a:xfrm>
          <a:prstGeom prst="rect">
            <a:avLst/>
          </a:prstGeom>
          <a:solidFill>
            <a:srgbClr val="C9CBE0"/>
          </a:solidFill>
          <a:ln w="12700">
            <a:solidFill>
              <a:srgbClr val="C9C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73168" y="1353312"/>
            <a:ext cx="3895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Unsupervised Models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773168" y="1719072"/>
            <a:ext cx="3895344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fitted model artifacts:</a:t>
            </a:r>
            <a:endParaRPr lang="en-US" sz="1200" dirty="0"/>
          </a:p>
          <a:p>
            <a:pPr marL="711200" lvl="1" indent="-355600">
              <a:buSzPct val="100000"/>
              <a:buChar char="•"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K-Means: cluster centroids + scaler parameters</a:t>
            </a:r>
            <a:endParaRPr lang="en-US" sz="1200" dirty="0"/>
          </a:p>
          <a:p>
            <a:pPr marL="711200" lvl="1" indent="-355600">
              <a:buSzPct val="100000"/>
              <a:buChar char="•"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PCA: projection matrix V, mean vector, scaler</a:t>
            </a:r>
            <a:endParaRPr lang="en-US" sz="1200" dirty="0"/>
          </a:p>
          <a:p>
            <a:pPr marL="711200" lvl="1" indent="-355600">
              <a:buSzPct val="100000"/>
              <a:buChar char="•"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GMM: {πₖ, μₖ, Σₖ}</a:t>
            </a:r>
            <a:endParaRPr lang="en-US" sz="1200" dirty="0"/>
          </a:p>
          <a:p>
            <a:pPr marL="711200" lvl="1" indent="-355600">
              <a:buSzPct val="100000"/>
              <a:buChar char="•"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Autoencoder: trained encoder weights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Out-of-sample projection support:</a:t>
            </a:r>
            <a:endParaRPr lang="en-US" sz="1200" dirty="0"/>
          </a:p>
          <a:p>
            <a:pPr marL="711200" lvl="1" indent="-355600">
              <a:buSzPct val="100000"/>
              <a:buChar char="•"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PCA, UMAP, K-Means (nearest centroid), AE: all support it</a:t>
            </a:r>
            <a:endParaRPr lang="en-US" sz="1200" dirty="0"/>
          </a:p>
          <a:p>
            <a:pPr marL="711200" lvl="1" indent="-355600">
              <a:buSzPct val="100000"/>
              <a:buChar char="•"/>
            </a:pPr>
            <a:r>
              <a:rPr lang="en-US" sz="1100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t-SNE (basic form): does not generalize to new points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distribution shift: if the incoming data distribution P(X) changes, cluster assignments will degrade silently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retraining cadence should be defined upfront — unsupervised models have no performance metric that triggers automatic retraining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Overarching Principle: Assumptions All the Way Down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786384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 algorithmic choice encodes assumptions about structure — the workflow is not merely computational but fundamentally conceptual."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627632"/>
            <a:ext cx="1554480" cy="32918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1627632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975104"/>
            <a:ext cx="1554480" cy="347472"/>
          </a:xfrm>
          <a:prstGeom prst="rect">
            <a:avLst/>
          </a:prstGeom>
          <a:solidFill>
            <a:srgbClr val="D8F3DC"/>
          </a:solidFill>
          <a:ln w="12700">
            <a:solidFill>
              <a:srgbClr val="D0E4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" y="2020824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350008"/>
            <a:ext cx="1554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" y="2395728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724912"/>
            <a:ext cx="1554480" cy="347472"/>
          </a:xfrm>
          <a:prstGeom prst="rect">
            <a:avLst/>
          </a:prstGeom>
          <a:solidFill>
            <a:srgbClr val="D8F3DC"/>
          </a:solidFill>
          <a:ln w="12700">
            <a:solidFill>
              <a:srgbClr val="D0E4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7472" y="277063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099816"/>
            <a:ext cx="1554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7472" y="3145536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474720"/>
            <a:ext cx="1554480" cy="347472"/>
          </a:xfrm>
          <a:prstGeom prst="rect">
            <a:avLst/>
          </a:prstGeom>
          <a:solidFill>
            <a:srgbClr val="D8F3DC"/>
          </a:solidFill>
          <a:ln w="12700">
            <a:solidFill>
              <a:srgbClr val="D0E4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7472" y="3520440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849624"/>
            <a:ext cx="1554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47472" y="3895344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4224528"/>
            <a:ext cx="1554480" cy="347472"/>
          </a:xfrm>
          <a:prstGeom prst="rect">
            <a:avLst/>
          </a:prstGeom>
          <a:solidFill>
            <a:srgbClr val="D8F3DC"/>
          </a:solidFill>
          <a:ln w="12700">
            <a:solidFill>
              <a:srgbClr val="D0E4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7472" y="4270248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4599432"/>
            <a:ext cx="1554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7472" y="464515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874520" y="1627632"/>
            <a:ext cx="6995160" cy="329184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947672" y="1627632"/>
            <a:ext cx="6867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Assumption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874520" y="1975104"/>
            <a:ext cx="6995160" cy="347472"/>
          </a:xfrm>
          <a:prstGeom prst="rect">
            <a:avLst/>
          </a:prstGeom>
          <a:solidFill>
            <a:srgbClr val="C9CBE0"/>
          </a:solidFill>
          <a:ln w="12700">
            <a:solidFill>
              <a:srgbClr val="D0E4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947672" y="2020824"/>
            <a:ext cx="6867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are convex and similarly sized; Euclidean metric is appropriate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2350008"/>
            <a:ext cx="6995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947672" y="2395728"/>
            <a:ext cx="6867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arise from a mixture of Gaussians; EM finds ML parameters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2724912"/>
            <a:ext cx="6995160" cy="347472"/>
          </a:xfrm>
          <a:prstGeom prst="rect">
            <a:avLst/>
          </a:prstGeom>
          <a:solidFill>
            <a:srgbClr val="C9CBE0"/>
          </a:solidFill>
          <a:ln w="12700">
            <a:solidFill>
              <a:srgbClr val="D0E4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947672" y="2770632"/>
            <a:ext cx="6867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are density-connected regions; noise points are identifiable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3099816"/>
            <a:ext cx="6995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947672" y="3145536"/>
            <a:ext cx="6867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lives in a linear subspace; large variance = important structure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3474720"/>
            <a:ext cx="6995160" cy="347472"/>
          </a:xfrm>
          <a:prstGeom prst="rect">
            <a:avLst/>
          </a:prstGeom>
          <a:solidFill>
            <a:srgbClr val="C9CBE0"/>
          </a:solidFill>
          <a:ln w="12700">
            <a:solidFill>
              <a:srgbClr val="D0E4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947672" y="3520440"/>
            <a:ext cx="6867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neighborhood structure (perplexity-defined) captures true proximity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874520" y="3849624"/>
            <a:ext cx="6995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947672" y="3895344"/>
            <a:ext cx="6867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lies on a manifold; topological structure can be preserved in low-dim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224528"/>
            <a:ext cx="6995160" cy="347472"/>
          </a:xfrm>
          <a:prstGeom prst="rect">
            <a:avLst/>
          </a:prstGeom>
          <a:solidFill>
            <a:srgbClr val="C9CBE0"/>
          </a:solidFill>
          <a:ln w="12700">
            <a:solidFill>
              <a:srgbClr val="D0E4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947672" y="4270248"/>
            <a:ext cx="6867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P(X) is smooth; bandwidth h controls the bias-variance tradeoff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599432"/>
            <a:ext cx="6995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947672" y="4645152"/>
            <a:ext cx="6867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lies near a lower-dimensional manifold learnable by a neural network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4048" y="14630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84048" y="676656"/>
            <a:ext cx="7772400" cy="0"/>
          </a:xfrm>
          <a:prstGeom prst="line">
            <a:avLst/>
          </a:prstGeom>
          <a:noFill/>
          <a:ln w="1524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84048" y="786384"/>
            <a:ext cx="347472" cy="40233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786384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86384" y="83210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goal before choosing a method — the method choice encodes assumptions about what structure looks like.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4048" y="1325880"/>
            <a:ext cx="347472" cy="40233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" y="1325880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6384" y="137160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is paramount with no y to catch errors. Audit distributions, missingness, outliers, and representativeness.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4048" y="1865376"/>
            <a:ext cx="347472" cy="40233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4048" y="1865376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86384" y="191109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is mandatory for distance- and variance-based methods. Feature selection reduces noise before fitting.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4048" y="2404872"/>
            <a:ext cx="347472" cy="40233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84048" y="2404872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86384" y="245059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multiple restarts for stochastic algorithms (K-Means, EM). Monitor the objective curve — non-convergence signals a problem.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84048" y="2944368"/>
            <a:ext cx="347472" cy="40233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84048" y="2944368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86384" y="299008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selection (K, k, ε, h) is the hardest step. Use multiple internal criteria together, not any single one.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84048" y="3483864"/>
            <a:ext cx="347472" cy="40233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84048" y="3483864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86384" y="352958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output in domain terms: profile clusters, examine PCA loadings, test stability with bootstrap resampling.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84048" y="4023360"/>
            <a:ext cx="347472" cy="40233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84048" y="4023360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86384" y="406908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failure modes systematically — catch-all clusters, degenerate EM, and unstable solutions each point to specific fixes.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84048" y="4562856"/>
            <a:ext cx="347472" cy="40233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84048" y="4562856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86384" y="460857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assumptions at every step. The methods section of a paper is a record of every assumption made in this workflow.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1519</TotalTime>
  <Words>5707</Words>
  <Application>Microsoft Macintosh PowerPoint</Application>
  <PresentationFormat>On-screen Show (16:9)</PresentationFormat>
  <Paragraphs>734</Paragraphs>
  <Slides>43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Statistical Foundations of Unsupervised Learning</dc:title>
  <dc:subject>PptxGenJS Presentation</dc:subject>
  <dc:creator>PptxGenJS</dc:creator>
  <cp:lastModifiedBy>Howard Everson</cp:lastModifiedBy>
  <cp:revision>5</cp:revision>
  <cp:lastPrinted>2026-05-06T22:02:47Z</cp:lastPrinted>
  <dcterms:created xsi:type="dcterms:W3CDTF">2026-05-05T23:59:11Z</dcterms:created>
  <dcterms:modified xsi:type="dcterms:W3CDTF">2026-05-07T22:28:45Z</dcterms:modified>
</cp:coreProperties>
</file>