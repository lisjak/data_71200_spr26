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22"/>
    <p:restoredTop sz="94610"/>
  </p:normalViewPr>
  <p:slideViewPr>
    <p:cSldViewPr snapToGrid="0" snapToObjects="1">
      <p:cViewPr varScale="1">
        <p:scale>
          <a:sx n="244" d="100"/>
          <a:sy n="244" d="100"/>
        </p:scale>
        <p:origin x="64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Posterior Probability (%)</c:v>
                </c:pt>
              </c:strCache>
            </c:strRef>
          </c:tx>
          <c:spPr>
            <a:solidFill>
              <a:srgbClr val="1D6A7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6A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FE5-994B-B22A-D68B8B33A09D}"/>
              </c:ext>
            </c:extLst>
          </c:dPt>
          <c:dPt>
            <c:idx val="1"/>
            <c:invertIfNegative val="0"/>
            <c:bubble3D val="0"/>
            <c:spPr>
              <a:solidFill>
                <a:srgbClr val="2A9A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E5-994B-B22A-D68B8B33A09D}"/>
              </c:ext>
            </c:extLst>
          </c:dPt>
          <c:dPt>
            <c:idx val="2"/>
            <c:invertIfNegative val="0"/>
            <c:bubble3D val="0"/>
            <c:spPr>
              <a:solidFill>
                <a:srgbClr val="C99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E5-994B-B22A-D68B8B33A09D}"/>
              </c:ext>
            </c:extLst>
          </c:dPt>
          <c:dPt>
            <c:idx val="3"/>
            <c:invertIfNegative val="0"/>
            <c:bubble3D val="0"/>
            <c:spPr>
              <a:solidFill>
                <a:srgbClr val="B83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E5-994B-B22A-D68B8B33A09D}"/>
              </c:ext>
            </c:extLst>
          </c:dPt>
          <c:dPt>
            <c:idx val="4"/>
            <c:invertIfNegative val="0"/>
            <c:bubble3D val="0"/>
            <c:spPr>
              <a:solidFill>
                <a:srgbClr val="B83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FE5-994B-B22A-D68B8B33A09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0.1%
(rare)</c:v>
                </c:pt>
                <c:pt idx="1">
                  <c:v>1%
(low)</c:v>
                </c:pt>
                <c:pt idx="2">
                  <c:v>5%
(moderate)</c:v>
                </c:pt>
                <c:pt idx="3">
                  <c:v>10%
(elevated)</c:v>
                </c:pt>
                <c:pt idx="4">
                  <c:v>30%
(high risk)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</c:v>
                </c:pt>
                <c:pt idx="1">
                  <c:v>16.7</c:v>
                </c:pt>
                <c:pt idx="2">
                  <c:v>51</c:v>
                </c:pt>
                <c:pt idx="3">
                  <c:v>68.8</c:v>
                </c:pt>
                <c:pt idx="4">
                  <c:v>89.6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FE5-994B-B22A-D68B8B33A0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Prevalence in Population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221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C9963A">
              <a:alpha val="15000"/>
            </a:srgbClr>
          </a:solidFill>
          <a:ln w="12700">
            <a:solidFill>
              <a:srgbClr val="C9963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560320"/>
            <a:ext cx="4572000" cy="4572000"/>
          </a:xfrm>
          <a:prstGeom prst="ellipse">
            <a:avLst/>
          </a:prstGeom>
          <a:solidFill>
            <a:srgbClr val="1D6A72">
              <a:alpha val="15000"/>
            </a:srgbClr>
          </a:solidFill>
          <a:ln w="12700">
            <a:solidFill>
              <a:srgbClr val="2A9A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 the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Way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1097280" cy="4572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update our beliefs when new evidence arrives —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it matters more than you think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</a:rPr>
              <a:t>Thomas Bayes  ·  1763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D6A72"/>
                </a:solidFill>
              </a:rPr>
              <a:t>THE CORE IDEA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Bayesian Thinking?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5F2EB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4008" cy="100584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asking “is this hypothesis true or false?” — Bayesian thinking asks: How should I revise my belief, given what I just observed?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2697480" cy="73152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2633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a Prior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303580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belief before seeing any evidence. Could be a base rate, expert knowledge, or common sense.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251460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2514600"/>
            <a:ext cx="2697480" cy="73152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20440" y="2633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03580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arrives — a test result, an experiment, a survey. Evidence has the power to shift your belief.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251460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54496" y="2514600"/>
            <a:ext cx="2697480" cy="73152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19088" y="2633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to Posterior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19088" y="303580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your prior with the likelihood of the evidence. The result is a refined, updated belief.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72968" y="3630168"/>
            <a:ext cx="182880" cy="0"/>
          </a:xfrm>
          <a:prstGeom prst="line">
            <a:avLst/>
          </a:prstGeom>
          <a:noFill/>
          <a:ln w="19050">
            <a:solidFill>
              <a:srgbClr val="7A7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27248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7060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71616" y="3630168"/>
            <a:ext cx="182880" cy="0"/>
          </a:xfrm>
          <a:prstGeom prst="line">
            <a:avLst/>
          </a:prstGeom>
          <a:noFill/>
          <a:ln w="19050">
            <a:solidFill>
              <a:srgbClr val="7A7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25896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7060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C97A"/>
                </a:solidFill>
              </a:rPr>
              <a:t>THE CORE EQUATION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Bayes' Theorem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ect">
            <a:avLst/>
          </a:prstGeom>
          <a:solidFill>
            <a:srgbClr val="0D0D1F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P(H | E)</a:t>
            </a: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=  </a:t>
            </a:r>
            <a:r>
              <a:rPr lang="en-US" sz="3200" dirty="0">
                <a:solidFill>
                  <a:srgbClr val="6DD5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P(E | H)</a:t>
            </a: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×  </a:t>
            </a:r>
            <a:r>
              <a:rPr lang="en-US" sz="3200" dirty="0">
                <a:solidFill>
                  <a:srgbClr val="C8E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P(H)</a:t>
            </a: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/  </a:t>
            </a:r>
            <a:r>
              <a:rPr lang="en-US" sz="3200" dirty="0">
                <a:solidFill>
                  <a:srgbClr val="9999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P(E)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965960" cy="2057400"/>
          </a:xfrm>
          <a:prstGeom prst="rect">
            <a:avLst/>
          </a:prstGeom>
          <a:solidFill>
            <a:srgbClr val="0D0D1F"/>
          </a:solidFill>
          <a:ln w="12700">
            <a:solidFill>
              <a:srgbClr val="E8C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965960" cy="64008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Posterior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21868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after evidence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743200"/>
            <a:ext cx="1965960" cy="2057400"/>
          </a:xfrm>
          <a:prstGeom prst="rect">
            <a:avLst/>
          </a:prstGeom>
          <a:solidFill>
            <a:srgbClr val="0D0D1F"/>
          </a:solidFill>
          <a:ln w="12700">
            <a:solidFill>
              <a:srgbClr val="6D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2743200"/>
            <a:ext cx="1965960" cy="64008"/>
          </a:xfrm>
          <a:prstGeom prst="rect">
            <a:avLst/>
          </a:prstGeom>
          <a:solidFill>
            <a:srgbClr val="6DD5DC"/>
          </a:solidFill>
          <a:ln w="12700">
            <a:solidFill>
              <a:srgbClr val="6D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D5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Likelihood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21868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H explains 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1965960" cy="2057400"/>
          </a:xfrm>
          <a:prstGeom prst="rect">
            <a:avLst/>
          </a:prstGeom>
          <a:solidFill>
            <a:srgbClr val="0D0D1F"/>
          </a:solidFill>
          <a:ln w="12700">
            <a:solidFill>
              <a:srgbClr val="C8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1965960" cy="64008"/>
          </a:xfrm>
          <a:prstGeom prst="rect">
            <a:avLst/>
          </a:prstGeom>
          <a:solidFill>
            <a:srgbClr val="C8E0FF"/>
          </a:solidFill>
          <a:ln w="12700">
            <a:solidFill>
              <a:srgbClr val="C8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21868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before evidence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743200"/>
            <a:ext cx="1965960" cy="2057400"/>
          </a:xfrm>
          <a:prstGeom prst="rect">
            <a:avLst/>
          </a:prstGeom>
          <a:solidFill>
            <a:srgbClr val="0D0D1F"/>
          </a:solidFill>
          <a:ln w="12700">
            <a:solidFill>
              <a:srgbClr val="9999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03720" y="2743200"/>
            <a:ext cx="1965960" cy="64008"/>
          </a:xfrm>
          <a:prstGeom prst="rect">
            <a:avLst/>
          </a:prstGeom>
          <a:solidFill>
            <a:srgbClr val="999977"/>
          </a:solidFill>
          <a:ln w="12700">
            <a:solidFill>
              <a:srgbClr val="9999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99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321868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probability of 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7060"/>
                </a:solidFill>
              </a:rPr>
              <a:t>P(H|E) = Probability of hypothesis H, given evidence 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D6A72"/>
                </a:solidFill>
              </a:rPr>
              <a:t>A CONCRETE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Medical Test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F5F2EB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4008" cy="91440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disease affects 1% of the population. A diagnostic test has been developed to detect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0690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9359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the disease,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correctly says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99% of the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331720"/>
            <a:ext cx="40690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2468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D6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9834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359359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healthy, the 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says Negative 95%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time (5% false pos.)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6817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You just tested positive. What is the probability you actually have the disease?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DC807-DCD6-0C89-C2E3-D08FC025A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68" y="181213"/>
            <a:ext cx="7684477" cy="478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2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D6A72"/>
                </a:solidFill>
              </a:rPr>
              <a:t>STEP-BY-STEP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Applying Bayes' Theorem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502920" cy="5029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188720"/>
            <a:ext cx="7589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 the Prior — P(Disease)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rate: disease affects 1% of people. This is our starting belief before any test.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0" y="1261872"/>
            <a:ext cx="33375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0" y="12801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P(Disease) = 0.01     P(Healthy) = 0.99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502920" cy="5029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139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2103120"/>
            <a:ext cx="7589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Determine the Likelihoods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423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a positive test under each hypothesis? 99% sensitivity; 5% false positive rate.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2176272"/>
            <a:ext cx="33375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21945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P(+ | Disease) = 0.99     P(+ | Healthy) = 0.05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54096"/>
            <a:ext cx="502920" cy="5029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3017520"/>
            <a:ext cx="7589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444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the Total Probability of a Positive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337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denominator — overall probability of receiving a positive result.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090672"/>
            <a:ext cx="33375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0" y="31089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P(+) = (0.99 × 0.01) + (0.05 × 0.99) = 0.0099 + 0.0495 = 0.0594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968496"/>
            <a:ext cx="502920" cy="5029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97280" y="3931920"/>
            <a:ext cx="7589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3444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Bayes' Theorem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probability of disease given a positive test.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4005072"/>
            <a:ext cx="33375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0" y="40233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P(Disease | +) = (0.99 × 0.01) / 0.0594 ≈ 16.7%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D6A72"/>
                </a:solidFill>
              </a:rPr>
              <a:t>SEE IT VISUALLY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 People Walk In for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057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057400" cy="64008"/>
          </a:xfrm>
          <a:prstGeom prst="rect">
            <a:avLst/>
          </a:prstGeom>
          <a:solidFill>
            <a:srgbClr val="B83C3C"/>
          </a:solidFill>
          <a:ln w="12700">
            <a:solidFill>
              <a:srgbClr val="B8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83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3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Positives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 &amp; test positive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234440"/>
            <a:ext cx="2057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0" y="1234440"/>
            <a:ext cx="2057400" cy="6400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325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834640" y="18013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0208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&amp; test positive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2057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2057400" cy="6400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560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48640" y="30358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Negatives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2552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&amp; test negative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2057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0" y="2468880"/>
            <a:ext cx="2057400" cy="64008"/>
          </a:xfrm>
          <a:prstGeom prst="rect">
            <a:avLst/>
          </a:prstGeom>
          <a:solidFill>
            <a:srgbClr val="7A7060"/>
          </a:solidFill>
          <a:ln w="12700">
            <a:solidFill>
              <a:srgbClr val="7A7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34640" y="2560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7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2834640" y="30358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7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Negatives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2552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 &amp; test negative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1143000"/>
            <a:ext cx="347472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9496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Surprise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60 positive tests: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3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539496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sick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539496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4069080"/>
            <a:ext cx="3108960" cy="54864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9496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60 = 16.7%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5079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probability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D6A72"/>
                </a:solidFill>
              </a:rPr>
              <a:t>SENSITIVITY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Priors Matter — Enormously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test accuracy fixed (sensitivity 99%, FPR 5%), watch how posterior changes with prevalence: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0876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508760"/>
            <a:ext cx="2286000" cy="3291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3796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37960" y="20574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accuracy.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different posterior — depending on who gets tested.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37960" y="3749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screening programs in low-prevalence populations require careful interpretation.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D6A72">
              <a:alpha val="10000"/>
            </a:srgbClr>
          </a:solidFill>
          <a:ln w="12700">
            <a:solidFill>
              <a:srgbClr val="2A9AA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C97A"/>
                </a:solidFill>
              </a:rPr>
              <a:t>THE BIG IDEAS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Bayesian Thinking Teaches 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97480" cy="3566160"/>
          </a:xfrm>
          <a:prstGeom prst="rect">
            <a:avLst/>
          </a:prstGeom>
          <a:solidFill>
            <a:srgbClr val="0D0D1F"/>
          </a:solidFill>
          <a:ln w="635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73152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Priors Matter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start your reasoning — your prior beliefs — shapes every conclusion you reach. Make your assumptions explicit and defend them.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1097280"/>
            <a:ext cx="2697480" cy="3566160"/>
          </a:xfrm>
          <a:prstGeom prst="rect">
            <a:avLst/>
          </a:prstGeom>
          <a:solidFill>
            <a:srgbClr val="0D0D1F"/>
          </a:solidFill>
          <a:ln w="6350">
            <a:solidFill>
              <a:srgbClr val="2A9A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55848" y="1097280"/>
            <a:ext cx="2697480" cy="73152"/>
          </a:xfrm>
          <a:prstGeom prst="rect">
            <a:avLst/>
          </a:prstGeom>
          <a:solidFill>
            <a:srgbClr val="2A9AA6"/>
          </a:solidFill>
          <a:ln w="12700">
            <a:solidFill>
              <a:srgbClr val="2A9A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280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A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Beliefs Are Fluid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should update belief, not replace it wholesale. Today's posterior becomes tomorrow's prior. Learning is iterative.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54496" y="1097280"/>
            <a:ext cx="2697480" cy="3566160"/>
          </a:xfrm>
          <a:prstGeom prst="rect">
            <a:avLst/>
          </a:prstGeom>
          <a:solidFill>
            <a:srgbClr val="0D0D1F"/>
          </a:solidFill>
          <a:ln w="6350">
            <a:solidFill>
              <a:srgbClr val="B8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54496" y="1097280"/>
            <a:ext cx="2697480" cy="73152"/>
          </a:xfrm>
          <a:prstGeom prst="rect">
            <a:avLst/>
          </a:prstGeom>
          <a:solidFill>
            <a:srgbClr val="B83C3C"/>
          </a:solidFill>
          <a:ln w="12700">
            <a:solidFill>
              <a:srgbClr val="B8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280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Rare Events Are Tricky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19088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base rates are low, even accurate tests produce mostly false positives. Always interpret evidence in context.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posterior is tomorrow's prior.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C9963A">
              <a:alpha val="10000"/>
            </a:srgbClr>
          </a:solidFill>
          <a:ln w="12700">
            <a:solidFill>
              <a:srgbClr val="C9963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D6A72">
              <a:alpha val="12000"/>
            </a:srgbClr>
          </a:solidFill>
          <a:ln w="12700">
            <a:solidFill>
              <a:srgbClr val="2A9AA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C9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to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Consider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315200" cy="566928"/>
          </a:xfrm>
          <a:prstGeom prst="rect">
            <a:avLst/>
          </a:prstGeom>
          <a:solidFill>
            <a:srgbClr val="0D0D1F"/>
          </a:solidFill>
          <a:ln w="381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64008" cy="56692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2779776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research, what serves as our 'prior' when we set out to understand or explain a phenomenon?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7315200" cy="566928"/>
          </a:xfrm>
          <a:prstGeom prst="rect">
            <a:avLst/>
          </a:prstGeom>
          <a:solidFill>
            <a:srgbClr val="0D0D1F"/>
          </a:solidFill>
          <a:ln w="381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64008" cy="56692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3465576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prior beliefs or working theories about  shape interpretation of our analytic findings?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7315200" cy="566928"/>
          </a:xfrm>
          <a:prstGeom prst="rect">
            <a:avLst/>
          </a:prstGeom>
          <a:solidFill>
            <a:srgbClr val="0D0D1F"/>
          </a:solidFill>
          <a:ln w="381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64008" cy="56692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4151376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 Bayesian approach more informative than classical approaches?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</a:rPr>
              <a:t>Howard T. Everson  ·  Advanced Data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710</Words>
  <Application>Microsoft Macintosh PowerPoint</Application>
  <PresentationFormat>On-screen Show (16:9)</PresentationFormat>
  <Paragraphs>117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Thinking the Bayesian Way</dc:title>
  <dc:subject>PptxGenJS Presentation</dc:subject>
  <dc:creator>Howard T. Everson</dc:creator>
  <cp:lastModifiedBy>Howard Everson</cp:lastModifiedBy>
  <cp:revision>2</cp:revision>
  <dcterms:created xsi:type="dcterms:W3CDTF">2026-03-26T17:47:58Z</dcterms:created>
  <dcterms:modified xsi:type="dcterms:W3CDTF">2026-03-27T20:38:18Z</dcterms:modified>
</cp:coreProperties>
</file>