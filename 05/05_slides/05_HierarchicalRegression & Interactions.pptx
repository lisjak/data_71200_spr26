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71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7661"/>
    <p:restoredTop sz="94610"/>
  </p:normalViewPr>
  <p:slideViewPr>
    <p:cSldViewPr snapToGrid="0" snapToObjects="1">
      <p:cViewPr>
        <p:scale>
          <a:sx n="92" d="100"/>
          <a:sy n="92" d="100"/>
        </p:scale>
        <p:origin x="9896" y="3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511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Regression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9260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Theory-Driven Sequential Analysis &amp; Interaction Testing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4572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822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hierarchical regression?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457200" cy="822960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84708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structure &amp; the F-change test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4572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87121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87121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interaction terms are essential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95344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457200" cy="8229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895344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895344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Centering &amp; forming products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8229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822960"/>
            <a:ext cx="4572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8229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822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patterns &amp; simple slopes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847088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1847088"/>
            <a:ext cx="457200" cy="822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847088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184708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Johnson-Neyman &amp; regions of significance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2871216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2871216"/>
            <a:ext cx="4572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87121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94960" y="287121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to avoid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Hierarchical Regression?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regression builds a model in a theoretically driven sequence of steps ("blocks"), allowing researchers to assess the unique contribution of each predictor set after controlling for earlier ones.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572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73152" cy="1188720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5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Theory-driven order of entry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ΔR² at each step is interpretable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confounds before focal predictors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4572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73152" cy="1188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5021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84962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order (avoid!)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theoretical basis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Inflates Type I error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0" y="777240"/>
            <a:ext cx="3657600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49240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1325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ΔR²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5349240" y="2423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variance explained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new block, over and above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previously entered blocks.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49240" y="3611880"/>
            <a:ext cx="33832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49240" y="3730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the F-change statistic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Model: Block Structure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331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2331720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8686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126187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variables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" y="1645920"/>
            <a:ext cx="2112264" cy="27432"/>
          </a:xfrm>
          <a:prstGeom prst="rect">
            <a:avLst/>
          </a:prstGeom>
          <a:solidFill>
            <a:srgbClr val="D1DCEF"/>
          </a:solidFill>
          <a:ln w="12700">
            <a:solidFill>
              <a:srgbClr val="D1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73736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SES, prior ability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8700" y="3246120"/>
            <a:ext cx="91440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700" y="3246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ΔR²1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" y="3749040"/>
            <a:ext cx="2112264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3749040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b₁(ctrl₁) + b₂(ctrl₂)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07792" y="777240"/>
            <a:ext cx="2331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07792" y="777240"/>
            <a:ext cx="2331720" cy="73152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17520" y="8686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B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17520" y="126187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predictors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17520" y="1645920"/>
            <a:ext cx="2112264" cy="27432"/>
          </a:xfrm>
          <a:prstGeom prst="rect">
            <a:avLst/>
          </a:prstGeom>
          <a:solidFill>
            <a:srgbClr val="D1DCEF"/>
          </a:solidFill>
          <a:ln w="12700">
            <a:solidFill>
              <a:srgbClr val="D1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0" y="173736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X₁, X₂  (main effects)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16452" y="3246120"/>
            <a:ext cx="914400" cy="384048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16452" y="3246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ΔR²2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17520" y="3749040"/>
            <a:ext cx="2112264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017520" y="3749040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… + b₃(X₁) + b₄(X₂)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95544" y="777240"/>
            <a:ext cx="2331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95544" y="777240"/>
            <a:ext cx="233172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05272" y="8686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605272" y="126187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05272" y="1645920"/>
            <a:ext cx="2112264" cy="27432"/>
          </a:xfrm>
          <a:prstGeom prst="rect">
            <a:avLst/>
          </a:prstGeom>
          <a:solidFill>
            <a:srgbClr val="D1DCEF"/>
          </a:solidFill>
          <a:ln w="12700">
            <a:solidFill>
              <a:srgbClr val="D1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05272" y="173736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X₁×X₂, X₁×X₃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04204" y="3246120"/>
            <a:ext cx="91440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04204" y="3246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ΔR²3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05272" y="3749040"/>
            <a:ext cx="2112264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05272" y="3749040"/>
            <a:ext cx="2112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… + b₅(X₁ × X₂)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70048" y="1965960"/>
            <a:ext cx="201168" cy="0"/>
          </a:xfrm>
          <a:prstGeom prst="line">
            <a:avLst/>
          </a:prstGeom>
          <a:noFill/>
          <a:ln w="25400">
            <a:solidFill>
              <a:srgbClr val="9EB3D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257800" y="1965960"/>
            <a:ext cx="201168" cy="0"/>
          </a:xfrm>
          <a:prstGeom prst="line">
            <a:avLst/>
          </a:prstGeom>
          <a:noFill/>
          <a:ln w="25400">
            <a:solidFill>
              <a:srgbClr val="9EB3D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941548-A96F-F513-F98B-9E9FE2443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512123"/>
            <a:ext cx="8458200" cy="41192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D16CBC-1B36-5F17-26EC-F69E542604B4}"/>
              </a:ext>
            </a:extLst>
          </p:cNvPr>
          <p:cNvSpPr txBox="1"/>
          <p:nvPr/>
        </p:nvSpPr>
        <p:spPr>
          <a:xfrm>
            <a:off x="265469" y="1238864"/>
            <a:ext cx="8613059" cy="3323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112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Interaction Testing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Essential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9260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consequential — and most frequently omitted — step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Question of Moderation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effect of X₁ on Y depend on the level of X₂?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26974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320040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Misinterpreted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effects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effects may be averages masking opposite effects in different subgroups.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187452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187452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37560" y="2011680"/>
            <a:ext cx="3200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90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policy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25603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may appear uniformly effective when effects are conditional.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187452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1874520"/>
            <a:ext cx="26974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2200" y="2011680"/>
            <a:ext cx="3200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7220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Distorted effect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25603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Omitting a true interaction suppresses or inflates the size of main effects.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moderation is theoretically plausible, it MUST be tested. A non-significant ΔR² is also informative — it rules out moderation.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Centering Before Forming Interaction Products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77724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777240"/>
            <a:ext cx="73152" cy="1280160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822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" y="1188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mean of X₁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M(X₁) = sample mean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44952" y="1417320"/>
            <a:ext cx="155448" cy="0"/>
          </a:xfrm>
          <a:prstGeom prst="line">
            <a:avLst/>
          </a:prstGeom>
          <a:noFill/>
          <a:ln w="25400">
            <a:solidFill>
              <a:srgbClr val="9EB3D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73152" cy="1280160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822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1188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Center:  X₁c = X₁ − M(X₁)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X₂c = X₂ − M(X₂)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1417320"/>
            <a:ext cx="155448" cy="0"/>
          </a:xfrm>
          <a:prstGeom prst="line">
            <a:avLst/>
          </a:prstGeom>
          <a:noFill/>
          <a:ln w="25400">
            <a:solidFill>
              <a:srgbClr val="9EB3D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53328" y="77724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53328" y="777240"/>
            <a:ext cx="73152" cy="1280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822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188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product term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X₁c × X₂c → enter as Block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centering matters: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2651760"/>
            <a:ext cx="4114800" cy="960120"/>
          </a:xfrm>
          <a:prstGeom prst="rect">
            <a:avLst/>
          </a:prstGeom>
          <a:solidFill>
            <a:srgbClr val="EBF0FC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multicollinearity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" y="3017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X₁c×X₂c correlates far less with X₁c and X₂c than the uncentered product correlates with the raw predictors.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45152" y="2651760"/>
            <a:ext cx="4114800" cy="960120"/>
          </a:xfrm>
          <a:prstGeom prst="rect">
            <a:avLst/>
          </a:prstGeom>
          <a:solidFill>
            <a:srgbClr val="EBF0FC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82312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main effects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82312" y="3017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centering, b₃ and b₄ represent the effect of each predictor at the mean of the other — a meaningful reference point.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3749040"/>
            <a:ext cx="4114800" cy="960120"/>
          </a:xfrm>
          <a:prstGeom prst="rect">
            <a:avLst/>
          </a:prstGeom>
          <a:solidFill>
            <a:srgbClr val="EBF0FC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standard errors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" y="4114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Uncentered products inflate VIFs dramatically, widening confidence intervals and reducing power to detect the interaction itself.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45152" y="3749040"/>
            <a:ext cx="4114800" cy="960120"/>
          </a:xfrm>
          <a:prstGeom prst="rect">
            <a:avLst/>
          </a:prstGeom>
          <a:solidFill>
            <a:srgbClr val="EBF0FC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82312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to fit statistics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82312" y="4114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Centering does not alter R², ΔR², F-change, or the interaction coefficient — only the interpretation of lower-order terms.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ΔR²: The F-Change Statistic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77724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8046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ΔR² / Δdf 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63040" y="1353312"/>
            <a:ext cx="3200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( 1 − R²full ) / ( N − k − 1 )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components: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640080" cy="457200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Δdf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new predictors added (usually 1 for a single two-way interaction)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90088"/>
            <a:ext cx="640080" cy="457200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990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R²full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990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from the full model with all predictors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557016"/>
            <a:ext cx="640080" cy="457200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5570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5570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 size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23944"/>
            <a:ext cx="640080" cy="457200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1239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1239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predictors in the full model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057400"/>
            <a:ext cx="4297680" cy="2606040"/>
          </a:xfrm>
          <a:prstGeom prst="rect">
            <a:avLst/>
          </a:prstGeom>
          <a:solidFill>
            <a:srgbClr val="EBF0FC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2057400"/>
            <a:ext cx="42976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2148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0" y="2606040"/>
            <a:ext cx="82296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2606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.05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29900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 adds meaningful variance beyond main effects. Proceed with full interaction model and probe simple slopes.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611880"/>
            <a:ext cx="822960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36118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≥ .05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39959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moderation detected. Report the main-effects-only model. An insignificant ΔR² still rules out moderation.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Canonical Interaction Patterns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251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4251960" cy="640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886968"/>
            <a:ext cx="256032" cy="25603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8686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(synergistic)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527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don't cross. X₂ amplifies X₁'s effect — direction is the same at all levels.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56232"/>
            <a:ext cx="3977640" cy="36576"/>
          </a:xfrm>
          <a:prstGeom prst="rect">
            <a:avLst/>
          </a:prstGeom>
          <a:solidFill>
            <a:srgbClr val="D1DCEF"/>
          </a:solidFill>
          <a:ln w="12700">
            <a:solidFill>
              <a:srgbClr val="D1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4767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— High-resource students benefit more from tutoring than low-resource peers.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251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4251960" cy="6400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92040" y="886968"/>
            <a:ext cx="256032" cy="256032"/>
          </a:xfrm>
          <a:prstGeom prst="ellipse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57800" y="8686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Disordinal (crossover)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2527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cross. Effect of X₁ reverses across levels of X₂.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856232"/>
            <a:ext cx="3977640" cy="36576"/>
          </a:xfrm>
          <a:prstGeom prst="rect">
            <a:avLst/>
          </a:prstGeom>
          <a:solidFill>
            <a:srgbClr val="D1DCEF"/>
          </a:solidFill>
          <a:ln w="12700">
            <a:solidFill>
              <a:srgbClr val="D1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194767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— Structured instruction helps low-prior-knowledge students but harms high-knowledge students.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4251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4251960" cy="640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990088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29718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 (attenuation)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3558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 weakens or eliminates X₁'s effect. Common in resilience research.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3977640" cy="36576"/>
          </a:xfrm>
          <a:prstGeom prst="rect">
            <a:avLst/>
          </a:prstGeom>
          <a:solidFill>
            <a:srgbClr val="D1DCEF"/>
          </a:solidFill>
          <a:ln w="12700">
            <a:solidFill>
              <a:srgbClr val="D1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05079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— Social support buffers the negative effect of stress on academic performance.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880360"/>
            <a:ext cx="4251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425196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92040" y="2990088"/>
            <a:ext cx="256032" cy="25603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57800" y="29718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Fan-spread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3558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converge at low X₁, diverge at high X₁. Ubiquitous in test score data.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959352"/>
            <a:ext cx="3977640" cy="36576"/>
          </a:xfrm>
          <a:prstGeom prst="rect">
            <a:avLst/>
          </a:prstGeom>
          <a:solidFill>
            <a:srgbClr val="D1DCEF"/>
          </a:solidFill>
          <a:ln w="12700">
            <a:solidFill>
              <a:srgbClr val="D1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405079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— Achievement gaps widen as instructional intensity increases.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B04BAA-0188-A5F8-6C52-AEDDE07B9345}"/>
              </a:ext>
            </a:extLst>
          </p:cNvPr>
          <p:cNvSpPr txBox="1"/>
          <p:nvPr/>
        </p:nvSpPr>
        <p:spPr>
          <a:xfrm>
            <a:off x="928255" y="1094508"/>
            <a:ext cx="7398327" cy="3477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56B82-8683-AD37-84D1-78A6D1825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1976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Slopes: Probing a Significant Interaction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fitting the full model, compute predicted values of Y at combinations of X₁ and X₂ levels (typically ±1 SD). Plot the result as a family of regression lines — one per level of X₂.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slope equations: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73152" cy="5943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0025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X₂ (+1 SD)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27685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b₁ + b₅(+1) = b₁ + b₅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79192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679192"/>
            <a:ext cx="73152" cy="5943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7157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X₂ (0)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9900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b₁ + b₅(0) = b₁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392424"/>
            <a:ext cx="73152" cy="59436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3429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X₂ (−1 SD)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7033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b₁ + b₅(−1) = b₁ − b₅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66360" y="1508760"/>
            <a:ext cx="365760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0" y="1600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each simple slope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199339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simple slope has its own t-test and confidence interval. A visually dramatic fan pattern may not reach significance with small N — always test formally.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66360" y="3200400"/>
            <a:ext cx="3657600" cy="1463040"/>
          </a:xfrm>
          <a:prstGeom prst="rect">
            <a:avLst/>
          </a:prstGeom>
          <a:solidFill>
            <a:srgbClr val="EBF0FC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0" y="32735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main effects with a significant interaction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3657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interaction is significant, b₃ and b₄ describe each predictor's effect only at the mean (zero) of the other — not as a simple "average" effect. Interpret with caution.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±1 SD: The Johnson-Neyman Technique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Johnson-Neyman (J-N) technique identifies the exact values of X₂ at which the simple slope of X₁ transitions from statistically significant to non-significant — without relying on arbitrary cut-points.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605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60520" cy="73152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Pick-a-point (±1 SD)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and widely reported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visualize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575304"/>
            <a:ext cx="3886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cut-points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miss boundaries within the distribution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separate tests per point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91640"/>
            <a:ext cx="41605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1691640"/>
            <a:ext cx="4160520" cy="73152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5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Johnson-Neyman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1762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87168"/>
            <a:ext cx="3886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exact significance boundary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region of significance in X₂ units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full distribution of X₂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6210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922776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intuitive to non-specialists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can be complex to present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interactions package (R)  |  PROCESS macro (SPSS/SAS)  |  Both compute J-N regions and produce floodlight graphs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475488" cy="12618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interaction test entirely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2527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published studies stop at Block 2. If moderation is theoretically possible, it must be tested.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67128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167128"/>
            <a:ext cx="475488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167128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2258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main effects when interaction is significant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426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significant interaction, b₃ and b₄ describe effects only at the mean of the other predictor — not average effects.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57016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557016"/>
            <a:ext cx="475488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557016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36484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mean-center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03250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Uncentered products create extreme multicollinearity, inflate SEs, and make main-effect coefficients nearly uninterpretable.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777240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92040" y="777240"/>
            <a:ext cx="475488" cy="12618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777240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sample size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12527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interactions needs 4–8× the N required for equivalent main effects (McClelland &amp; Judd, 1993). N &lt; 200 warrants concern.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167128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92040" y="2167128"/>
            <a:ext cx="475488" cy="12618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2167128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0" y="2258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on the plot without formal slope tests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26426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visually striking fan-spread may not be statistically significant. Always supplement plots with t-tests or CIs for each simple slope.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9260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Regression &amp; Interaction Testing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A"/>
                </a:solidFill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502920" cy="1280160"/>
          </a:xfrm>
          <a:prstGeom prst="rect">
            <a:avLst/>
          </a:prstGeom>
          <a:solidFill>
            <a:srgbClr val="3A5BBD"/>
          </a:solidFill>
          <a:ln w="12700">
            <a:solidFill>
              <a:srgbClr val="3A5B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86868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drives block order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1234440"/>
            <a:ext cx="3493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→ main effects → interactions. ΔR² quantifies each block's unique contribution.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502920" cy="12801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77724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76672" y="86868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before you multiply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76672" y="1234440"/>
            <a:ext cx="3493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Mean-centering both predictors before forming the product reduces multicollinearity and keeps main effects interpretable.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194560"/>
            <a:ext cx="502920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19456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" y="22860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test the interaction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" y="2651760"/>
            <a:ext cx="3493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main-effects-only model assumes parallel slopes. This assumption must be tested, not assumed.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194560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50292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219456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76672" y="22860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and test simple slopes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76672" y="2651760"/>
            <a:ext cx="3493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every significant interaction with a simple slopes graph AND formal t-tests or confidence intervals.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611880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611880"/>
            <a:ext cx="502920" cy="1280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361188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1832" y="370332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J-N for precision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1832" y="4069080"/>
            <a:ext cx="3493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Johnson-Neyman technique identifies exact regions of significance without relying on arbitrary ±1 SD cut-points.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611880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D0F5"/>
            </a:solidFill>
            <a:prstDash val="solid"/>
          </a:ln>
          <a:effectLst>
            <a:outerShdw blurRad="63500" dist="25400" dir="81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54880" y="3611880"/>
            <a:ext cx="5029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361188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76672" y="370332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matters enormously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76672" y="4069080"/>
            <a:ext cx="34930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require far larger samples than main effects. Plan accordingly — N &lt; 200 is typically insufficient.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1419</Words>
  <Application>Microsoft Macintosh PowerPoint</Application>
  <PresentationFormat>On-screen Show (16:9)</PresentationFormat>
  <Paragraphs>215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Regression Modeling</dc:title>
  <dc:subject>PptxGenJS Presentation</dc:subject>
  <dc:creator>Howard</dc:creator>
  <cp:lastModifiedBy>Howard Everson</cp:lastModifiedBy>
  <cp:revision>6</cp:revision>
  <dcterms:created xsi:type="dcterms:W3CDTF">2026-03-19T18:01:54Z</dcterms:created>
  <dcterms:modified xsi:type="dcterms:W3CDTF">2026-03-19T18:30:31Z</dcterms:modified>
</cp:coreProperties>
</file>