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3"/>
    <p:restoredTop sz="94599"/>
  </p:normalViewPr>
  <p:slideViewPr>
    <p:cSldViewPr snapToGrid="0" snapToObjects="1">
      <p:cViewPr varScale="1">
        <p:scale>
          <a:sx n="257" d="100"/>
          <a:sy n="257" d="100"/>
        </p:scale>
        <p:origin x="384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8B1A2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1A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F49-F74B-B623-C16A428D95CB}"/>
              </c:ext>
            </c:extLst>
          </c:dPt>
          <c:dPt>
            <c:idx val="1"/>
            <c:invertIfNegative val="0"/>
            <c:bubble3D val="0"/>
            <c:spPr>
              <a:solidFill>
                <a:srgbClr val="8B1A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49-F74B-B623-C16A428D95CB}"/>
              </c:ext>
            </c:extLst>
          </c:dPt>
          <c:dPt>
            <c:idx val="2"/>
            <c:invertIfNegative val="0"/>
            <c:bubble3D val="0"/>
            <c:spPr>
              <a:solidFill>
                <a:srgbClr val="1A3A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49-F74B-B623-C16A428D95CB}"/>
              </c:ext>
            </c:extLst>
          </c:dPt>
          <c:dPt>
            <c:idx val="3"/>
            <c:invertIfNegative val="0"/>
            <c:bubble3D val="0"/>
            <c:spPr>
              <a:solidFill>
                <a:srgbClr val="7A6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49-F74B-B623-C16A428D95CB}"/>
              </c:ext>
            </c:extLst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F49-F74B-B623-C16A428D95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Hypertension</c:v>
                </c:pt>
                <c:pt idx="1">
                  <c:v>Heart disease</c:v>
                </c:pt>
                <c:pt idx="2">
                  <c:v>Age (+1 yr)</c:v>
                </c:pt>
                <c:pt idx="3">
                  <c:v>Glucose (+1)</c:v>
                </c:pt>
                <c:pt idx="4">
                  <c:v>BMI (+1)
[protective]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2.141</c:v>
                </c:pt>
                <c:pt idx="1">
                  <c:v>1.9430000000000001</c:v>
                </c:pt>
                <c:pt idx="2">
                  <c:v>1.046</c:v>
                </c:pt>
                <c:pt idx="3">
                  <c:v>1.004</c:v>
                </c:pt>
                <c:pt idx="4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F49-F74B-B623-C16A428D95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b"/>
        <c:majorGridlines>
          <c:spPr>
            <a:ln w="6350" cap="flat">
              <a:solidFill>
                <a:srgbClr val="DDD5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F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5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21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8B1A2D">
              <a:alpha val="15000"/>
            </a:srgbClr>
          </a:solidFill>
          <a:ln w="6350">
            <a:solidFill>
              <a:srgbClr val="8B1A2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3566160"/>
            <a:ext cx="1828800" cy="1828800"/>
          </a:xfrm>
          <a:prstGeom prst="ellipse">
            <a:avLst/>
          </a:prstGeom>
          <a:solidFill>
            <a:srgbClr val="C9A84C">
              <a:alpha val="10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Stroke Probability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4754880" cy="27432"/>
          </a:xfrm>
          <a:prstGeom prst="rect">
            <a:avLst/>
          </a:prstGeom>
          <a:solidFill>
            <a:srgbClr val="9AA3B0">
              <a:alpha val="60000"/>
            </a:srgbClr>
          </a:solidFill>
          <a:ln w="12700">
            <a:solidFill>
              <a:srgbClr val="9AA3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Dataset  ·  N = 4,886  ·  Three Multivariate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&amp; Quantitative Methods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&amp;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is the </a:t>
            </a: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leading cause of death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globally (WHO), accounting for ~11% of all deaths.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uses the WHO Stroke Prediction Dataset to fit three competing logistic regression models estimating the probability of stroke.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the best-fitting, most parsimonious model and interpret the clinical and demographic predictors.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5,110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63440" y="1901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09728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3720" y="1280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4,886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903720" y="1901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sample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3456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events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265176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2834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3456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prevalence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886200"/>
            <a:ext cx="4114800" cy="658368"/>
          </a:xfrm>
          <a:prstGeom prst="rect">
            <a:avLst/>
          </a:prstGeom>
          <a:solidFill>
            <a:srgbClr val="EDE8E0"/>
          </a:solidFill>
          <a:ln w="6350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931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Exclusions: 1 non-binary gender case (perfect separation), 201 missing BMI, 22 'Never_worked' (zero events)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Competing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188720"/>
            <a:ext cx="475488" cy="47548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81051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predictors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Sex (female)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1638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Marital status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419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Residence type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560320" cy="36576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10712" y="118872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10712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9272" y="181051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Risk Factors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2304288"/>
            <a:ext cx="155448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304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Fit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2633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predictors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227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3483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Hypertension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0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Heart disease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3995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Avg. glucose level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74720" y="4251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2560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99632" y="1188720"/>
            <a:ext cx="475488" cy="47548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9632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08192" y="181051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08192" y="23042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predictors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Model 2 vars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Smoking status (3 dummies)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1638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Work type (3 dummies)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3419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Marital status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63640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Residence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categories: Male, Not married, Rural, Private sector, Never smoked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Fit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768096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McFadden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Nagelkerke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— Demographics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B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— Clinical  ★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8B1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— Full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 Ratio Tests (Nested Comparisons)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84448"/>
          <a:ext cx="8412480" cy="1234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ΔLR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vs M1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.317 (ns)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vars do not significantly improve over demographics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vs M2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(ns)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Lifestyle/smoking vars worsen fit; AIC penalizes 8 extra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penalizes model complexity — lower is better. Model 2 achieves the best balance of fit and parsimony.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Parameter Estimates — Best-Fitting Model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7863840" cy="2926077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(per year)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[1.037, 1.055]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[1.544, 2.969]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[1.325, 2.850]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854F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glucose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54F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[1.002, 1.007]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54F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[0.949, 0.992]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.009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sex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[0.670, 1.172]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.397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AA3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Hypertension (OR = 2.14) and Heart Disease (OR = 1.94) are the dominant clinical risk factors — each roughly doubles stroke odds, controlling for age and glucose.</a:t>
            </a:r>
            <a:endParaRPr lang="en-US" sz="1200" dirty="0"/>
          </a:p>
        </p:txBody>
      </p:sp>
      <p:sp>
        <p:nvSpPr>
          <p:cNvPr id="4" name="Text 3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p &lt; .001   ** p &lt; .01   * p &lt; .05   ns = not significant   |   Null log-likelihood = −863.19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Odds Ratios — Model 2 Clinical Predictors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1627632" y="1005840"/>
            <a:ext cx="0" cy="3749040"/>
          </a:xfrm>
          <a:prstGeom prst="line">
            <a:avLst/>
          </a:prstGeom>
          <a:noFill/>
          <a:ln w="12700">
            <a:solidFill>
              <a:srgbClr val="8B1A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64208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1.0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effect)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0" y="105156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0" y="1051560"/>
            <a:ext cx="64008" cy="8229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1097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3796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predictor. Patients with hypertension have 2.1× the odds of stroke vs. normotensives.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1984248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0" y="1984248"/>
            <a:ext cx="64008" cy="8229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2029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23042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doubles odds (OR = 1.94). Shares vascular pathophysiology with hypertension.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2916936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0" y="2916936"/>
            <a:ext cx="64008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37960" y="29626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323697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raises odds by 4.6%. Cumulative: a 70-yr-old has ~3× higher odds than a 45-yr-old.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3849624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0" y="3849624"/>
            <a:ext cx="64008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37960" y="3895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 (protective)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37960" y="416966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0.97 — modest inverse effect, likely reflecting the obesity-survival paradox in this sample.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Stroke Probabilities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evaluated at three patient profiles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3291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Patient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0195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2724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035808"/>
            <a:ext cx="2286000" cy="13716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310896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 43, ~59% female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41985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HTN prevalence: 9.2%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7307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Glucose: 105 mg/dL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404164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BMI: 29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743200" cy="3291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93008" y="14813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Low-Risk Profile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190195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8E6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493008" y="2724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3035808"/>
            <a:ext cx="2286000" cy="13716"/>
          </a:xfrm>
          <a:prstGeom prst="rect">
            <a:avLst/>
          </a:prstGeom>
          <a:solidFill>
            <a:srgbClr val="A8E6C0">
              <a:alpha val="40000"/>
            </a:srgbClr>
          </a:solidFill>
          <a:ln w="12700">
            <a:solidFill>
              <a:srgbClr val="A8E6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310896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 40, female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84448" y="341985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HTN, no heart disease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84448" y="37307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Glucose: 85 mg/dL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84448" y="404164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BMI: 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2743200" cy="32918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9088" y="14813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High-Risk Profile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190195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D0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33.1%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6419088" y="2724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3035808"/>
            <a:ext cx="2286000" cy="13716"/>
          </a:xfrm>
          <a:prstGeom prst="rect">
            <a:avLst/>
          </a:prstGeom>
          <a:solidFill>
            <a:srgbClr val="FFD0D0">
              <a:alpha val="40000"/>
            </a:srgbClr>
          </a:solidFill>
          <a:ln w="12700">
            <a:solidFill>
              <a:srgbClr val="FFD0D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10528" y="310896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 70, male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10528" y="341985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Hypertension + Heart disease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37307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Glucose: 180 mg/dL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10528" y="404164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BMI: 30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EDE8E0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4773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high-risk patient profile is 12× more likely to have a stroke than the average patient — and 15× more likely than the low-risk profile.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— Full Model: Notable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Significant in Full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49961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1.053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as strongest predictor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Female sex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2768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0.742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9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after full adjustment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054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1.681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Attenuated but significant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7647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31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831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1.479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239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Attenuated in full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144475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0" y="1499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Avg. glucose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149961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1.003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1792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at smaller magnitude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22199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2276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94760" y="22768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0.968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2569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effect confirmed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299923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0" y="30540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Self-employed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94760" y="3054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0.672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3467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Private sector workers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68880" y="3776472"/>
            <a:ext cx="1965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0" y="3831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 married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94760" y="3831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0.652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0" y="41239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— confounded with 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1005840"/>
            <a:ext cx="4023360" cy="3520440"/>
          </a:xfrm>
          <a:prstGeom prst="rect">
            <a:avLst/>
          </a:prstGeom>
          <a:solidFill>
            <a:srgbClr val="EDE8E0"/>
          </a:solidFill>
          <a:ln w="9525">
            <a:solidFill>
              <a:srgbClr val="D5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Significant in Full Model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93776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smoked (OR = 0.873, ns)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2048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smokes (OR = 0.863, ns)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2523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job (OR = 0.699, p = .098)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category (OR = 0.266, ns)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residence (OR = 0.869, ns)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3383280"/>
            <a:ext cx="4023360" cy="777240"/>
          </a:xfrm>
          <a:prstGeom prst="rect">
            <a:avLst/>
          </a:prstGeom>
          <a:solidFill>
            <a:srgbClr val="FFF8E8"/>
          </a:solidFill>
          <a:ln w="9525">
            <a:solidFill>
              <a:srgbClr val="E8C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34290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'Unknown' smoking status shows OR = 0.516 (p = .003) — likely a younger, lower-risk subgroup where status went unrecorded, not a protective effect of missing 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321040" cy="85039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640080" cy="85039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338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is the best-fitting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4264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risk factor model (AIC = 1,418.8, AUC = 0.844, Nagelkerke R² = .214) balances fit and parsimony. It outperforms both the simpler demographic model and the over-parameterized full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39112"/>
            <a:ext cx="8321040" cy="85039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640080" cy="85039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939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Hypertension and heart disease dominate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3865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roughly double stroke odds (OR = 2.14 and 1.94) — the strongest modifiable risk factors in the data. Age contributes independently at ~4.6% per year.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8321040" cy="85039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640080" cy="85039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54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Lifestyle variables add no predictive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3467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work type, residence, and marital status fail to improve model fit beyond the clinical predictors (ΔLR = −5.0 for M3 vs M2).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59352"/>
            <a:ext cx="8321040" cy="85039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959352"/>
            <a:ext cx="640080" cy="85039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959352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0142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is highly heterogeneous across patients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306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 ranges from 2.2% (low-risk profile) to 33.1% (high-risk profile) — a 15-fold difference within the same dataset.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AUC = 0.844 — correctly rank-orders 84% of stroke vs. non-stroke patient pairs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1074</Words>
  <Application>Microsoft Macintosh PowerPoint</Application>
  <PresentationFormat>On-screen Show (16:9)</PresentationFormat>
  <Paragraphs>237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Stroke Probability: A Logistic Regression Analysis</dc:title>
  <dc:subject>PptxGenJS Presentation</dc:subject>
  <dc:creator>PptxGenJS</dc:creator>
  <cp:lastModifiedBy>Howard Everson</cp:lastModifiedBy>
  <cp:revision>1</cp:revision>
  <dcterms:created xsi:type="dcterms:W3CDTF">2026-03-26T19:38:18Z</dcterms:created>
  <dcterms:modified xsi:type="dcterms:W3CDTF">2026-03-27T20:46:27Z</dcterms:modified>
</cp:coreProperties>
</file>