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9" r:id="rId13"/>
    <p:sldId id="300" r:id="rId14"/>
    <p:sldId id="279" r:id="rId15"/>
    <p:sldId id="280" r:id="rId16"/>
    <p:sldId id="281" r:id="rId17"/>
    <p:sldId id="282" r:id="rId18"/>
    <p:sldId id="283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59" r:id="rId31"/>
    <p:sldId id="260" r:id="rId32"/>
    <p:sldId id="261" r:id="rId33"/>
    <p:sldId id="298" r:id="rId34"/>
    <p:sldId id="301" r:id="rId35"/>
    <p:sldId id="302" r:id="rId36"/>
    <p:sldId id="303" r:id="rId37"/>
    <p:sldId id="304" r:id="rId38"/>
    <p:sldId id="305" r:id="rId39"/>
    <p:sldId id="306" r:id="rId40"/>
    <p:sldId id="284" r:id="rId41"/>
    <p:sldId id="285" r:id="rId42"/>
    <p:sldId id="286" r:id="rId43"/>
    <p:sldId id="287" r:id="rId44"/>
    <p:sldId id="262" r:id="rId45"/>
    <p:sldId id="263" r:id="rId46"/>
    <p:sldId id="264" r:id="rId47"/>
    <p:sldId id="258" r:id="rId48"/>
    <p:sldId id="265" r:id="rId49"/>
    <p:sldId id="266" r:id="rId50"/>
    <p:sldId id="297" r:id="rId51"/>
    <p:sldId id="307" r:id="rId5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97"/>
    <p:restoredTop sz="94610"/>
  </p:normalViewPr>
  <p:slideViewPr>
    <p:cSldViewPr snapToGrid="0" snapToObjects="1">
      <p:cViewPr>
        <p:scale>
          <a:sx n="261" d="100"/>
          <a:sy n="261" d="100"/>
        </p:scale>
        <p:origin x="15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848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77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58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866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833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470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24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749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9091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0588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634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559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492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2150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62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6218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345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380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725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1342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39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2586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636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9415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6981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19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687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816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568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553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523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265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08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925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274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5355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8402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4301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84023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365760"/>
            <a:ext cx="1828800" cy="182880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2560320"/>
            <a:ext cx="1097280" cy="1097280"/>
          </a:xfrm>
          <a:prstGeom prst="ellipse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ADCFC"/>
                </a:solidFill>
              </a:rPr>
              <a:t>MACHINE LEARNING 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Churn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</a:rPr>
              <a:t>Model performance, feature importance,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</a:rPr>
              <a:t>coefficient interpretation &amp; next steps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Telco Churn Dataset  ·  n = 7,043  ·  3-Model Comparison  ·  3-Fold Stratified CV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65960" cy="3108960"/>
          </a:xfrm>
          <a:prstGeom prst="rect">
            <a:avLst/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659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Dataset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2148840"/>
            <a:ext cx="1746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</a:rPr>
              <a:t>7,043 telco customers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</a:rPr>
              <a:t>19 predictor features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</a:rPr>
              <a:t>Binary outcome: Churn (Yes/No)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1005840"/>
            <a:ext cx="1965960" cy="3108960"/>
          </a:xfrm>
          <a:prstGeom prst="rect">
            <a:avLst/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06040" y="1005840"/>
            <a:ext cx="19659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97480" y="1143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✂️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97480" y="1737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Data Split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15768" y="2148840"/>
            <a:ext cx="1746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</a:rPr>
              <a:t>80% Training (5,634)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</a:rPr>
              <a:t>20% Holdout Test (1,409)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</a:rPr>
              <a:t>Stratified by churn rate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1965960" cy="3108960"/>
          </a:xfrm>
          <a:prstGeom prst="rect">
            <a:avLst/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19659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143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🔁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1737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64608" y="2148840"/>
            <a:ext cx="1746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</a:rPr>
              <a:t>3-fold stratified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</a:rPr>
              <a:t>cross-validation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</a:rPr>
              <a:t>during training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03720" y="1005840"/>
            <a:ext cx="1965960" cy="3108960"/>
          </a:xfrm>
          <a:prstGeom prst="rect">
            <a:avLst/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03720" y="1005840"/>
            <a:ext cx="19659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95160" y="1143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95160" y="1737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Models Tested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13448" y="2148840"/>
            <a:ext cx="1746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</a:rPr>
              <a:t>Gradient Boosting (GBM)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</a:rPr>
              <a:t>Logistic Regression (LR)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</a:rPr>
              <a:t>Random Forest (RF)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Six geographic/administrative columns (zip, lat, long, country, state, city) were excluded as uninformative for modeling.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Customer Churn ML Analysis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92240" y="274320"/>
            <a:ext cx="2011680" cy="201168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23760" y="2651760"/>
            <a:ext cx="1188720" cy="118872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chemeClr val="accent1"/>
                </a:solidFill>
              </a:rPr>
              <a:t>MACHINE LEARNING — ENSEMBLE METHODS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Forests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Bootstrap aggregation · Random feature selection</a:t>
            </a:r>
            <a:endParaRPr lang="en-US" sz="16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OOB error · Variable importance · Bias-variance theory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Telco Churn Case Study  ·  Random Forest Holdout AUC = 0.871  ·  100 Trees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80849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Building Block: Decision Trees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Understanding what a single tree does — and why it is not enough on its own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064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</a:rPr>
              <a:t>How a Decision Tree Works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51790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51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48132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Search all features and all split points for the one that best separates outcome classes (Gini impurity or information gain).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4360" y="197510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193852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Split the data at that point, creating two child nodes.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243230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39572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Recursively apply the same procedure to each partition.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88950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285292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Stop when a criterion is met (depth limit, min samples, or pure leaf).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023360" cy="23317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40233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73168" y="11155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⚠️  The Fundamental Flaw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73168" y="149961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A single deep decision tree is a HIGH-VARIANCE learner.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3168" y="1847088"/>
            <a:ext cx="37947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It fits training data extremely well — sometimes perfectly — but the precise structure of the tree is highly sensitive to which observations happen to be in the training sample.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 small change in the data can produce a dramatically different tree. This is overfitting: the model has memorized the training sample rather than learned the underlying pattern.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11155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56616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The Random Forest Solution — Two Mechanisms Applied Simultaneously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3950208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950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①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42416" y="39502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Bootstrap Aggregation (Bagging)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42416" y="42336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151"/>
                </a:solidFill>
              </a:rPr>
              <a:t>Train each tree on a different random sample of the data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950208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3950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②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57216" y="39502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Random Feature Selection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157216" y="42336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151"/>
                </a:solidFill>
              </a:rPr>
              <a:t>At each split, consider only a random subset of predictors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Random Forests — Ensemble Learning Method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71130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Mechanism 1 — Bootstrap Aggregation (Bagging)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Each tree trains on a unique random sample of the data; predictions are then aggregated across all trees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1920240" cy="21488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66344" y="166420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Original Dataset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" y="210312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n = 5,634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training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observations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59152" y="2057400"/>
            <a:ext cx="210312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0" y="1024128"/>
            <a:ext cx="1920240" cy="21488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0" y="1024128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15184" y="166420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Draw WITH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Replacement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33472" y="210312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Sample n obs;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some repeat,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some excluded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07992" y="2057400"/>
            <a:ext cx="210312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024128"/>
            <a:ext cx="1920240" cy="21488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1024128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🌲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64024" y="166420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Train One Tree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on Bootstrap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82312" y="210312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Each tree sees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~63.2% unique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observations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56832" y="2057400"/>
            <a:ext cx="210312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58000" y="1024128"/>
            <a:ext cx="1920240" cy="21488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58000" y="1024128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🗳️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912864" y="166420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Aggregate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Predictions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31152" y="210312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Majority vote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(classification)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or average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(regression)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273552"/>
            <a:ext cx="3977640" cy="91440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3273552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" y="3319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Out-of-Bag (OOB) Observations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36301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~36.8% of observations not selected in each bootstrap sample. These become a free validation set for that tree — no separate holdout needed.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3273552"/>
            <a:ext cx="40690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3319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</a:rPr>
              <a:t>Why Averaging Works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630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If B trees each have variance σ² and uncorrelated errors: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0" y="3886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Var(average) = σ² / B  →  shrinks with every tree added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315968"/>
            <a:ext cx="2715768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33425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</a:rPr>
              <a:t>63.2%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463040" y="43708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unique obs. per bootstrap sample (avg.)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55848" y="4315968"/>
            <a:ext cx="2715768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355848" y="433425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</a:rPr>
              <a:t>36.8%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4361688" y="43708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OOB obs. per tree — free validation set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54496" y="4315968"/>
            <a:ext cx="2715768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54496" y="433425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</a:rPr>
              <a:t>÷ B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260336" y="43708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variance reduction from averaging B trees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Random Forests — Ensemble Learning Method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60001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Mechanism 2 — Random Feature Selection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The distinguishing step that separates random forests from plain bagging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3977640" cy="117043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64008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698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Problem with plain bagging alone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40817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If one feature is a dominant predictor (e.g., contract type in your churn model), nearly every tree uses it near its root. Trees are highly correlated — they make similar errors. Averaging correlated errors does NOT reduce variance much.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024128"/>
            <a:ext cx="3977640" cy="117043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024128"/>
            <a:ext cx="64008" cy="1170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0698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The random forest solution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40817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At each node of each tree, only a random subset m of the p total features is considered for the split. Contract type may be excluded at a critical node, forcing the tree to find signal through tenure, charges, or dependents instead.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82296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</a:rPr>
              <a:t>Standard Rule for m  (features sampled per split):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679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Classification:  m ≈ √p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679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Regression:  m ≈ p /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77640" y="23774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ADCFC"/>
                </a:solidFill>
              </a:rPr>
              <a:t>With 19 features: m ≈ √19 ≈ 4 features considered at each node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2715768" cy="1508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271576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246120"/>
            <a:ext cx="2715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🌲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8640" y="3703320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</a:rPr>
              <a:t>Structurally Diverse Trees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041648"/>
            <a:ext cx="2532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Each tree is forced to build different structures using different features — no two trees look the same.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55848" y="3154680"/>
            <a:ext cx="2715768" cy="1508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55848" y="3154680"/>
            <a:ext cx="271576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55848" y="3246120"/>
            <a:ext cx="2715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447288" y="3703320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</a:rPr>
              <a:t>Weakly Correlated Errors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47288" y="4041648"/>
            <a:ext cx="2532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When trees use different features at key nodes, they make different types of errors — low correlation between predictions.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4496" y="3154680"/>
            <a:ext cx="2715768" cy="1508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54496" y="3154680"/>
            <a:ext cx="271576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54496" y="3246120"/>
            <a:ext cx="2715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345936" y="3703320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</a:rPr>
              <a:t>Maximum Variance Reduction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45936" y="4041648"/>
            <a:ext cx="2532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Averaging weakly correlated predictors reduces variance far more than averaging highly correlated ones.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Random Forests — Ensemble Learning Method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40797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OOB Error Estimation &amp; Variable Importance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Two powerful byproducts of the random forest design that require no additional computation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42416"/>
            <a:ext cx="3977640" cy="2788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📊  Out-of-Bag (OOB) Error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9961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</a:rPr>
              <a:t>A built-in, nearly unbiased estimate of generalization error — at no additional cost.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97510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975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32688" y="19385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Each tree is trained on a bootstrap sample, leaving ~36.8% of observations as OOB.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243230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432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32688" y="23957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For each observation, collect predictions from only the trees that did NOT see it during training.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288950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889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2688" y="28529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Aggregate those OOB-only predictions to get one prediction per observation.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334670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32688" y="33101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Average OOB error across all observations = a cross-validation-quality estimate without a separate validation set.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1042416"/>
            <a:ext cx="3977640" cy="27889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28032" y="10972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🎯  Variable Importance — Two Measures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28032" y="1508760"/>
            <a:ext cx="3749040" cy="105156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19472" y="1554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Mean Decrease in Impurity (MDI)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19472" y="183794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Records Gini reduction at every split. Fast, but biased toward high-cardinality continuous features. Used to identify which variables are used most often and at highest-impact nodes.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28032" y="2651760"/>
            <a:ext cx="3749040" cy="106984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9472" y="2697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Permutation Importance ✓ Preferred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19472" y="299923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Shuffles each feature's values in OOB data; measures the drop in accuracy. Directly quantifies predictive contribution rather than tree structure. Used in your Python churn analysis.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968496"/>
            <a:ext cx="8229600" cy="66751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3968496"/>
            <a:ext cx="64008" cy="6675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" y="40050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Important caveat: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03120" y="4005072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 low-ranked feature does not mean it is unimportant. Its signal may be captured through interactions with higher-ranked features, or absorbed by a correlated predictor. Permutation importance is more reliable than MDI for this reason — it measures actual predictive contribution.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Random Forests — Ensemble Learning Method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99075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 Hyperparameters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Random forests are low-maintenance — most defaults work well, and they cannot overfit by adding more trees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343400" cy="1115568"/>
          </a:xfrm>
          <a:prstGeom prst="rect">
            <a:avLst/>
          </a:prstGeom>
          <a:solidFill>
            <a:srgbClr val="F0FDF4"/>
          </a:solidFill>
          <a:ln w="254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133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133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Number of Trees (B)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913632" y="1133856"/>
            <a:ext cx="804672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13632" y="114300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100–1,000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48132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More trees reduce variance monotonically — there is NO overfitting risk from adding trees, unlike gradient boosting. Returns diminish past ~500. Your churn model used 100.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4343400" cy="11155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Features per Split (m)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13632" y="2359152"/>
            <a:ext cx="80467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13632" y="236829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≈ √p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70662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The primary regularization knob. Smaller m → more decorrelated trees → greater variance reduction, but higher bias. Default √p for classification is usually optimal.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4343400" cy="11155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529584"/>
            <a:ext cx="64008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3584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Max Tree Depth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913632" y="3584448"/>
            <a:ext cx="804672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13632" y="35935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Unlimited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9319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Random forests use deep trees (low bias) and rely on averaging to control variance — the opposite philosophy to gradient boosting's shallow trees. Default is full depth.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74920" y="1078992"/>
            <a:ext cx="4343400" cy="11155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74920" y="1078992"/>
            <a:ext cx="64008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84648" y="1133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🍃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715000" y="1133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Min Samples per Leaf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531352" y="1133856"/>
            <a:ext cx="804672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531352" y="114300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1–5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0" y="148132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Controls tree depth indirectly. Larger values produce smoother predictions by preventing very small leaf nodes. Usually left at default unless data is noisy.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74920" y="2304288"/>
            <a:ext cx="4343400" cy="11155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074920" y="2304288"/>
            <a:ext cx="6400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84648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71500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Bootstrap Sampling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531352" y="2359152"/>
            <a:ext cx="80467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531352" y="236829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True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12080" y="270662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Setting to False with feature subsampling only gives the 'Extra-Trees' variant — faster training, similar accuracy. Standard random forests use bootstrap = True.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74920" y="3456432"/>
            <a:ext cx="3657600" cy="12252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193792" y="35021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🏆  Key Differentiator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93792" y="3822192"/>
            <a:ext cx="3429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Adding more trees NEVER causes overfitting — variance decreases monotonically with B. This makes random forests far more forgiving than gradient boosting, which requires careful early stopping.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Random Forests — Ensemble Learning Method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100213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Statistical Foundation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Why random forests reliably occupy a favorable position in the bias-variance tradeoff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42416"/>
            <a:ext cx="82296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88136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MSE Decomposition:  MSE = Bias² + Variance + Irreducible Error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3560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</a:rPr>
              <a:t>Random forests target VARIANCE — leaving bias essentially unchanged while dramatically shrinking variance through averaging.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715768" cy="2743200"/>
          </a:xfrm>
          <a:prstGeom prst="rect">
            <a:avLst/>
          </a:prstGeom>
          <a:solidFill>
            <a:srgbClr val="FFF1F2"/>
          </a:solidFill>
          <a:ln w="19050">
            <a:solidFill>
              <a:srgbClr val="FECD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Single Decision Tree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487168"/>
            <a:ext cx="1097280" cy="329184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5054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Bias: Low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83080" y="2487168"/>
            <a:ext cx="1261872" cy="329184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83080" y="250545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Var: HIGH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907792"/>
            <a:ext cx="2532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Fits training data well but extremely sensitive to the specific training sample. Small data changes → radically different tree.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2532888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178808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Unreliable — overfit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55848" y="1920240"/>
            <a:ext cx="2715768" cy="2743200"/>
          </a:xfrm>
          <a:prstGeom prst="rect">
            <a:avLst/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47288" y="196596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Bagging Only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(no feature subsampling)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93008" y="2487168"/>
            <a:ext cx="1097280" cy="329184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93008" y="25054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Bias: 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81728" y="2487168"/>
            <a:ext cx="1261872" cy="329184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81728" y="250545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Var: Moderate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47288" y="2907792"/>
            <a:ext cx="2532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Trees are structurally similar — dominant features appear in most trees. Correlated errors mean averaging provides limited variance reduction.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47288" y="4160520"/>
            <a:ext cx="253288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47288" y="4178808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Better — but limited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54496" y="1920240"/>
            <a:ext cx="2715768" cy="2743200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45936" y="196596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Random Forest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(bagging + feature sampling)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91656" y="2487168"/>
            <a:ext cx="1097280" cy="329184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91656" y="25054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Bias: Low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80376" y="2487168"/>
            <a:ext cx="1261872" cy="329184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80376" y="250545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Var: LOW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45936" y="2907792"/>
            <a:ext cx="2532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Feature subsampling forces structural diversity. Weakly correlated errors enable dramatic variance reduction through averaging.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45936" y="4160520"/>
            <a:ext cx="2532888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45936" y="4178808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Best — both low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Random Forests — Ensemble Learning Method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185843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 vs. Gradient Boosting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The two dominant ensemble tree methods take opposite approaches to the bias-variance problem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42416"/>
            <a:ext cx="82296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Property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60720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Gradient Boosting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44752"/>
            <a:ext cx="8229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5179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Tree construction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1517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Parallel &amp; independent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15179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</a:rPr>
              <a:t>Sequential &amp; dependent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79092"/>
            <a:ext cx="8229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9522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Primary target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9522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Variance reduction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19522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Bias reduction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13432"/>
            <a:ext cx="8229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3865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Individual tree type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23865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Deep (low bias, high var)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23865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Shallow (high bias, low var)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47772"/>
            <a:ext cx="8229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28209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Overfitting w/ more trees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28209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</a:rPr>
              <a:t>No — safe to add more 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28209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Yes — requires early stopping ⚠️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182112"/>
            <a:ext cx="8229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3255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Hyperparameter sensitivity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32552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</a:rPr>
              <a:t>Low — defaults work well 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32552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High — needs careful tuning ⚠️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16452"/>
            <a:ext cx="8229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36896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Training speed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0" y="36896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</a:rPr>
              <a:t>Fast (parallelizable) 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60720" y="36896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Slower (sequential) ⚠️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050792"/>
            <a:ext cx="8229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41239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4151"/>
                </a:solidFill>
              </a:rPr>
              <a:t>Typical performance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0" y="4123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Robust; great on noisy data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60720" y="41239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Higher ceiling on clean data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507992"/>
            <a:ext cx="822960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360" y="4544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Your Churn Results: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011680" y="4544568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RF AUC = 0.871  ·  GBM AUC = 0.870  ·  LR AUC = 0.864  →  Essentially identical — strong signal captured equally well by all three methods on this dataset.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Random Forests — Ensemble Learning Method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130434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Random Forests Have Endured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One of the most widely deployed ML methods for more than two decades — for good reason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715768" cy="166420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71576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2715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61848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</a:rPr>
              <a:t>Near-Zero Maintenance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5328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Default hyperparameters (√p features, full depth, 500 trees) work well on most datasets without tuning. No learning rate to calibrate, no early stopping to configure.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55848" y="1051560"/>
            <a:ext cx="2715768" cy="166420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55848" y="1051560"/>
            <a:ext cx="271576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55848" y="1143000"/>
            <a:ext cx="2715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47288" y="161848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</a:rPr>
              <a:t>No Overfitting from More Trees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47288" y="1965960"/>
            <a:ext cx="25328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Unlike gradient boosting, adding trees strictly reduces variance without ever increasing it. You can always safely add more trees if prediction uncertainty is a concern.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54496" y="1051560"/>
            <a:ext cx="2715768" cy="166420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54496" y="1051560"/>
            <a:ext cx="271576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54496" y="1143000"/>
            <a:ext cx="2715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45936" y="161848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</a:rPr>
              <a:t>Free OOB Validation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45936" y="1965960"/>
            <a:ext cx="25328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The out-of-bag error estimate is computed automatically during training — comparable to 5-fold CV in quality, at a fraction of the additional compute cost.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715768" cy="166420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271576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926080"/>
            <a:ext cx="2715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340156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</a:rPr>
              <a:t>Reliable Variable Importance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749040"/>
            <a:ext cx="25328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Permutation importance provides a trustworthy ranking of predictors — directly measuring each feature's contribution to predictive accuracy on unseen data.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55848" y="2834640"/>
            <a:ext cx="2715768" cy="166420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355848" y="2834640"/>
            <a:ext cx="271576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55848" y="2926080"/>
            <a:ext cx="2715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447288" y="340156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</a:rPr>
              <a:t>Robust to Noisy Features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47288" y="3749040"/>
            <a:ext cx="25328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Because only m features are considered at each split, irrelevant and noisy features are frequently excluded. Forests are more robust to uninformative predictors than many other methods.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54496" y="2834640"/>
            <a:ext cx="2715768" cy="166420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54496" y="2834640"/>
            <a:ext cx="271576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54496" y="2926080"/>
            <a:ext cx="2715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45936" y="340156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</a:rPr>
              <a:t>Naturally Parallelizable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45936" y="3749040"/>
            <a:ext cx="25328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Each tree is independent — all B trees can be trained simultaneously across cores or machines. Training time scales linearly with compute resources, unlike sequential boosting.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Random Forests — Ensemble Learning Method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14079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Parameters vs. Hyperparameters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The most fundamental distinction in machine learning model configuration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77640" cy="2816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776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0881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PARAMETERS  (Learned)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1790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Internal to the model — discovered automatically by the optimization algorithm from the training data. The analyst never sets them directly.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1305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</a:rPr>
              <a:t>Examples: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43230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77824" y="23957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Logistic regression coefficients β₀, β₁ … βₚ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277977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77824" y="2743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Decision tree split thresholds at each node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312724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7824" y="30906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Random forest leaf values across all trees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34747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77824" y="34381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Neural network weights and biases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1051560"/>
            <a:ext cx="3977640" cy="2816352"/>
          </a:xfrm>
          <a:prstGeom prst="rect">
            <a:avLst/>
          </a:prstGeom>
          <a:solidFill>
            <a:srgbClr val="F0F4FF"/>
          </a:solidFill>
          <a:ln w="1905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1051560"/>
            <a:ext cx="397764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28032" y="10881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🎛️  HYPERPARAMETERS  (Chosen)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8032" y="151790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External to the model — set by the analyst before training begins. They control how the model learns, not what it learns.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28032" y="21305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Examples: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28032" y="2432304"/>
            <a:ext cx="201168" cy="2011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02352" y="23957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Regularization strength C in logistic regression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28032" y="2779776"/>
            <a:ext cx="201168" cy="2011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02352" y="27432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Number of trees B in a random forest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28032" y="3127248"/>
            <a:ext cx="201168" cy="2011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02352" y="30906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Learning rate η in gradient boosting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28032" y="3474720"/>
            <a:ext cx="201168" cy="2011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02352" y="34381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Max depth of trees, features per split 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005072"/>
            <a:ext cx="82296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4050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Mental model: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920240" y="405079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If parameters are the answers a model learns from data, hyperparameters are the rules it must follow while learning.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920240" y="4352544"/>
            <a:ext cx="662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</a:rPr>
              <a:t>The analyst sets the rules. The algorithm finds the best answers within those rules.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Hyperparameters in Machine Learning — Definition, Tuning &amp; Practical Application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158378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Parameters vs. Hyperparameters by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Every model family has its own set of learned parameters and configurable hyperparameters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881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06040" y="10881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Parameters  (Learned from data)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532120" y="10881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Hyperparameters  (Set by analyst)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16459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5727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Logistic Regression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6040" y="15727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Coefficients β₀, β₁ … βₚ (one per predictor)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32120" y="15727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46E5"/>
                </a:solidFill>
              </a:rPr>
              <a:t>Regularization strength C, penalty type (L1/L2)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084832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084832"/>
            <a:ext cx="164592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21945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Decision Tree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06040" y="21945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Split thresholds at every node of the tree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532120" y="219456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46E5"/>
                </a:solidFill>
              </a:rPr>
              <a:t>Max depth, min samples per leaf, split criterion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706624"/>
            <a:ext cx="822960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706624"/>
            <a:ext cx="164592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28163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Random Forest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06040" y="28163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All split thresholds across all B trees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32120" y="281635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46E5"/>
                </a:solidFill>
              </a:rPr>
              <a:t>Number of trees B, features per split m, max depth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328416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328416"/>
            <a:ext cx="164592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34381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Gradient Boosting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606040" y="343814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All tree structures and leaf prediction values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32120" y="343814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46E5"/>
                </a:solidFill>
              </a:rPr>
              <a:t>Learning rate η, trees M, max depth, sampling rate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950208"/>
            <a:ext cx="822960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3950208"/>
            <a:ext cx="164592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5800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Neural Network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606040" y="405993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All weights and biases across every layer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32120" y="405993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46E5"/>
                </a:solidFill>
              </a:rPr>
              <a:t>Layers, neurons per layer, learning rate, batch size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4590288"/>
            <a:ext cx="8229600" cy="2011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" y="4608576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</a:rPr>
              <a:t>Teal/Blue/Green/Amber/Purple left bars identify each model family — the same color coding used throughout this deck.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Hyperparameters in Machine Learning — Definition, Tuning &amp; Practical Application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21515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92240" y="274320"/>
            <a:ext cx="2011680" cy="201168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23760" y="2651760"/>
            <a:ext cx="1188720" cy="1188720"/>
          </a:xfrm>
          <a:prstGeom prst="ellipse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chemeClr val="accent1"/>
                </a:solidFill>
              </a:rPr>
              <a:t>ML CLASSIFICATION — KEY DEFINITIONS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Sensitivity,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Specificity &amp;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Boosting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Precise definitions · Formulas · Worked examples</a:t>
            </a:r>
            <a:endParaRPr lang="en-US" sz="16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The tradeoff · Algorithm mechanics · Practical implications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Telco Churn Case Study  ·  GBM Classifier  ·  n = 1,409 Holdout Observations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43170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Also known as: True Positive Rate (TPR)  ·  Recall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023360" cy="2834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338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</a:rPr>
              <a:t>Core Question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Of all the cases that actually belong to the positive class, what fraction did the model correctly detect?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3749040" cy="548640"/>
          </a:xfrm>
          <a:prstGeom prst="rect">
            <a:avLst/>
          </a:prstGeom>
          <a:solidFill>
            <a:srgbClr val="2D3E8C"/>
          </a:solidFill>
          <a:ln w="12700">
            <a:solidFill>
              <a:srgbClr val="2D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Sensitivity  =  TP  ÷  (TP + FN)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Denominator = ALL actual positives (TP + FN)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Numerator   = those the model correctly flagged (TP)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False Negatives (FN) are positives the model missed — they sit in the denominator but not the numerator, so missing more of them drives sensitivity down.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78992"/>
            <a:ext cx="4023360" cy="126187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73168" y="11247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Your Churn Model — τ = 0.50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73168" y="144475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201  ÷  (201 + 172)  =  201 / 373  =  0.54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8013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</a:rPr>
              <a:t>Model caught 201 of 373 churners — missed 172.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468880"/>
            <a:ext cx="402336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2468880"/>
            <a:ext cx="64008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73168" y="25146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At τ = 0.30  →  Sensitivity = 0.80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73168" y="28163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298 of 373 churners caught — 97 more recovered.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364992"/>
            <a:ext cx="402336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73168" y="34107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Optimize sensitivity when: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73168" y="366674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Missing a positive is costly — disease screening, fraud detection, churn intervention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41056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Mnemonic — SnNout: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0" y="4105656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 high-Sensitivity test, when Negative, rules out the condition. In churn: a low score confidently predicts the customer will stay.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Sensitivity, Specificity &amp; Gradient Boosting — ML Classification Definitions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28791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Specificity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Also known as: True Negative Rate (TNR)  ·  Selectivity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023360" cy="2834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338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</a:rPr>
              <a:t>Core Question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Of all the cases that actually belong to the negative class, what fraction did the model correctly identify as negative?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3749040" cy="548640"/>
          </a:xfrm>
          <a:prstGeom prst="rect">
            <a:avLst/>
          </a:prstGeom>
          <a:solidFill>
            <a:srgbClr val="2D3E8C"/>
          </a:solidFill>
          <a:ln w="12700">
            <a:solidFill>
              <a:srgbClr val="2D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Specificity  =  TN  ÷  (TN + FP)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Denominator = ALL actual negatives (TN + FP)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Numerator   = those correctly cleared (TN)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False Positives (FP) are non-churners wrongly flagged — they sit in the denominator but not the numerator, so flagging more non-churners drives specificity down.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78992"/>
            <a:ext cx="4023360" cy="126187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73168" y="11247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Your Churn Model — τ = 0.50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73168" y="144475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984  ÷  (984 + 52)  =  984 / 1,036  =  0.95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8013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</a:rPr>
              <a:t>Correctly cleared 984 of 1,036 non-churners; only 52 wrongly flagged.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468880"/>
            <a:ext cx="4023360" cy="77724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2468880"/>
            <a:ext cx="64008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73168" y="25146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At τ = 0.30  →  Specificity = 0.82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73168" y="28163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186 non-churners wrongly flagged — 134 more wasted offers.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364992"/>
            <a:ext cx="4023360" cy="56692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73168" y="34107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Optimize specificity when: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73168" y="366674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False positives are costly — unnecessary treatment, wrongful fraud flags, wasted retention budget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41056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Mnemonic — SpPin: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31720" y="4105656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 high-Specificity test, when Positive, rules in the condition. In churn: a high score confidently confirms the customer will leave.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Sensitivity, Specificity &amp; Gradient Boosting — ML Classification Definitions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75871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Sensitivity-Specificity Tradeoff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The two metrics are in fundamental tension — governed by the classification threshold τ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Threshold Direction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06040" y="11155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Effect on Sensitivity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11155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Effect on Specificity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40880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Net Trade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481328"/>
            <a:ext cx="822960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Lower τ  (more permissive)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604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Increases ↑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</a:rPr>
              <a:t>Decreases 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40880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151"/>
                </a:solidFill>
              </a:rPr>
              <a:t>Wider net, more false alarms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1993392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084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Raise τ  (more restrictive)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06040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</a:rPr>
              <a:t>Decreases ↓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Increases ↑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40880" y="2084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151"/>
                </a:solidFill>
              </a:rPr>
              <a:t>Fewer alarms, more misses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615184"/>
            <a:ext cx="822960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615184"/>
            <a:ext cx="64008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26517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The ROC curve IS this tradeoff, visualized: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66160" y="2651760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Each point on the ROC curve is a (FPR, TPR) pair at a specific threshold. Moving along the curve from bottom-left to top-right is equivalent to lowering τ — gaining sensitivity and losing specificity. AUC summarizes performance across all such trade-off points simultaneously.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Cost Analysis for the Churn Use Case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8229600" cy="475488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64008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375818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False Negative (missed churner)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566160" y="3794760"/>
            <a:ext cx="77724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66160" y="37947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34840" y="37947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Lost Customer Lifetime Value — customer departs without receiving a retention offer.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251960"/>
            <a:ext cx="8229600" cy="47548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4251960"/>
            <a:ext cx="6400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" y="43068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False Positive (wasted offer)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566160" y="4343400"/>
            <a:ext cx="77724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566160" y="43434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LOW–MED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434840" y="43434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Cost of a retention offer sent to a loyal customer who was never going to leave.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Sensitivity, Specificity &amp; Gradient Boosting — ML Classification Definitions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587046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 vs. Specificity at Two Thresholds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How the sensitivity-specificity tradeoff plays out concretely in the churn classification problem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8813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τ = 0.50  (conservative)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325880" y="138988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280"/>
                </a:solidFill>
              </a:rPr>
              <a:t>Pred: Churn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88920" y="138988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280"/>
                </a:solidFill>
              </a:rPr>
              <a:t>Pred: No Churn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8412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</a:rPr>
              <a:t>Act: Churn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532888"/>
            <a:ext cx="8412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</a:rPr>
              <a:t>Act: No Churn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25880" y="1463040"/>
            <a:ext cx="1353312" cy="841248"/>
          </a:xfrm>
          <a:prstGeom prst="rect">
            <a:avLst/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25880" y="151790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201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25880" y="206654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TP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88920" y="1463040"/>
            <a:ext cx="1353312" cy="841248"/>
          </a:xfrm>
          <a:prstGeom prst="rect">
            <a:avLst/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88920" y="151790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</a:rPr>
              <a:t>172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788920" y="206654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FN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325880" y="2423160"/>
            <a:ext cx="1353312" cy="841248"/>
          </a:xfrm>
          <a:prstGeom prst="rect">
            <a:avLst/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25880" y="247802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</a:rPr>
              <a:t>52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25880" y="302666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FP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88920" y="2423160"/>
            <a:ext cx="1353312" cy="841248"/>
          </a:xfrm>
          <a:prstGeom prst="rect">
            <a:avLst/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88920" y="247802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984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788920" y="302666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TN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364992"/>
            <a:ext cx="3931920" cy="512064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4015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Sensitivity: 0.54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23160" y="34015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Specificity: 0.95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36758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C2626"/>
                </a:solidFill>
              </a:rPr>
              <a:t>Misses 172 churners ⚠️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108813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τ = 0.30  (recommended)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23560" y="138988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280"/>
                </a:solidFill>
              </a:rPr>
              <a:t>Pred: Churn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086600" y="138988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280"/>
                </a:solidFill>
              </a:rPr>
              <a:t>Pred: No Churn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54880" y="1572768"/>
            <a:ext cx="8412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</a:rPr>
              <a:t>Act: Churn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0" y="2532888"/>
            <a:ext cx="8412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</a:rPr>
              <a:t>Act: No Churn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623560" y="1463040"/>
            <a:ext cx="1353312" cy="841248"/>
          </a:xfrm>
          <a:prstGeom prst="rect">
            <a:avLst/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23560" y="151790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298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623560" y="206654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TP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086600" y="1463040"/>
            <a:ext cx="1353312" cy="841248"/>
          </a:xfrm>
          <a:prstGeom prst="rect">
            <a:avLst/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086600" y="151790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</a:rPr>
              <a:t>75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086600" y="206654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FN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623560" y="2423160"/>
            <a:ext cx="1353312" cy="841248"/>
          </a:xfrm>
          <a:prstGeom prst="rect">
            <a:avLst/>
          </a:prstGeom>
          <a:solidFill>
            <a:srgbClr val="FFF1F2"/>
          </a:solidFill>
          <a:ln w="1524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623560" y="247802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</a:rPr>
              <a:t>186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5623560" y="302666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FP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086600" y="2423160"/>
            <a:ext cx="1353312" cy="841248"/>
          </a:xfrm>
          <a:prstGeom prst="rect">
            <a:avLst/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086600" y="247802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850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086600" y="302666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TN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54880" y="3364992"/>
            <a:ext cx="3931920" cy="51206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92040" y="34015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Sensitivity: 0.80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20840" y="34015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Specificity: 0.82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92040" y="36758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6A34A"/>
                </a:solidFill>
              </a:rPr>
              <a:t>+97 churners recovered ✓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4005072"/>
            <a:ext cx="822960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94360" y="40416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Optimal threshold is a business decision, not a statistical one.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94360" y="433425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The asymmetry between lost CLV (high cost) and a wasted retention offer (low cost) strongly favors τ = 0.30.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Sensitivity, Specificity &amp; Gradient Boosting — ML Classification Definitions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55415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92240" y="274320"/>
            <a:ext cx="2011680" cy="201168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23760" y="2651760"/>
            <a:ext cx="1188720" cy="1188720"/>
          </a:xfrm>
          <a:prstGeom prst="ellipse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/>
              <a:t>CLASSIFICATION DIAGNOSTICS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 Curves &amp;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Matrices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/>
              <a:t>Signal detection origins · AUC interpretation · Threshold analysis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Confusion matrix metrics · Operational decision-making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Telco Churn Case Study  ·  GBM Classifier  ·  n = 1,409 Holdout Observations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41027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Origins &amp; Conceptual Foundation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2926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📡  WWII Signal Detection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ROC curves originated in World War II radar signal detection. Operators had to distinguish genuine enemy signals from noise — the same fundamental problem as binary classification.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The classifier is the detector.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The positive class is the signal.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The negative class is noise.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17720" y="960120"/>
            <a:ext cx="406908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36592" y="1005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The Core Question: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36592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151"/>
                </a:solidFill>
              </a:rPr>
              <a:t>Across every possible decision threshold, how does the model's ability to catch true positives trade off against generating false positives?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1920240"/>
            <a:ext cx="406908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96596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19751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</a:rPr>
              <a:t>Radar Detector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120640" y="21945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→  Trained Classifier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2542032"/>
            <a:ext cx="406908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2587752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25968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</a:rPr>
              <a:t>Enemy Signal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20640" y="28163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→  Positive Class (Churner)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3163824"/>
            <a:ext cx="4069080" cy="53035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3209544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32186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</a:rPr>
              <a:t>Background Noise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20640" y="34381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→  Negative Class (Stayer)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ROC Curves &amp; Confusion Matrices — Classification Diagnostics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82549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ROC Curve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" y="960120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15568" y="97840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938528" cy="18288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193852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7190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Predict Probabilities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21408"/>
            <a:ext cx="175564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Classifier outputs a continuous score for each observation (e.g. 0.73, 0.12, 0.91) — not a hard Yes/No.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2505456"/>
            <a:ext cx="164592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36976" y="960120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36976" y="97840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78608" y="1627632"/>
            <a:ext cx="1938528" cy="18288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78608" y="1627632"/>
            <a:ext cx="193852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42616" y="17190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Apply a Threshold 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70048" y="2121408"/>
            <a:ext cx="175564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Observations above τ are predicted Positive (Churn). Observations below are predicted Negative (Stay).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44568" y="2505456"/>
            <a:ext cx="164592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58384" y="960120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58384" y="97840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00016" y="1627632"/>
            <a:ext cx="1938528" cy="18288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0016" y="1627632"/>
            <a:ext cx="193852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64024" y="17190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Compute TPR &amp; FPR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91456" y="2121408"/>
            <a:ext cx="175564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TPR = TP/(TP+FN)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FPR = FP/(FP+TN)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Each τ yields one (FPR, TPR) point.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65976" y="2505456"/>
            <a:ext cx="164592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79792" y="960120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79792" y="97840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821424" y="1627632"/>
            <a:ext cx="1938528" cy="18288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21424" y="1627632"/>
            <a:ext cx="193852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85432" y="17190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Sweep τ from 1→0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12864" y="2121408"/>
            <a:ext cx="175564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At τ=1: point at (0,0). At τ=0: point at (1,1). Every threshold traces one point on the curve.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639312"/>
            <a:ext cx="8229600" cy="10241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" y="3685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</a:rPr>
              <a:t>Key Metrics at Each Threshold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041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TPR (Sensitivity)  =  TP / (TP + FN)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4325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ADCFC"/>
                </a:solidFill>
              </a:rPr>
              <a:t>Of all actual churners, what fraction did we catch?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0" y="4041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FPR (1 − Specificity)  =  FP / (FP + TN)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4325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ADCFC"/>
                </a:solidFill>
              </a:rPr>
              <a:t>Of all non-churners, what fraction were wrongly flagged?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ROC Curves &amp; Confusion Matrices — Classification Diagnostics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36893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 — Computation &amp; Interpretation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69080" cy="2880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1498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Two Equivalent Formulations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Trapezoidal Rule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7099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AUC = Σᵢ  (FPRᵢ₊₁ − FPRᵢ) × (TPRᵢ + TPRᵢ₊₁) /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130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ADCFC"/>
                </a:solidFill>
              </a:rPr>
              <a:t>Sums trapezoid areas between adjacent points on the ROC curve.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" y="2487168"/>
            <a:ext cx="3749040" cy="36576"/>
          </a:xfrm>
          <a:prstGeom prst="rect">
            <a:avLst/>
          </a:prstGeom>
          <a:solidFill>
            <a:srgbClr val="2D3E8C"/>
          </a:solidFill>
          <a:ln w="12700">
            <a:solidFill>
              <a:srgbClr val="2D3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596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Wilcoxon-Mann-Whitney Equivalence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8895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AUC = P(p̂₊ &gt; p̂₋)  =  #{pos &gt; neg} / (n₊ × n₋)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310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ADCFC"/>
                </a:solidFill>
              </a:rPr>
              <a:t>In your dataset: ~1,869 × 5,174 ≈ 9.7 million pairs evaluated.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397764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28032" y="1005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Probabilistic Interpretation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131673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AUC = the probability that the model assigns a higher score to a randomly drawn churner than to a randomly drawn non-churner.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AUC of 0.87 → correct ranking 87% of the time.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28032" y="20848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Reference Scale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423160"/>
            <a:ext cx="987552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27448" y="244144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0.90 – 1.00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760720" y="24597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Excellent  (watch for leakage)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825496"/>
            <a:ext cx="987552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27448" y="2843784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0.80 – 0.89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760720" y="28620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Good  ← Our models (0.87)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227832"/>
            <a:ext cx="987552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27448" y="324612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0.70 – 0.79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760720" y="32644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Acceptable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630168"/>
            <a:ext cx="987552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27448" y="364845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0.50 – 0.69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760720" y="36667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Poor / near chance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ROC Curves &amp; Confusion Matrices — Classification Diagnostics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254661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Critical Interpretive Nuances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120700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73152" cy="1207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25880" y="10515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AUC is Threshold-Agnostic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417320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AUC summarizes performance across ALL operating points simultaneously. This is its strength — you don't need to commit to a threshold to evaluate the model. But it also means AUC cannot tell you which threshold to use operationally. That requires a confusion matrix.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20700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73152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📐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25880" y="23774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AUC Rewards Ranking, Not Calibration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743200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A model that consistently assigns churners higher probabilities than non-churners achieves high AUC even if everyone gets a score between 0.45 and 0.55. AUC and probability calibration measure different things. For business decisions using raw probability scores, calibration (Platt scaling) is essential.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8229600" cy="1207008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73152" cy="1207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325880" y="37033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AUC Can Mislead with Class Imbalance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4069080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With 26.5% churn rate, a poor model can still score AUC 0.75–0.80 by doing well on the majority non-churn class. AUCPR (precision-recall) is more informative for imbalanced outcomes — it focuses exclusively on the minority class. Our AUCPR of ~0.75 vs. a naive baseline of 0.265 represents genuine lift.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ROC Curves &amp; Confusion Matrices — Classification Diagnostics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378616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Generalization Hierarchy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Which AUC you are reading matters as much as its value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24912" cy="3520440"/>
          </a:xfrm>
          <a:prstGeom prst="rect">
            <a:avLst/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724912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C2626"/>
                </a:solidFill>
              </a:rPr>
              <a:t>~0.91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195681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Training AUC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230428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</a:rPr>
              <a:t>⚠️  Inflated — do not report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633472"/>
            <a:ext cx="2542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Computed on data the model already learned from. A complex model can drive this toward 1.0 by memorizing training data. Useful for diagnosing bias-variance tradeoff only — never report as evidence of quality.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64992" y="1097280"/>
            <a:ext cx="2724912" cy="3520440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64992" y="1097280"/>
            <a:ext cx="272491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64992" y="1207008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</a:rPr>
              <a:t>0.855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456432" y="195681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Cross-Validation AUC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38144" y="230428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✅  More honest estimate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56432" y="2633472"/>
            <a:ext cx="2542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Computed on held-out folds during training. At each fold the model is retrained on 2/3 of training data and evaluated on the remaining 1/3. Better than training AUC but still optimistic if hyperparameters were tuned to maximize it.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72784" y="1097280"/>
            <a:ext cx="2724912" cy="352044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72784" y="1097280"/>
            <a:ext cx="2724912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72784" y="1207008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6A34A"/>
                </a:solidFill>
              </a:rPr>
              <a:t>0.870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364224" y="195681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Holdout / Test AUC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45936" y="230428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</a:rPr>
              <a:t>🏆  Gold standard — report this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64224" y="2633472"/>
            <a:ext cx="2542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Computed once on 20% of data the model never saw during training or tuning. This is the credible, unbiased estimate of generalization performance. Slightly exceeds CV AUC here, confirming the model generalizes well.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ROC Curves &amp; Confusion Matrices — Classification Diagnostics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42942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ROC-AUC vs. AUCPR — When to Use Which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77640" cy="32004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77640" cy="4206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0058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ROC-AUC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90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✅  Class distribution is roughly balanced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✅  You want threshold-agnostic summary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350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✅  Comparing models across populations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7797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✅  Both classes equally important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32095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⚠️  Can look optimistic with imbalanced 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639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⚠️  Insensitive to improvements on minority class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3977640" cy="320040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397764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28032" y="10058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AUCPR  (Precision-Recall)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28032" y="1490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✅  Positive class is rare (&lt; 30%)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28032" y="1920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✅  Asymmetric misclassification costs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28032" y="2350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✅  Application focused on finding positives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27797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✅  Fraud detection, disease diagnosis, churn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28032" y="32095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✅  Sensitive to improvements on minority class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28032" y="3639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🏆  Recommended for your churn analysis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315968"/>
            <a:ext cx="8229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43525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Your AUCPR of ~0.75 vs. a naive baseline of 0.265 represents substantial predictive lift for a class-imbalanced outcome.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ROC Curves &amp; Confusion Matrices — Classification Diagnostics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20678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Confusion Matrix — Structure &amp; Anatomy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Pins model performance at a specific threshold — translates statistics into operational terms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12848" y="1078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</a:rPr>
              <a:t>Predicted: Churn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33088" y="1078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</a:rPr>
              <a:t>Predicted: No Churn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88720" y="1417320"/>
            <a:ext cx="960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74151"/>
                </a:solidFill>
              </a:rPr>
              <a:t>Actual: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374151"/>
                </a:solidFill>
              </a:rPr>
              <a:t>Churn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88720" y="2724912"/>
            <a:ext cx="960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74151"/>
                </a:solidFill>
              </a:rPr>
              <a:t>Actual: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374151"/>
                </a:solidFill>
              </a:rPr>
              <a:t>No Churn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12848" y="1325880"/>
            <a:ext cx="1783080" cy="1170432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12848" y="139903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</a:rPr>
              <a:t>TP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67712" y="1920240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74151"/>
                </a:solidFill>
              </a:rPr>
              <a:t>True Positive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67712" y="219456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</a:rPr>
              <a:t>Correctly caught churner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33088" y="1325880"/>
            <a:ext cx="1783080" cy="1170432"/>
          </a:xfrm>
          <a:prstGeom prst="rect">
            <a:avLst/>
          </a:prstGeom>
          <a:solidFill>
            <a:srgbClr val="FFF1F2"/>
          </a:solidFill>
          <a:ln w="19050">
            <a:solidFill>
              <a:srgbClr val="FECD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33088" y="139903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</a:rPr>
              <a:t>FN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187952" y="1920240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74151"/>
                </a:solidFill>
              </a:rPr>
              <a:t>False Negative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87952" y="219456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</a:rPr>
              <a:t>Missed churner (Type II error)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12848" y="2633472"/>
            <a:ext cx="1783080" cy="1170432"/>
          </a:xfrm>
          <a:prstGeom prst="rect">
            <a:avLst/>
          </a:prstGeom>
          <a:solidFill>
            <a:srgbClr val="FFF1F2"/>
          </a:solidFill>
          <a:ln w="19050">
            <a:solidFill>
              <a:srgbClr val="FECD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12848" y="270662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</a:rPr>
              <a:t>FP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267712" y="3227832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74151"/>
                </a:solidFill>
              </a:rPr>
              <a:t>False Positive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67712" y="3502152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</a:rPr>
              <a:t>Wrongly flagged (Type I error)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33088" y="2633472"/>
            <a:ext cx="1783080" cy="1170432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33088" y="270662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</a:rPr>
              <a:t>TN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187952" y="3227832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74151"/>
                </a:solidFill>
              </a:rPr>
              <a:t>True Negative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87952" y="3502152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</a:rPr>
              <a:t>Correctly cleared non-churner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80760" y="1078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Metrics Derived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1389888"/>
            <a:ext cx="2743200" cy="4297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72200" y="14173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Sensitivity (TPR / Recall)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72200" y="16093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TP / (TP + FN)  —  Fraction of all churners caught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80760" y="1901952"/>
            <a:ext cx="2743200" cy="4297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72200" y="19293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Specificity (TNR)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21214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TN / (TN + FP)  —  Fraction of non-churners cleared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80760" y="2414016"/>
            <a:ext cx="2743200" cy="4297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72200" y="24414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Precision (PPV)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26334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TP / (TP + FP)  —  Of flagged customers, % truly at risk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80760" y="2926080"/>
            <a:ext cx="2743200" cy="4297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172200" y="29535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Negative Predictive Value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72200" y="31455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TN / (TN + FN)  —  Of cleared customers, % truly safe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80760" y="3438144"/>
            <a:ext cx="2743200" cy="4297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72200" y="34655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Overall Accuracy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72200" y="3657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(TP + TN) / n  —  All correct classifications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ROC Curves &amp; Confusion Matrices — Classification Diagnostics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725542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— GBM at Threshold τ = 0.50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Holdout set: 1,409 observations  ·  373 actual churners (26.5%)  ·  1,036 non-churners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37360" y="10789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</a:rPr>
              <a:t>Predicted: Churn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749040" y="10789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</a:rPr>
              <a:t>Predicted: No Churn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2070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</a:rPr>
              <a:t>Actual: Churn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395728"/>
            <a:ext cx="12070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</a:rPr>
              <a:t>Actual: No Churn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1325880"/>
            <a:ext cx="1828800" cy="987552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37360" y="138074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A34A"/>
                </a:solidFill>
              </a:rPr>
              <a:t>201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78308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True Positive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325880"/>
            <a:ext cx="1828800" cy="987552"/>
          </a:xfrm>
          <a:prstGeom prst="rect">
            <a:avLst/>
          </a:prstGeom>
          <a:solidFill>
            <a:srgbClr val="FFF1F2"/>
          </a:solidFill>
          <a:ln w="19050">
            <a:solidFill>
              <a:srgbClr val="FECD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49040" y="138074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</a:rPr>
              <a:t>172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79476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False Negative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37360" y="2395728"/>
            <a:ext cx="1828800" cy="987552"/>
          </a:xfrm>
          <a:prstGeom prst="rect">
            <a:avLst/>
          </a:prstGeom>
          <a:solidFill>
            <a:srgbClr val="FFF1F2"/>
          </a:solidFill>
          <a:ln w="19050">
            <a:solidFill>
              <a:srgbClr val="FECD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737360" y="245059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</a:rPr>
              <a:t>52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783080" y="3035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False Positive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49040" y="2395728"/>
            <a:ext cx="1828800" cy="987552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49040" y="245059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A34A"/>
                </a:solidFill>
              </a:rPr>
              <a:t>984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794760" y="3035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True Negative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52160" y="10241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All Metrics at τ = 0.50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1353312"/>
            <a:ext cx="283464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88736" y="138074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</a:rPr>
              <a:t>0.54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1380744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Sensitivity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92240" y="1554480"/>
            <a:ext cx="2121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201/373 — catches 54% of churners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52160" y="1769364"/>
            <a:ext cx="283464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88736" y="179679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0.95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1796796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Specificity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92240" y="1970532"/>
            <a:ext cx="2121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984/1,036 — clears 95% of stayers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852160" y="2185416"/>
            <a:ext cx="283464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88736" y="22128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0.79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92240" y="2212848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Precision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92240" y="2386584"/>
            <a:ext cx="2121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201/253 — 79% of flags are real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852160" y="2601468"/>
            <a:ext cx="283464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888736" y="26289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0.85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92240" y="2628900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NPV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92240" y="2802636"/>
            <a:ext cx="2121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984/1,156 — 85% of clears correct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852160" y="3017520"/>
            <a:ext cx="283464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888736" y="304495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0.84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92240" y="3044952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Accuracy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92240" y="3218688"/>
            <a:ext cx="2121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(201+984)/1,409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852160" y="3433572"/>
            <a:ext cx="283464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888736" y="346100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0.64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92240" y="3461004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F1 Score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492240" y="3634740"/>
            <a:ext cx="2121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Harmonic mean of prec. &amp; recall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852160" y="3849624"/>
            <a:ext cx="283464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888736" y="387705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0.54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492240" y="3877056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MCC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492240" y="4050792"/>
            <a:ext cx="2121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Best single-number for imbalance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" y="3511296"/>
            <a:ext cx="5230368" cy="566928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94360" y="3547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⚠️  Problem: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645920" y="3547872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172 churners are missed — customers who will leave without receiving a retention offer.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ROC Curves &amp; Confusion Matrices — Classification Diagnostics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3508398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 Shift — τ = 0.50 vs. τ = 0.30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Lowering the threshold moves the operating point along the ROC curve — trading specificity for sensitivity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τ = 0.30  (recommended)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13716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280"/>
                </a:solidFill>
              </a:rPr>
              <a:t>Pred: Churn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0" y="13716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280"/>
                </a:solidFill>
              </a:rPr>
              <a:t>Pred: No Churn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70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74151"/>
                </a:solidFill>
              </a:rPr>
              <a:t>Act: Churn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2450592"/>
            <a:ext cx="1170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74151"/>
                </a:solidFill>
              </a:rPr>
              <a:t>Act: No Churn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91640" y="1600200"/>
            <a:ext cx="1353312" cy="777240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91640" y="163677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</a:rPr>
              <a:t>298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91640" y="21214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TP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600200"/>
            <a:ext cx="1353312" cy="777240"/>
          </a:xfrm>
          <a:prstGeom prst="rect">
            <a:avLst/>
          </a:prstGeom>
          <a:solidFill>
            <a:srgbClr val="FFF1F2"/>
          </a:solidFill>
          <a:ln w="1905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163677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</a:rPr>
              <a:t>75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00400" y="21214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FN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691640" y="2450592"/>
            <a:ext cx="1353312" cy="777240"/>
          </a:xfrm>
          <a:prstGeom prst="rect">
            <a:avLst/>
          </a:prstGeom>
          <a:solidFill>
            <a:srgbClr val="FFF1F2"/>
          </a:solidFill>
          <a:ln w="1905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91640" y="248716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</a:rPr>
              <a:t>186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91640" y="297180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FP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0" y="2450592"/>
            <a:ext cx="1353312" cy="777240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0" y="248716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</a:rPr>
              <a:t>850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200400" y="297180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TN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1078992"/>
            <a:ext cx="39319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1106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Metric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89320" y="1106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τ = 0.50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12280" y="1106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τ = 0.30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89520" y="1106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Change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463040"/>
            <a:ext cx="393192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15179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</a:rPr>
              <a:t>Sensitivity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89320" y="1517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0.54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12280" y="1517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</a:rPr>
              <a:t>0.80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589520" y="15179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+26pp ▲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1892808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19476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</a:rPr>
              <a:t>Specificity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89320" y="19476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0.95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12280" y="19476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</a:rPr>
              <a:t>0.82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589520" y="19476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−13pp ▽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2322576"/>
            <a:ext cx="393192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0600" y="2377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</a:rPr>
              <a:t>Precision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89320" y="2377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0.79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12280" y="2377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</a:rPr>
              <a:t>0.62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589520" y="23774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−17pp ▽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2752344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00600" y="28072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</a:rPr>
              <a:t>Missed churners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89320" y="2807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172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812280" y="2807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</a:rPr>
              <a:t>75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589520" y="28072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−97 recovered ★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3182112"/>
            <a:ext cx="393192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00600" y="32369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</a:rPr>
              <a:t>Wasted offers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89320" y="32369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52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12280" y="32369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</a:rPr>
              <a:t>186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589520" y="32369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+134 extra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54880" y="3611880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800600" y="36667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</a:rPr>
              <a:t>Accuracy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989320" y="3666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0.84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812280" y="3666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</a:rPr>
              <a:t>0.82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589520" y="36667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−2pp ▽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3438144"/>
            <a:ext cx="822960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94360" y="34747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Net outcome at τ = 0.30: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468880" y="3474720"/>
            <a:ext cx="6080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97 additional churners recovered for retention offers; 134 more wasted offers sent. Whether worthwhile is a business decision — the confusion matrix makes the tradeoff quantifiable.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ROC Curves &amp; Confusion Matrices — Classification Diagnostics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4605765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Metrics — F1, MCC &amp; Calibration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724912" cy="3749040"/>
          </a:xfrm>
          <a:prstGeom prst="rect">
            <a:avLst/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724912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69848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</a:rPr>
              <a:t>0.64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0992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</a:rPr>
              <a:t>F1 Score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2176272"/>
            <a:ext cx="2450592" cy="566928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219456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2 × (Precision × Recall)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÷ (Precision + Recall)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834640"/>
            <a:ext cx="25054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Harmonic mean of precision and recall. Penalizes imbalance between the two — a model that has high precision but low recall (or vice versa) is punished relative to one that balances both. Useful single-number summary for the positive class.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64992" y="960120"/>
            <a:ext cx="2724912" cy="3749040"/>
          </a:xfrm>
          <a:prstGeom prst="rect">
            <a:avLst/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64992" y="960120"/>
            <a:ext cx="2724912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64992" y="1069848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</a:rPr>
              <a:t>0.54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56432" y="170992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</a:rPr>
              <a:t>Matthews Correlation Coefficient (MCC)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02152" y="2176272"/>
            <a:ext cx="2450592" cy="566928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29584" y="219456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(TP×TN − FP×FN)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÷ √[(TP+FP)(TP+FN)(TN+FP)(TN+FN)]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2834640"/>
            <a:ext cx="25054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Accounts for all four cells of the confusion matrix simultaneously. Ranges from −1 (perfect misclassification) through 0 (random) to +1 (perfect). Widely regarded as the most informative single metric for imbalanced binary classification.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72784" y="960120"/>
            <a:ext cx="2724912" cy="3749040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72784" y="960120"/>
            <a:ext cx="2724912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72784" y="1069848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</a:rPr>
              <a:t>Next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</a:rPr>
              <a:t>Step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364224" y="170992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</a:rPr>
              <a:t>Probability Calibration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9944" y="2176272"/>
            <a:ext cx="2450592" cy="566928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37376" y="2194560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Platt Scaling 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Isotonic Regression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82512" y="2834640"/>
            <a:ext cx="25054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High AUC does not imply well-calibrated probabilities. Calibration ensures predicted P(churn) = 0.7 actually means 70% of those customers churn. Essential when probability scores are used to prioritize retention budgets rather than just rank customers.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ROC Curves &amp; Confusion Matrices — Classification Diagnostics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2149473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AUC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</a:rPr>
              <a:t>What AUC Measures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AUC = the probability that, given one randomly chosen churner and one randomly chosen non-churner, the model assigns a higher predicted probability to the churner.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AUC of 0.87 → model correctly ranks the churner higher 87% of the time.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AUC Reference Scale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96012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73168" y="1435608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0.90 – 1.00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806440" y="14538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Excellent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801368"/>
            <a:ext cx="96012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73168" y="1819656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0.80 – 0.89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06440" y="18379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Good  ← Our models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185416"/>
            <a:ext cx="96012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73168" y="2203704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0.70 – 0.79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06440" y="22219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Acceptable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569464"/>
            <a:ext cx="96012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73168" y="2587752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0.50 – 0.69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06440" y="26060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Poor / chance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8229600" cy="16916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1089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AUC vs. AUCPR — Which Matters More Here?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52044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Because churn is imbalanced (only 26.5% of customers churn), ROC-AUC can look overly optimistic — a model can score well partly by correctly classifying the majority non-churn class. AUCPR focuses specifically on identifying the minority churn class and is therefore the more informative metric for a retention use case. Our AUCPR of ~0.75 against a naive baseline of 0.265 represents substantial lift.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Customer Churn ML Analysis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Churn Predictors — GBM Feature Importance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Ranked by permutation importance (drop in AUC when each feature is randomly shuffled)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</a:rPr>
              <a:t>1. Contract Type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880360" y="1234440"/>
            <a:ext cx="36576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0" y="11887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0.091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949440" y="1188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Month-to-month → far higher churn risk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5506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</a:rPr>
              <a:t>2. Tenure Months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80360" y="1700784"/>
            <a:ext cx="2250831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76911" y="16550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0.056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949440" y="16550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Longer tenure = stronger loyalty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1214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</a:rPr>
              <a:t>3. Dependents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80360" y="2167128"/>
            <a:ext cx="1848897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74977" y="21214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0.046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49440" y="21214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Household stakes reduce switching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5877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</a:rPr>
              <a:t>4. Monthly Charges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80360" y="2633472"/>
            <a:ext cx="164793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4010" y="25877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0.041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49440" y="2587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Higher bills increase risk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05409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</a:rPr>
              <a:t>5. Total Charges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80360" y="3099816"/>
            <a:ext cx="763675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89755" y="30540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0.019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49440" y="30540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Correlated with tenure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</a:rPr>
              <a:t>6. Online Security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880360" y="3566160"/>
            <a:ext cx="482321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08401" y="35204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0.012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49440" y="3520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Add-ons create stickiness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9867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</a:rPr>
              <a:t>7. Tech Support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880360" y="4032504"/>
            <a:ext cx="482321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08401" y="39867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0.012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49440" y="3986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Add-ons create stickiness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4531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</a:rPr>
              <a:t>8. Payment Method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880360" y="4498848"/>
            <a:ext cx="401934" cy="2560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28014" y="44531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0.010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49440" y="4453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Electronic check → higher churn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880360" y="4663440"/>
            <a:ext cx="228600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154680" y="46634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Tier 1 — Primary drivers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92040" y="4663440"/>
            <a:ext cx="228600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66360" y="46634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Tier 2 — Secondary drivers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903720" y="4663440"/>
            <a:ext cx="228600" cy="146304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178040" y="46634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Tier 3 — Supporting signals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Customer Churn ML Analysis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 — Odds Ratios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Odds Ratio = multiplicative effect on churn probability, holding all other variables constant. OR &lt; 1 = protective; OR &gt; 1 = risk factor.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25603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612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🛡  Protective Factors  (OR &lt; 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</a:rPr>
              <a:t>Dependents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23160" y="1600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OR = 0.21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0" y="16002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6A34A"/>
                </a:solidFill>
              </a:rPr>
              <a:t>79% lower churn odds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20025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</a:rPr>
              <a:t>Tenure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23160" y="200253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OR = 0.28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0" y="200253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6A34A"/>
                </a:solidFill>
              </a:rPr>
              <a:t>72% lower churn odds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2404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</a:rPr>
              <a:t>Phone Service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23160" y="24048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OR = 0.43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240487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6A34A"/>
                </a:solidFill>
              </a:rPr>
              <a:t>57% lower churn odds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2807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</a:rPr>
              <a:t>Contract Type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23160" y="28072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OR = 0.49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28072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6A34A"/>
                </a:solidFill>
              </a:rPr>
              <a:t>51% lower churn odds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" y="32095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</a:rPr>
              <a:t>Tech Support / Online Security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423160" y="320954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OR = 0.76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08960" y="320954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6A34A"/>
                </a:solidFill>
              </a:rPr>
              <a:t>24% lower churn odds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143000"/>
            <a:ext cx="3931920" cy="25603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1143000"/>
            <a:ext cx="39319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11612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⚠️  Risk Factors  (OR &gt; 1)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64608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</a:rPr>
              <a:t>Monthly Charges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20840" y="1600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OR = 1.77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06640" y="160020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C2626"/>
                </a:solidFill>
              </a:rPr>
              <a:t>77% higher churn odds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64608" y="20025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</a:rPr>
              <a:t>Total Charges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20840" y="200253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OR = 1.69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2002536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C2626"/>
                </a:solidFill>
              </a:rPr>
              <a:t>69% higher churn odds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64608" y="2404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</a:rPr>
              <a:t>Paperless Billing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20840" y="24048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OR = 1.45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06640" y="240487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C2626"/>
                </a:solidFill>
              </a:rPr>
              <a:t>45% higher churn odds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64608" y="2807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</a:rPr>
              <a:t>Partner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20840" y="28072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OR = 1.37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06640" y="280720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C2626"/>
                </a:solidFill>
              </a:rPr>
              <a:t>37% higher churn odds*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64608" y="32095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</a:rPr>
              <a:t>Internet Service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720840" y="320954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OR = 1.27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06640" y="320954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C2626"/>
                </a:solidFill>
              </a:rPr>
              <a:t>27% higher churn odds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* Partner OR is counterintuitive and likely reflects confounding with unmodeled variables — warrants further stratified analysis.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Customer Churn ML Analysis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92240" y="274320"/>
            <a:ext cx="2011680" cy="2011680"/>
          </a:xfrm>
          <a:prstGeom prst="ellipse">
            <a:avLst/>
          </a:prstGeom>
          <a:solidFill>
            <a:srgbClr val="4F46E5">
              <a:alpha val="30000"/>
            </a:srgbClr>
          </a:solidFill>
          <a:ln w="12700">
            <a:solidFill>
              <a:srgbClr val="4F46E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23760" y="2651760"/>
            <a:ext cx="1188720" cy="1188720"/>
          </a:xfrm>
          <a:prstGeom prst="ellipse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chemeClr val="accent1"/>
                </a:solidFill>
              </a:rPr>
              <a:t>MACHINE LEARNING — CORE CONCEPTS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Hyperparameters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ML Modeling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18211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Parameters vs. hyperparameters · Why they cannot be learned</a:t>
            </a:r>
            <a:endParaRPr lang="en-US" sz="16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Tuning methods · Bias-variance tradeoff · Churn model settings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Telco Churn Case Study  ·  GBM · Random Forest · Logistic Regression  ·  Applied Hyperparameter Examples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850361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Circularity Problem: Why Hyperparameters Need Held-Out Data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A circularity problem prevents the algorithm from choosing its own configuration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704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The Circularity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26464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Hyperparameters define the structure of the learning process itself. They control model complexity — and complexity needs to be evaluated against held-out data that the model was not allowed to learn from. If you optimized hyperparameters on training data, training error would always push toward maximum complexity regardless of generalization performance.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350008"/>
            <a:ext cx="3977640" cy="135331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350008"/>
            <a:ext cx="64008" cy="13533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3957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⚠️  Concrete Example — Number of Trees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734056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Training error in a random forest decreases monotonically as you add more trees — the training data will always vote for 'more trees is better' regardless of what happens on new data. You need held-out validation data to detect the point of diminishing (or negative) returns.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2350008"/>
            <a:ext cx="3977640" cy="135331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2350008"/>
            <a:ext cx="64008" cy="135331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23957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📐  Two Different Optimization Problems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734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Parameters minimize: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9900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</a:rPr>
              <a:t>Training loss (in-sample)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31912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Hyperparameters minimize: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34472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</a:rPr>
              <a:t>Generalization error (out-of-sample)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2715768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2715768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913632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⏰  Set Before Training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224528"/>
            <a:ext cx="2532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The algorithm cannot choose them during the optimization process — they must be fixed in advance.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55848" y="3840480"/>
            <a:ext cx="2715768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55848" y="3840480"/>
            <a:ext cx="2715768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47288" y="3913632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🏗️  Control the Process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47288" y="4224528"/>
            <a:ext cx="2532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They determine the structure, complexity, and constraints under which parameters are estimated.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54496" y="3840480"/>
            <a:ext cx="2715768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54496" y="3840480"/>
            <a:ext cx="2715768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45936" y="3913632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📊  Optimized on Held-Out Data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45936" y="4224528"/>
            <a:ext cx="2532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Evaluated against validation or test data the model was not allowed to train on.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Hyperparameters in Machine Learning — Definition, Tuning &amp; Practical Application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566480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 Tuning Methods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Structured search procedures evaluated on held-out validation data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155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16128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61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Grid Search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0" y="1179576"/>
            <a:ext cx="182880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0" y="1188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Used in your Stata H2O model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88720" y="1490472"/>
            <a:ext cx="5742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Examines every combination of values in a predefined grid. Your Stata analysis searched a 3×3 Cartesian grid: trees (50/100/150) × prediction sampling rate (0.05/0.15/0.25) = 9 configurations. Exhaustive and interpretable, but scales poorly — 5 hyperparameters × 4 values each = 4⁵ = 1,024 model fits.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995160" y="11430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A34A"/>
                </a:solidFill>
              </a:rPr>
              <a:t>✅ Complete coverage of grid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95160" y="14356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2626"/>
                </a:solidFill>
              </a:rPr>
              <a:t>⚠️ Exponential growth with more parameters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8229600" cy="11155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6400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" y="239572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🎲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377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Random Search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23360" y="2414016"/>
            <a:ext cx="182880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23360" y="2423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Preferred for large spaces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88720" y="2724912"/>
            <a:ext cx="5742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Samples random combinations from the hyperparameter space rather than testing every cell. Counterintuitively outperforms grid search in practice: if only a few hyperparameters matter substantially, random search explores a wider range of values for the important ones. Preferred default for large hyperparameter spaces.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95160" y="23774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A34A"/>
                </a:solidFill>
              </a:rPr>
              <a:t>✅ Wider exploration; scales well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95160" y="267004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2626"/>
                </a:solidFill>
              </a:rPr>
              <a:t>⚠️ No guarantee of covering all regions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8229600" cy="111556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64008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4360" y="363016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3611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Bayesian Optimization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023360" y="3648456"/>
            <a:ext cx="182880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023360" y="3657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State of the art / AutoML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88720" y="3959352"/>
            <a:ext cx="5742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Builds a probabilistic model of how hyperparameter values relate to validation performance. Uses past evaluations to intelligently choose the next configuration most likely to improve results — learns from its own search history. The basis of modern AutoML systems and far more efficient than grid or random search for expensive models.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95160" y="36118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A34A"/>
                </a:solidFill>
              </a:rPr>
              <a:t>✅ Most efficient; learns from history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995160" y="390448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2626"/>
                </a:solidFill>
              </a:rPr>
              <a:t>⚠️ Complex to implement; overhead for fast models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3886200"/>
            <a:ext cx="822960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436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Cross-Validation — The Evaluation Wrapper: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" y="423367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All search methods wrap cross-validation around each configuration: the model is fit k times on different train/validation splits and performance is averaged. This prevents a lucky or unlucky data split from driving hyperparameter selection. Your churn analysis used 3-fold stratified CV.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Hyperparameters in Machine Learning — Definition, Tuning &amp; Practical Application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471126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Hyperparameters &amp; the Bias-Variance Tradeoff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Every complexity-controlling hyperparameter sits directly on the bias-variance tradeoff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42416"/>
            <a:ext cx="822960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8813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MSE = Bias² + Variance + Irreducible Error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15000" y="1115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ADCFC"/>
                </a:solidFill>
              </a:rPr>
              <a:t>Goal: tune hyperparameters to minimize the sum of all three terms on held-out data.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3977640" cy="235915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39776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6642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↑  Complexity-Increasing Settings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0848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Effect: reduce bias — the model fits more subtle patterns — but increase variance — the model becomes more sensitive to the specific training sample and more prone to overfitting.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798064"/>
            <a:ext cx="16459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" y="2798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More trees (GBM: higher M)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3090672"/>
            <a:ext cx="16459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1248" y="3090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Deeper trees (greater max depth)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3383280"/>
            <a:ext cx="16459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" y="3383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Smaller regularization (higher C)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3675888"/>
            <a:ext cx="16459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1248" y="3675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More neurons / layers (neural nets)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1627632"/>
            <a:ext cx="3977640" cy="235915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1627632"/>
            <a:ext cx="39776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28032" y="16642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↓  Complexity-Reducing Settings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28032" y="20848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Effect: increase bias — the model makes simplifying assumptions — but reduce variance — predictions are more stable and generalize better to new data.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28032" y="2798064"/>
            <a:ext cx="164592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74920" y="27980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Fewer trees (GBM: lower M)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28032" y="3090672"/>
            <a:ext cx="164592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74920" y="30906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Shallower trees (lower max depth)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28032" y="3383280"/>
            <a:ext cx="164592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74920" y="33832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Stronger regularization (lower C)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28032" y="3675888"/>
            <a:ext cx="164592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74920" y="36758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Smaller learning rate η (GBM)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8229600" cy="603504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" y="4114800"/>
            <a:ext cx="64008" cy="6035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" y="41605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46E5"/>
                </a:solidFill>
              </a:rPr>
              <a:t>Key insight: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691640" y="4160520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There is no universally correct hyperparameter value. The right setting depends on sample size, dimensionality, signal strength, and the prediction task. The right number of trees for a 7,000-observation churn model is unlikely to be optimal for a 50-million-transaction fraud detection system.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Hyperparameters in Machine Learning — Definition, Tuning &amp; Practical Application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699139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GBM Hyperparameters — Your Churn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Concrete settings from the Stata H2O and Python HistGradientBoosting classifiers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17373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4008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24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Number of Trees (M)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124712"/>
            <a:ext cx="59436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113385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0" y="114300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50 (default)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How many sequential correction steps are taken. Grid search found 100 optimal over 50 and 150.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185623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More trees reduce training error indefinitely but overfit past the optimum — requires early stopping or cross-validation.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478024"/>
            <a:ext cx="3886200" cy="219456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49631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F46E5"/>
                </a:solidFill>
              </a:rPr>
              <a:t>↑ more trees = ↓ bias, ↑ variance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114800" cy="17373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999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Learning Rate (η)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2999232"/>
            <a:ext cx="5943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300837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0.05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30175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0.10 (default)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33375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Shrinks each tree's contribution before adding it to the ensemble.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373075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Smaller η forces the algorithm to learn more slowly and carefully, requiring more trees but typically generalizing better. Tuning halved the default.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4352544"/>
            <a:ext cx="3886200" cy="219456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437083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F46E5"/>
                </a:solidFill>
              </a:rPr>
              <a:t>↓ learning rate = ↑ bias, ↓ variance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46320" y="1051560"/>
            <a:ext cx="4114800" cy="17373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1051560"/>
            <a:ext cx="6400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1124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Max Tree Depth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80960" y="1124712"/>
            <a:ext cx="59436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680960" y="113385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21040" y="114300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5 (fixed)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83480" y="14630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Limits how complex each weak learner can be. Depth 5 permits up to 5-way feature interactions.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83480" y="185623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Shallower trees have higher bias but lower variance. GBM relies on many shallow trees accumulating signal — unlike random forest which uses deep trees.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83480" y="2478024"/>
            <a:ext cx="3886200" cy="219456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0" y="249631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F46E5"/>
                </a:solidFill>
              </a:rPr>
              <a:t>↑ depth = ↓ bias, ↑ variance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46320" y="2926080"/>
            <a:ext cx="4114800" cy="17373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292608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83480" y="2999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Feature Sampling Rate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80960" y="2999232"/>
            <a:ext cx="5943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680960" y="300837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0.15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21040" y="30175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1.0 (default)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83480" y="33375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Fraction of features randomly considered at each split. Acts as regularization by injecting randomness.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83480" y="373075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Very low sampling (0.05) hurt AUCPR; 0.15 was optimal. Conceptually similar to random forest's m, but applied at every split within every tree.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83480" y="4352544"/>
            <a:ext cx="3886200" cy="219456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29200" y="437083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F46E5"/>
                </a:solidFill>
              </a:rPr>
              <a:t>↓ rate = ↑ bias, ↓ variance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Hyperparameters in Machine Learning — Definition, Tuning &amp; Practical Application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038631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 &amp; Logistic Regression Hyperparameters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Settings from the Random Forest and Logistic Regression churn classifiers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7764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0881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🌲  Random Forest Hyperparameters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7764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64008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Trees (B)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21408" y="1536192"/>
            <a:ext cx="91440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21408" y="15453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10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No overfitting risk — variance decreases monotonically with B. 500 would be marginally better but 100 is adequate. Safe to always add more.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167128"/>
            <a:ext cx="397764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167128"/>
            <a:ext cx="64008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2402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Features per split (m)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21408" y="2240280"/>
            <a:ext cx="91440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21408" y="2249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≈ √19 ≈ 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514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The primary regularization lever. Forces structural diversity across trees. Smaller m = more decorrelated trees = greater variance reduction.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71216"/>
            <a:ext cx="397764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871216"/>
            <a:ext cx="64008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29443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Max Depth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121408" y="2944368"/>
            <a:ext cx="91440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121408" y="2953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32186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An explicit cap. Default RF grows fully (relies on averaging). Capping at 8 adds a bias-variance control that improves performance on noisy data.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1051560"/>
            <a:ext cx="397764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28032" y="10881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📉  Logistic Regression Hyperparameters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09160" y="1463040"/>
            <a:ext cx="3977640" cy="17190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1463040"/>
            <a:ext cx="64008" cy="17190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Regularization Strength  C = 0.5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828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C is the inverse of regularization strength: smaller C = stronger penalty on large coefficients.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2231136"/>
            <a:ext cx="594360" cy="23774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224028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 = 1.0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513832" y="2249424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Unregularized default — coefficients unconstrained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2542032"/>
            <a:ext cx="59436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255117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 = 0.5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13832" y="256032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Modest regularization — your tuned value ✓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2852928"/>
            <a:ext cx="59436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6320" y="28620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 → 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13832" y="2871216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Strong regularization — all coefficients → zero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0" y="320040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74151"/>
                </a:solidFill>
              </a:rPr>
              <a:t>C = 0.5 applied modest L2 regularization that improved cross-validation AUC over the unregularized default — pushing coefficients toward simpler, smoother decision boundaries.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246120"/>
            <a:ext cx="3977640" cy="75895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09160" y="3246120"/>
            <a:ext cx="64008" cy="7589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46320" y="3291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Penalty Type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46320" y="35844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L2 (Ridge) penalizes squared coefficients — shrinks all toward zero but keeps all in the model. L1 (Lasso) penalizes absolute values — can set some exactly to zero, performing variable selection. Your model used L2 (default).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160520"/>
            <a:ext cx="822960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94360" y="41970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Holdout AUC results after tuning: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834640" y="41970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RF: 0.871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754880" y="41970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GBM: 0.870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675120" y="41970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LR: 0.864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94360" y="4480560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ADCFC"/>
                </a:solidFill>
              </a:rPr>
              <a:t>All three essentially identical — strong signal captured equally well by different hyperparameter regimes.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Hyperparameters in Machine Learning — Definition, Tuning &amp; Practical Application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717371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Practical Guidelines for Hyperparameter Tuning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There is no universally correct value — configuration depends entirely on the dataset and task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42416"/>
            <a:ext cx="822960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88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</a:rPr>
              <a:t>The right hyperparameter configuration depends on: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• Sample size 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48840" y="1371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• Dimensionality 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03320" y="1371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• Signal-to-noise ratio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57800" y="1371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• Class imbalance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12280" y="1371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• Prediction task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92808"/>
            <a:ext cx="2715768" cy="13258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892808"/>
            <a:ext cx="64008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5216" y="198424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5216" y="1984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00253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Start with defaults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5216" y="2350008"/>
            <a:ext cx="24963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Most well-implemented methods have sensible defaults (RF: √p features, full depth; GBM: η=0.1, depth=3). Establish a baseline before searching.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55848" y="1892808"/>
            <a:ext cx="2715768" cy="13258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55848" y="1892808"/>
            <a:ext cx="64008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83864" y="19842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83864" y="1984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58768" y="200253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Use cross-validation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83864" y="2350008"/>
            <a:ext cx="24963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Always evaluate hyperparameter configurations on held-out folds — never on training data. 3- to 5-fold stratified CV is standard; 10-fold for small datasets.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54496" y="1892808"/>
            <a:ext cx="2715768" cy="13258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54496" y="1892808"/>
            <a:ext cx="64008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82512" y="1984248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82512" y="1984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57416" y="200253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Grid search for small spaces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82512" y="2350008"/>
            <a:ext cx="24963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When tuning 1–3 hyperparameters with few candidate values (as in your Stata 3×3 grid), exhaustive grid search gives complete coverage and interpretable results.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337560"/>
            <a:ext cx="2715768" cy="13258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3337560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85216" y="342900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85216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34472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Random search for large spaces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85216" y="3794760"/>
            <a:ext cx="24963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For 4+ hyperparameters, random search finds good solutions faster by covering a wider range of values for the parameters that actually matter.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55848" y="3337560"/>
            <a:ext cx="2715768" cy="13258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355848" y="3337560"/>
            <a:ext cx="64008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483864" y="3429000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83864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858768" y="34472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Optimize the right metric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483864" y="3794760"/>
            <a:ext cx="24963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Choose a tuning metric aligned with the business goal. For imbalanced churn data, AUCPR was used — not accuracy, which would favor always predicting no-churn.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54496" y="3337560"/>
            <a:ext cx="2715768" cy="13258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54496" y="3337560"/>
            <a:ext cx="64008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382512" y="3429000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82512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57416" y="34472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Evaluate on a holdout set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82512" y="3794760"/>
            <a:ext cx="24963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Final performance must be reported on a test set the model and hyperparameters never saw during training or tuning — your 20% holdout in the churn analysis.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Hyperparameters in Machine Learning — Definition, Tuning &amp; Practical Application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8386678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Boosting — The Core Idea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A supervised ensemble method that builds a strong model by sequentially adding many weak learners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24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</a:rPr>
              <a:t>Foundational Insight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426464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Rather than building one powerful model in a single step, gradient boosting reduces prediction error incrementally. Each weak learner does not predict the original outcome — it predicts the residual error of the current ensemble. Adding that correction reduces overall error, and the process repeats.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3977640" cy="102412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64008" cy="10241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258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✏️  The Editing Analogy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5786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Each tree is like a pass through a manuscript — it fixes the mistakes left by the previous pass. Accumulated corrections converge on a polished final product.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2212848"/>
            <a:ext cx="4069080" cy="102412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2212848"/>
            <a:ext cx="64008" cy="10241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2258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📐  Gradient Descent in Function Space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57860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Standard gradient descent adjusts model parameters. Gradient boosting adjusts the predicted values themselves — gradient descent in function space, not parameter space.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80467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383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The Pseudo-Residual (what each tree actually fits)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6941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rᵢ  =  −∂L(yᵢ, F̂(xᵢ)) / ∂F̂(xᵢ)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0" y="3694176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For squared-error loss → ordinary residual yᵢ − ŷᵢ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For Bernoulli deviance (churn) → yᵢ − p̂ᵢ  (same as logistic regression's gradient)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Sensitivity, Specificity &amp; Gradient Boosting — ML Classification Definitions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1397813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Boosting — The Algorithm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Five steps, iterated M = 100 times in your churn model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4672" y="10058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0241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1581912" cy="25146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1581912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4904" y="1828800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Initialize F₀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2240280"/>
            <a:ext cx="14356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</a:rPr>
              <a:t>Start with a constant prediction: the log-odds of the base churn rate.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</a:rPr>
              <a:t>log(0.265/0.735) ≈ −1.02 → probability ≈ 26.5% for every customer.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1929384" y="2971800"/>
            <a:ext cx="118872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23744" y="100584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23744" y="10241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039112" y="1737360"/>
            <a:ext cx="1581912" cy="25146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39112" y="1737360"/>
            <a:ext cx="1581912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93976" y="1828800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Compute Pseudo-Residuals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12264" y="2240280"/>
            <a:ext cx="14356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</a:rPr>
              <a:t>For each customer: rᵢ = yᵢ − p̂ᵢ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</a:rPr>
              <a:t>Customers badly mis-predicted get large residuals — these are where the ensemble is most wrong.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3648456" y="2971800"/>
            <a:ext cx="118872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42816" y="100584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42816" y="10241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758184" y="1737360"/>
            <a:ext cx="1581912" cy="25146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758184" y="1737360"/>
            <a:ext cx="1581912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13048" y="1828800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Fit a Shallow Tree to rᵢ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31336" y="2240280"/>
            <a:ext cx="14356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</a:rPr>
              <a:t>A depth-5 tree partitions customers into groups sharing similar residual patterns — e.g., month-to-month, high charges, short tenure.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367528" y="2971800"/>
            <a:ext cx="118872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61888" y="10058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61888" y="10241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477256" y="1737360"/>
            <a:ext cx="1581912" cy="25146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77256" y="1737360"/>
            <a:ext cx="158191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32120" y="1828800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Shrink &amp; Add to Ensemble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50408" y="2240280"/>
            <a:ext cx="14356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</a:rPr>
              <a:t>Multiply tree output by η = 0.05, then add to the ensemble. Deliberate under-correction prevents any tree from dominating.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7086600" y="2971800"/>
            <a:ext cx="118872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680960" y="100584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80960" y="10241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196328" y="1737360"/>
            <a:ext cx="1581912" cy="25146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196328" y="1737360"/>
            <a:ext cx="1581912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251192" y="1828800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Repeat ×100 Iterations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69480" y="2240280"/>
            <a:ext cx="14356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</a:rPr>
              <a:t>Return to Step 2. Each iteration targets remaining errors. Final model: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374151"/>
                </a:solidFill>
              </a:rPr>
              <a:t>F̂(x) = F₀ + η × Σ hₘ(x)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457200" y="4416552"/>
            <a:ext cx="8229600" cy="3017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4360" y="44439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Why it works: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737360" y="444398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Shallow trees have high bias but low variance. Sequential addition progressively reduces bias; learning rate + subsampling control variance. Net result: low bias AND controlled variance.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Sensitivity, Specificity &amp; Gradient Boosting — ML Classification Definitions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299972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Boosting — Key Hyperparameters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Settings used in your tuned GBM churn model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114800" cy="16916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521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🌲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15568" y="11704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Number of Trees (M)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1170432"/>
            <a:ext cx="65836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0" y="11795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554480"/>
            <a:ext cx="3886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More trees reduce bias but increase overfitting risk and computation time. Optimized via 3-way grid search against AUCPR. Too few → underfitting; too many → overfitting.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907792"/>
            <a:ext cx="4114800" cy="16916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64008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9809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15568" y="29992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Learning Rate (η)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2999232"/>
            <a:ext cx="658368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0" y="30083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886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Multiplies each tree's contribution before adding it. Smaller η = more conservative correction per step, requiring more trees but typically producing better generalization. Tuned down from default 0.10.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1078992"/>
            <a:ext cx="4114800" cy="16916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46320" y="1078992"/>
            <a:ext cx="64008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3480" y="11521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04688" y="11704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Max Tree Depth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1170432"/>
            <a:ext cx="65836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0" y="11795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1554480"/>
            <a:ext cx="3886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Controls complexity of each weak learner. Depth 5 permits up to 5-way feature interactions. Depth 1 gives purely additive effects; greater depth allows interactions but risks overfitting.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2907792"/>
            <a:ext cx="4114800" cy="16916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2907792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83480" y="29809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🎲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04688" y="29992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Feature Sampling Rate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2999232"/>
            <a:ext cx="658368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9600" y="30083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0.15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3383280"/>
            <a:ext cx="3886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Random subset of features considered at each split. Injects regularizing randomness similar to Random Forest — acts as a built-in regularizer and speeds training by reducing computation per split.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" y="46817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</a:rPr>
              <a:t>⚠️  Variable importance requires care: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017520" y="46817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A low-ranked feature may still matter via interactions across trees or signal absorbed by a correlated feature entering earlier in the sequence. Permutation importance is more reliable than raw impurity-based importance.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Sensitivity, Specificity &amp; Gradient Boosting — ML Classification Definitions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4868267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Boosting vs. Related Methods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</a:rPr>
              <a:t>All are ensemble methods — they combine multiple models to outperform any single one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114800" cy="1783080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" cy="1783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704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🌲🌲🌲  Bagging / Random Forest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How: Trees built in PARALLEL on bootstrap samples; predictions averaged.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20482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</a:rPr>
              <a:t>✅ Reduces variance; robust to noisy data.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3500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</a:rPr>
              <a:t>⚠️ Does not reduce bias — systematic errors persist across trees.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078992"/>
            <a:ext cx="4114800" cy="1783080"/>
          </a:xfrm>
          <a:prstGeom prst="rect">
            <a:avLst/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078992"/>
            <a:ext cx="64008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1704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⚖️  AdaBoost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55448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How: Sequential trees. Misclassified observations are reweighted at each stage — not gradient descent.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83480" y="20482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</a:rPr>
              <a:t>✅ Early boosting method; simple to implement.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83480" y="23500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</a:rPr>
              <a:t>⚠️ Less flexible than gradient boosting; sensitive to noisy data and outliers.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999232"/>
            <a:ext cx="4114800" cy="1783080"/>
          </a:xfrm>
          <a:prstGeom prst="rect">
            <a:avLst/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999232"/>
            <a:ext cx="64008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0906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📈  Gradient Boosting (GBM)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47472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How: Sequential trees; each fits GRADIENTS of the loss — generalizes AdaBoost to any differentiable loss.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39684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</a:rPr>
              <a:t>✅ Directly reduces bias; flexible loss functions; best tabular data performance.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4270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</a:rPr>
              <a:t>⚠️ Slower to train than parallel methods; hyperparameter-sensitive.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2999232"/>
            <a:ext cx="4114800" cy="1783080"/>
          </a:xfrm>
          <a:prstGeom prst="rect">
            <a:avLst/>
          </a:prstGeom>
          <a:solidFill>
            <a:srgbClr val="F5F3FF"/>
          </a:solidFill>
          <a:ln w="1905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2999232"/>
            <a:ext cx="64008" cy="1783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83480" y="30906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⚡  XGBoost / LightGBM / HistGB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347472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How: Optimized GBM: second-order gradients, histogram splits, built-in L1/L2 regularization.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83480" y="39684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</a:rPr>
              <a:t>✅ Much faster training; handles missing values natively; state-of-the-art on tabular data.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83480" y="4270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</a:rPr>
              <a:t>⚠️ More complex to tune; HistGradientBoosting used in your Python model.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Sensitivity, Specificity &amp; Gradient Boosting — ML Classification Definitions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950869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Gradient Boosting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77240" y="100584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594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719072"/>
            <a:ext cx="1536192" cy="21031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764792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Initialize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3192" y="2176272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Start with a constant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prediction (log-odds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of the base churn rate)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92808" y="2697480"/>
            <a:ext cx="155448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96312" y="100584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96312" y="1024128"/>
            <a:ext cx="594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39112" y="1719072"/>
            <a:ext cx="1536192" cy="21031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84832" y="1764792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Compute Gradients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12264" y="2176272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For each customer,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calculate residual error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vs. current prediction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11880" y="2697480"/>
            <a:ext cx="155448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15384" y="100584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15384" y="1024128"/>
            <a:ext cx="594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58184" y="1719072"/>
            <a:ext cx="1536192" cy="21031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03904" y="1764792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Fit a Shallow Tree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31336" y="2176272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Train a depth-5 tree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to predict those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gradient values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30952" y="2697480"/>
            <a:ext cx="155448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34456" y="100584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34456" y="1024128"/>
            <a:ext cx="594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77256" y="1719072"/>
            <a:ext cx="1536192" cy="21031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22976" y="1764792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Shrink &amp; Add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50408" y="2176272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Multiply tree output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by learning rate (η=0.05)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then add to ensemble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050024" y="2697480"/>
            <a:ext cx="155448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653528" y="100584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653528" y="1024128"/>
            <a:ext cx="594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196328" y="1719072"/>
            <a:ext cx="1536192" cy="21031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42048" y="1764792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Repeat ×100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69480" y="2176272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Iterate until M=100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trees; each corrects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</a:rPr>
              <a:t>prior ensemble errors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" y="4041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</a:rPr>
              <a:t>Our Model Settings: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94560" y="4050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● Trees: 100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520440" y="4050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● Learning rate η: 0.05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4050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● Max depth: 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72200" y="4050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● Feature sampling: 15%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98080" y="4050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● Loss function: Bernoulli deviance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Customer Churn ML Analysis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MSE &amp; Model Fit Diagnostics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</a:rPr>
              <a:t>MSE Formula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MSE = (1/n) × Σ (yᵢ − ŷᵢ)²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93852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</a:rPr>
              <a:t>RMSE = √MSE  (restores original units)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3042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</a:rPr>
              <a:t>Squaring penalizes large errors disproportionately — a residual of 10 contributes 25× more than a residual of 2.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8745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Bias-Variance Decomposition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</a:rPr>
              <a:t>MSE = Bias² + Variance + Irreducible Error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Bias²: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1500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Systematic error — model consistently off in one direction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0" y="2231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Variance: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15000" y="22311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Sensitivity to training data — changes a lot across samples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0" y="2542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Irreducible: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15000" y="2542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Inherent noise — cannot be eliminated by any model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64008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0632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MSE in Our Churn Models (Brier Score Interpretation)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520440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5387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</a:rPr>
              <a:t>0.103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1520" y="3913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GBM Training MSE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0" y="3520440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0" y="35387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0.135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474720" y="3913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GBM CV MSE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3520440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0" y="35387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</a:rPr>
              <a:t>~0.195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17920" y="3913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No-skill baseline MSE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42062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151"/>
                </a:solidFill>
              </a:rPr>
              <a:t>GBM holdout MSE of 0.135 is meaningfully below the no-skill baseline of ~0.195 (= 0.265 × 0.735), confirming real predictive value. The 31% gap between training and CV MSE signals moderate overfitting.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Customer Churn ML Analysis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 &amp; Threshold Strategy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GBM at threshold = 0.50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194560" cy="1188720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</a:rPr>
              <a:t>~1,289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</a:rPr>
              <a:t>True Negative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</a:rPr>
              <a:t>Correctly retained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88920" y="1234440"/>
            <a:ext cx="2194560" cy="1188720"/>
          </a:xfrm>
          <a:prstGeom prst="rect">
            <a:avLst/>
          </a:prstGeom>
          <a:solidFill>
            <a:srgbClr val="FFF1F2"/>
          </a:solidFill>
          <a:ln w="19050">
            <a:solidFill>
              <a:srgbClr val="FECD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88920" y="1325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</a:rPr>
              <a:t>~68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8892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</a:rPr>
              <a:t>False Positive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88920" y="21488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</a:rPr>
              <a:t>Wrongly flagged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2194560" cy="1188720"/>
          </a:xfrm>
          <a:prstGeom prst="rect">
            <a:avLst/>
          </a:prstGeom>
          <a:solidFill>
            <a:srgbClr val="FFF1F2"/>
          </a:solidFill>
          <a:ln w="19050">
            <a:solidFill>
              <a:srgbClr val="FECD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</a:rPr>
              <a:t>~235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</a:rPr>
              <a:t>False Negative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</a:rPr>
              <a:t>Missed churner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88920" y="2560320"/>
            <a:ext cx="2194560" cy="1188720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8892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</a:rPr>
              <a:t>~276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78892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</a:rPr>
              <a:t>True Positive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88920" y="34747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</a:rPr>
              <a:t>Caught churner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10515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280"/>
                </a:solidFill>
              </a:rPr>
              <a:t>Predicted: No Churn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88920" y="10515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280"/>
                </a:solidFill>
              </a:rPr>
              <a:t>Predicted: Churn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448056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86791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Sensitivity: 0.54  |  Specificity: 0.95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49240" y="960120"/>
            <a:ext cx="333756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0" y="102412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</a:rPr>
              <a:t>The Threshold Problem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146304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At threshold 0.50 the model is conservative — it catches only 54% of actual churners while correctly retaining 95% of non-churners.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In a retention context, missing a churner (false negative) is far more costly than a wasted retention offer (false positive).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Lowering the threshold to 0.30–0.35 would substantially increase sensitivity at modest cost in precision — the PR curve shows this trade-off is favorable for this dataset.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Customer Churn ML Analysis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 Comparison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53619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CV AUC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Holdout AUC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CV AUCPR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Holdout AUCPR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Gradient Boosting (GBM)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.855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.870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.732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.759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Logistic Regression (LR)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.854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.864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.734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.753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Random Forest (RF)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.852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.871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.724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.754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hape 1"/>
          <p:cNvSpPr/>
          <p:nvPr/>
        </p:nvSpPr>
        <p:spPr>
          <a:xfrm>
            <a:off x="457200" y="3017520"/>
            <a:ext cx="2715768" cy="16916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301752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" y="3063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✅  All models in 'Good' range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66928" y="345643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AUC 0.85–0.87 sits solidly in the 0.80–0.89 band — meaningful discrimination well above the 0.50 chance baseline.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355848" y="3017520"/>
            <a:ext cx="2715768" cy="16916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355848" y="301752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465576" y="3063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📉  Modest GBM overfitting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465576" y="345643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GBM train AUC ~0.91 vs CV ~0.855. The gap signals mild overfitting, but holdout AUC ≈ 0.87 confirms good generalization.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54496" y="3017520"/>
            <a:ext cx="2715768" cy="16916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54496" y="301752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364224" y="3063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⚖️  All three models comparable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64224" y="345643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Differences of 1–2pp are not practically meaningful. LR is competitive and far more interpretable than GBM or RF.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Customer Churn ML Analysis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11480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33272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33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0" y="1051560"/>
            <a:ext cx="6583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0" y="10607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87552" y="10332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Tune the Classification Threshold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41732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Lower threshold to 0.30–0.35 to substantially increase sensitivity (catching more at-risk customers). PR curve confirms precision remains acceptable at higher recall.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411480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0" y="2395728"/>
            <a:ext cx="6583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0" y="240487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87552" y="23774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Address Multicollinearity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2761488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TenureMonths and TotalCharges are highly correlated (</a:t>
            </a:r>
            <a:r>
              <a:rPr lang="en-US" sz="950" dirty="0">
                <a:solidFill>
                  <a:srgbClr val="374151"/>
                </a:solidFill>
                <a:highlight>
                  <a:srgbClr val="FFFF00"/>
                </a:highlight>
              </a:rPr>
              <a:t>Total ≈ Monthly × </a:t>
            </a:r>
            <a:r>
              <a:rPr lang="en-US" sz="950" dirty="0">
                <a:solidFill>
                  <a:srgbClr val="374151"/>
                </a:solidFill>
              </a:rPr>
              <a:t>Tenure). Drop TotalCharges or create AvgMonthlyCharge = TotalCharges / TenureMonths.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648456"/>
            <a:ext cx="411480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721608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0" y="3739896"/>
            <a:ext cx="6583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0" y="374904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87552" y="372160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Investigate the Partner Paradox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4105656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Partner OR of 1.37 is counterintuitive. Likely reflects confounding with unmodeled variables. A stratified analysis by contract type or demographics would clarify.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960120"/>
            <a:ext cx="411480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937760" y="1033272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1033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0" y="1051560"/>
            <a:ext cx="6583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0" y="10607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376672" y="10332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Segment by Contract Type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56048" y="141732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Contract type is the dominant predictor. Building separate models for month-to-month vs. annual customers may sharpen predictions for each segment.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2304288"/>
            <a:ext cx="411480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37760" y="237744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3776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0" y="2395728"/>
            <a:ext cx="6583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0" y="240487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376672" y="23774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Add Model Calibration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56048" y="2761488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Apply Platt scaling or isotonic regression so predicted probabilities are well-calibrated for prioritizing retention outreach budgets.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3648456"/>
            <a:ext cx="411480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937760" y="3721608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3776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229600" y="3739896"/>
            <a:ext cx="658368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229600" y="374904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Strategic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376672" y="372160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Incorporate Cost-Sensitive Learning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956048" y="4105656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Lost CLV from a missed churner far exceeds the cost of a wasted retention offer. Asymmetric misclassification costs should be built into the loss function.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Customer Churn ML Analysis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457200"/>
            <a:ext cx="2286000" cy="228600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3200400"/>
            <a:ext cx="1371600" cy="1371600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0" y="5029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</a:rPr>
              <a:t>Key Takeaways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93008" y="109728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0" y="107899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All three models achieve good discrimination (AUC 0.85–0.87) with no meaningful performance differences between them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93008" y="1847088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0" y="182880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Contract type, tenure, and dependents are the strongest predictors of churn — retention strategy should target these levers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93008" y="2596896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0" y="257860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Logistic regression is as accurate as GBM/RF here and is far more interpretable — the preferred model for stakeholder communication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93008" y="3346704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0" y="3328416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At the default 0.50 threshold the model misses 46% of churners — lowering to 0.30–0.35 is the single highest-impact operational improvement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93008" y="4096512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0" y="4078224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AUCPR (~0.75) substantially exceeds the naive 0.265 baseline, confirming genuine predictive lift for a class-imbalanced outcome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0" y="4754880"/>
            <a:ext cx="53035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0" y="48463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ADCFC"/>
                </a:solidFill>
              </a:rPr>
              <a:t>Howard T. Everson  ·  CUNY  ·  Telco Churn ML Analysis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320040"/>
            <a:ext cx="2468880" cy="2468880"/>
          </a:xfrm>
          <a:prstGeom prst="ellips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" y="3200400"/>
            <a:ext cx="1463040" cy="1463040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0" y="43891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</a:rPr>
              <a:t>Key Takeaways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93008" y="96926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0" y="960120"/>
            <a:ext cx="4956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 single decision tree is a high-variance learner — small data changes produce radically different trees; random forests solve this through two simultaneous mechanisms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93008" y="160934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0" y="1600200"/>
            <a:ext cx="4956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Bootstrap aggregation trains each tree on a different random sample (~63.2% unique obs.); the remaining ~36.8% OOB observations provide a free, cross-validation-quality error estimate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93008" y="224942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0" y="2240280"/>
            <a:ext cx="4956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Random feature selection (m ≈ √p at each split) forces structural diversity across trees, breaking the correlation between tree errors and maximizing variance reduction through averaging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93008" y="288950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0" y="2880360"/>
            <a:ext cx="4956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Adding more trees never causes overfitting — variance decreases monotonically with B, unlike gradient boosting which requires careful early stopping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93008" y="352958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0" y="3520440"/>
            <a:ext cx="4956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Permutation importance (dropping accuracy when a feature is shuffled in OOB data) is the preferred variable importance measure — it directly quantifies predictive contribution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93008" y="416966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0" y="4160520"/>
            <a:ext cx="4956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In your churn model, RF achieved holdout AUC 0.871 — essentially equal to GBM (0.870) and LR (0.864); RF's advantage is low maintenance and robustness, not a performance ceiling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0" y="4754880"/>
            <a:ext cx="5303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0" y="484632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ADCFC"/>
                </a:solidFill>
              </a:rPr>
              <a:t>Howard T. Everson  ·  CUNY  ·  Random Forests — Ensemble Learning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320040"/>
            <a:ext cx="2468880" cy="2468880"/>
          </a:xfrm>
          <a:prstGeom prst="ellipse">
            <a:avLst/>
          </a:prstGeom>
          <a:solidFill>
            <a:srgbClr val="4F46E5">
              <a:alpha val="28000"/>
            </a:srgbClr>
          </a:solidFill>
          <a:ln w="12700">
            <a:solidFill>
              <a:srgbClr val="4F46E5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" y="3200400"/>
            <a:ext cx="1463040" cy="1463040"/>
          </a:xfrm>
          <a:prstGeom prst="ellipse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0" y="43891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</a:rPr>
              <a:t>Key Takeaways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93008" y="969264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0" y="960120"/>
            <a:ext cx="4956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Parameters are learned automatically from training data; hyperparameters must be set by the analyst before training — they define the rules the algorithm follows while learning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93008" y="1609344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0" y="1600200"/>
            <a:ext cx="4956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Hyperparameters cannot be learned from training data because complexity needs to be evaluated against held-out data: training error always favors maximum complexity regardless of generalization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93008" y="2249424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0" y="2240280"/>
            <a:ext cx="4956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Grid search (exhaustive, your 3×3 Stata grid) suits small spaces; random search suits large ones; Bayesian optimization is most efficient for expensive models — all require cross-validation for honest evaluation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93008" y="2889504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0" y="2880360"/>
            <a:ext cx="4956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Every complexity-controlling hyperparameter sits on the bias-variance tradeoff: increasing complexity reduces bias but raises variance; the goal is to minimize their sum on held-out data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93008" y="3529584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0" y="3520440"/>
            <a:ext cx="4956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Your GBM churn model: M=100 trees, η=0.05 (halved from default), depth=5, feature sampling=0.15 — each tuned to reduce overfitting while preserving enough flexibility to capture churn signal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93008" y="4169664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0" y="4160520"/>
            <a:ext cx="49560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There is no universally correct hyperparameter value — the right configuration depends on sample size, dimensionality, signal strength, and the prediction task at hand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0" y="4754880"/>
            <a:ext cx="530352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0" y="484632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ADCFC"/>
                </a:solidFill>
              </a:rPr>
              <a:t>Howard T. Everson  ·  CUNY  ·  Hyperparameters in Machine Learning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5692</TotalTime>
  <Words>8632</Words>
  <Application>Microsoft Macintosh PowerPoint</Application>
  <PresentationFormat>On-screen Show (16:9)</PresentationFormat>
  <Paragraphs>1143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Analysis of Customer Churn</dc:title>
  <dc:subject>PptxGenJS Presentation</dc:subject>
  <dc:creator>Howard T. Everson</dc:creator>
  <cp:lastModifiedBy>Howard Everson</cp:lastModifiedBy>
  <cp:revision>3</cp:revision>
  <dcterms:created xsi:type="dcterms:W3CDTF">2026-04-30T17:43:06Z</dcterms:created>
  <dcterms:modified xsi:type="dcterms:W3CDTF">2026-05-04T17:18:00Z</dcterms:modified>
</cp:coreProperties>
</file>