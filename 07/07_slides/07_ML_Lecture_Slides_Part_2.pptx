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70" r:id="rId4"/>
    <p:sldId id="271" r:id="rId5"/>
    <p:sldId id="272" r:id="rId6"/>
    <p:sldId id="273" r:id="rId7"/>
    <p:sldId id="258" r:id="rId8"/>
    <p:sldId id="259" r:id="rId9"/>
    <p:sldId id="260" r:id="rId10"/>
    <p:sldId id="284" r:id="rId11"/>
    <p:sldId id="261" r:id="rId12"/>
    <p:sldId id="262" r:id="rId13"/>
    <p:sldId id="263" r:id="rId14"/>
    <p:sldId id="264" r:id="rId15"/>
    <p:sldId id="265" r:id="rId16"/>
    <p:sldId id="266" r:id="rId17"/>
    <p:sldId id="285" r:id="rId18"/>
    <p:sldId id="267" r:id="rId19"/>
    <p:sldId id="268" r:id="rId20"/>
    <p:sldId id="269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300" r:id="rId30"/>
    <p:sldId id="287" r:id="rId31"/>
    <p:sldId id="289" r:id="rId32"/>
    <p:sldId id="290" r:id="rId33"/>
    <p:sldId id="291" r:id="rId34"/>
    <p:sldId id="292" r:id="rId35"/>
    <p:sldId id="294" r:id="rId36"/>
    <p:sldId id="295" r:id="rId37"/>
    <p:sldId id="296" r:id="rId38"/>
    <p:sldId id="297" r:id="rId39"/>
    <p:sldId id="282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93"/>
    <p:restoredTop sz="94610"/>
  </p:normalViewPr>
  <p:slideViewPr>
    <p:cSldViewPr snapToGrid="0" snapToObjects="1">
      <p:cViewPr varScale="1">
        <p:scale>
          <a:sx n="290" d="100"/>
          <a:sy n="290" d="100"/>
        </p:scale>
        <p:origin x="2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67" d="100"/>
        <a:sy n="167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Error</c:v>
                </c:pt>
              </c:strCache>
            </c:strRef>
          </c:tx>
          <c:spPr>
            <a:ln w="31750" cap="flat">
              <a:solidFill>
                <a:srgbClr val="0D737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5.2</c:v>
                </c:pt>
                <c:pt idx="1">
                  <c:v>3.8</c:v>
                </c:pt>
                <c:pt idx="2">
                  <c:v>2.5</c:v>
                </c:pt>
                <c:pt idx="3">
                  <c:v>1.6</c:v>
                </c:pt>
                <c:pt idx="4">
                  <c:v>0.9</c:v>
                </c:pt>
                <c:pt idx="5">
                  <c:v>0.5</c:v>
                </c:pt>
                <c:pt idx="6">
                  <c:v>0.25</c:v>
                </c:pt>
                <c:pt idx="7">
                  <c:v>0.1</c:v>
                </c:pt>
                <c:pt idx="8">
                  <c:v>0.05</c:v>
                </c:pt>
                <c:pt idx="9">
                  <c:v>0.02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CD2-B649-8A3C-623F0E11433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Error</c:v>
                </c:pt>
              </c:strCache>
            </c:strRef>
          </c:tx>
          <c:spPr>
            <a:ln w="3175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</c:v>
                </c:pt>
                <c:pt idx="1">
                  <c:v>3.5</c:v>
                </c:pt>
                <c:pt idx="2">
                  <c:v>2.2999999999999998</c:v>
                </c:pt>
                <c:pt idx="3">
                  <c:v>1.7</c:v>
                </c:pt>
                <c:pt idx="4">
                  <c:v>1.6</c:v>
                </c:pt>
                <c:pt idx="5">
                  <c:v>1.9</c:v>
                </c:pt>
                <c:pt idx="6">
                  <c:v>2.5</c:v>
                </c:pt>
                <c:pt idx="7">
                  <c:v>3.4</c:v>
                </c:pt>
                <c:pt idx="8">
                  <c:v>4.5</c:v>
                </c:pt>
                <c:pt idx="9">
                  <c:v>5.8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CCD2-B649-8A3C-623F0E1143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Model Complexity →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6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Prediction Error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Bias²</c:v>
                </c:pt>
              </c:strCache>
            </c:strRef>
          </c:tx>
          <c:spPr>
            <a:ln w="31750" cap="flat">
              <a:solidFill>
                <a:srgbClr val="6B3F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B3FA0"/>
              </a:solidFill>
              <a:ln w="9525" cap="flat">
                <a:solidFill>
                  <a:srgbClr val="6B3FA0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</c:v>
                </c:pt>
                <c:pt idx="1">
                  <c:v>5.5</c:v>
                </c:pt>
                <c:pt idx="2">
                  <c:v>3.5</c:v>
                </c:pt>
                <c:pt idx="3">
                  <c:v>2</c:v>
                </c:pt>
                <c:pt idx="4">
                  <c:v>1.2</c:v>
                </c:pt>
                <c:pt idx="5">
                  <c:v>0.8</c:v>
                </c:pt>
                <c:pt idx="6">
                  <c:v>0.5</c:v>
                </c:pt>
                <c:pt idx="7">
                  <c:v>0.35</c:v>
                </c:pt>
                <c:pt idx="8">
                  <c:v>0.25</c:v>
                </c:pt>
                <c:pt idx="9">
                  <c:v>0.18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C6D-D040-9E80-935C5353278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Variance</c:v>
                </c:pt>
              </c:strCache>
            </c:strRef>
          </c:tx>
          <c:spPr>
            <a:ln w="31750" cap="flat">
              <a:solidFill>
                <a:srgbClr val="0D737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0.1</c:v>
                </c:pt>
                <c:pt idx="1">
                  <c:v>0.2</c:v>
                </c:pt>
                <c:pt idx="2">
                  <c:v>0.4</c:v>
                </c:pt>
                <c:pt idx="3">
                  <c:v>0.7</c:v>
                </c:pt>
                <c:pt idx="4">
                  <c:v>1.1000000000000001</c:v>
                </c:pt>
                <c:pt idx="5">
                  <c:v>1.7</c:v>
                </c:pt>
                <c:pt idx="6">
                  <c:v>2.5</c:v>
                </c:pt>
                <c:pt idx="7">
                  <c:v>3.5</c:v>
                </c:pt>
                <c:pt idx="8">
                  <c:v>4.8</c:v>
                </c:pt>
                <c:pt idx="9">
                  <c:v>6.2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C6D-D040-9E80-935C5353278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Error</c:v>
                </c:pt>
              </c:strCache>
            </c:strRef>
          </c:tx>
          <c:spPr>
            <a:ln w="31750" cap="flat">
              <a:solidFill>
                <a:srgbClr val="F4A2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4A261"/>
              </a:solidFill>
              <a:ln w="9525" cap="flat">
                <a:solidFill>
                  <a:srgbClr val="F4A261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8.6</c:v>
                </c:pt>
                <c:pt idx="1">
                  <c:v>6.2</c:v>
                </c:pt>
                <c:pt idx="2">
                  <c:v>4.4000000000000004</c:v>
                </c:pt>
                <c:pt idx="3">
                  <c:v>3.2</c:v>
                </c:pt>
                <c:pt idx="4">
                  <c:v>2.8</c:v>
                </c:pt>
                <c:pt idx="5">
                  <c:v>3</c:v>
                </c:pt>
                <c:pt idx="6">
                  <c:v>3.5</c:v>
                </c:pt>
                <c:pt idx="7">
                  <c:v>4.3499999999999996</c:v>
                </c:pt>
                <c:pt idx="8">
                  <c:v>5.55</c:v>
                </c:pt>
                <c:pt idx="9">
                  <c:v>6.88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C6D-D040-9E80-935C535327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Model Complexity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6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Error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7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28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E644A-95A3-35D4-4F88-37EC11DED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E0C1DF-218D-7504-782A-00330524D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53917-1D9D-1857-2E8B-38F00274A3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7531A-BD12-BC99-7657-78A0D85B1D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0700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52DE7-325A-66E6-EF73-7768E2AD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418E1B-9E2F-37E6-3DE2-1A147CD13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C5F94F-97C2-5098-279C-AC147EBDB5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574CA2-CC1E-8A9E-9A4E-96591B6420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715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053CC-3605-14C8-5DAD-076949E29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ACC34-C7A9-AD0E-728B-1090C50C4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1414E8-402E-B63F-C85E-52A5EF5A97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F5731-4A27-89C4-B139-9D6E904FF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38284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D7377">
              <a:alpha val="20000"/>
            </a:srgbClr>
          </a:solidFill>
          <a:ln w="12700">
            <a:solidFill>
              <a:srgbClr val="0D7377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926080"/>
            <a:ext cx="2011680" cy="2011680"/>
          </a:xfrm>
          <a:prstGeom prst="ellipse">
            <a:avLst/>
          </a:prstGeom>
          <a:solidFill>
            <a:srgbClr val="32E0C4">
              <a:alpha val="15000"/>
            </a:srgbClr>
          </a:solidFill>
          <a:ln w="12700">
            <a:solidFill>
              <a:srgbClr val="32E0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7315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5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Foundations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Machine Learning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7A9B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Models · Ensemble Methods · Gradient Boosting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Foundations for Graduate Students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— Supervised vs. Unsupervised Learning</a:t>
            </a:r>
            <a:endParaRPr lang="en-US" sz="15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paradigms, examples, psychometric connections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— Tree-Based Regression &amp; Random Forests</a:t>
            </a:r>
            <a:endParaRPr lang="en-US" sz="15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trees, pruning, bagging, feature subsampling, OOB error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— Overfitting, Underfitting &amp; Model Complexity</a:t>
            </a:r>
            <a:endParaRPr lang="en-US" sz="15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decomposition, complexity-error curves, remedies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— The Bias-Variance Tradeoff: Conceptual Framework</a:t>
            </a:r>
            <a:endParaRPr lang="en-US" sz="15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 decomposition, signal vs. noise, sample size effects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— Gradient Boosting</a:t>
            </a:r>
            <a:endParaRPr lang="en-US" sz="15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5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Stagewise additive models, gradient descent in function space, XGBoost/</a:t>
            </a:r>
            <a:r>
              <a:rPr lang="en-US" sz="1500" i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500" i="1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6 — Supervised vs Unsupervised Work Flows</a:t>
            </a:r>
            <a:endParaRPr lang="en-US" sz="1500" dirty="0"/>
          </a:p>
          <a:p>
            <a:pPr lvl="1">
              <a:spcAft>
                <a:spcPts val="400"/>
              </a:spcAft>
              <a:buSzPct val="100000"/>
            </a:pPr>
            <a:endParaRPr lang="en-US" sz="1500" i="1" dirty="0">
              <a:solidFill>
                <a:srgbClr val="0D1B2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54864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vs.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3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Epistemological Distinction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training data {X, y}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= the outcome variable 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mapping  f̂: X → y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Subtypes:</a:t>
            </a:r>
            <a:endParaRPr lang="en-US" sz="1300" dirty="0"/>
          </a:p>
          <a:p>
            <a:pPr marL="0" lvl="1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Regression: continuous y</a:t>
            </a:r>
            <a:endParaRPr lang="en-US" sz="1300" dirty="0"/>
          </a:p>
          <a:p>
            <a:pPr marL="0" lvl="1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categorical 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Provides: explicit loss function, unambiguous evaluation criterion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status: Confirmatory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only to input features X — no outcome 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discover latent structure in X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tasks:</a:t>
            </a:r>
            <a:endParaRPr lang="en-US" sz="1300" dirty="0"/>
          </a:p>
          <a:p>
            <a:pPr marL="0" lvl="1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Clustering: group similar observations</a:t>
            </a:r>
            <a:endParaRPr lang="en-US" sz="1300" dirty="0"/>
          </a:p>
          <a:p>
            <a:pPr marL="0" lvl="1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reduction: compress X</a:t>
            </a:r>
            <a:endParaRPr lang="en-US" sz="1300" dirty="0"/>
          </a:p>
          <a:p>
            <a:pPr marL="0" lvl="1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estimation, anomaly detection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requires domain judgment alongside statistical criteria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status: Exploratory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Examples: One from Each Paradigm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(Supervised)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pass/fail (y ∈ {0,1}) from: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GPA, attendance, SES, formative scores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P(yᵢ = 1|xᵢ) = 1 / (1 + e^−(β₀ + βᵢxᵢ))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 maximize log-likelihood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AUC, accuracy, sensitivity on held-out test set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is explicit — every training student has a known outcome label that adjusts parameters.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(Unsupervised)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27632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measured on: reading fluency, math reasoning, executive function, engagement — no predefined groups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Minimize: Σₖ Σᵢ∈Cₖ ‖xᵢ − μₖ‖²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assignments emerge from geometric structure alone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chosen by: silhouette, gap statistic, elbow method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requires domain interpretation — do clusters map to meaningful student profiles?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 Analogs: Mapping the Distinction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Analogs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Factor Analysis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latent dimensions from covariance structure — no external criterion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Latent Class Analysis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unobserved categorical subpopulations — probabilistic K-means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Cluster Analysis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examinees by response pattern similarity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Analogs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Validity Studies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Regressing criterion (GPA, job performance) on test scores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 Analysis with Known Groups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on group membership provides supervision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G-Theory Decision Studies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measurement decisions relative to a defined criterion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54864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Regression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Random Forests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Regression: Core Mechanics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Partitions feature space into rectangular regions via recursive binary splits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algorithm: each split minimizes RSS:</a:t>
            </a:r>
            <a:endParaRPr lang="en-US" sz="1400" dirty="0"/>
          </a:p>
          <a:p>
            <a:pPr marL="0" lvl="1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= Σⱼ Σᵢ∈Rⱼ (yᵢ − ȳRⱼ)²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= mean of training obs in leaf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Pruning: cost-complexity (α|T|) controls overfitting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Weaknesses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Strengths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1901952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 — visual rules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variable types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interactions implicitly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Weaknesses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3375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variance — sensitive to sample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predictive accuracy alone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Instability undermines inference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Forests: Two Innovations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74320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Bagging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B bootstrap samples → fit full tree to each → average: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f̂bag(x) = (1/B) Σ f̂*b(x)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 toward σ²/B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74320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290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Feature Subsampling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split, consider only m &lt; p predictors (≈ p/3).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Decorrelates trees → genuine ensemble diversity → further variance reduction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309360" y="1097280"/>
            <a:ext cx="274320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OOB &amp; Importance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1600200"/>
            <a:ext cx="24688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~37% of obs left out per bootstrap → free validation set.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Permutation-based variable importance: reliable, model-free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023B7-C79B-9E82-0BFD-192F5B26F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57AD5D-0300-4AB6-0CF1-0D6E9892619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E7FCAC1-242E-9A82-CAF7-0313FD9DA704}"/>
              </a:ext>
            </a:extLst>
          </p:cNvPr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F4AC68-3600-C50F-8F56-6F6E026BAD93}"/>
              </a:ext>
            </a:extLst>
          </p:cNvPr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Tree Based Regression Model</a:t>
            </a:r>
            <a:endParaRPr lang="en-US" sz="22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6D3E201-BB70-B4DA-3E45-626EA9BB0A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173" y="1220771"/>
            <a:ext cx="5628969" cy="37335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47625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Tree vs. Random Forest: Head-to-Head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24128"/>
          <a:ext cx="8321040" cy="3511296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— visual, explicit rules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— black box ensemble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(decorrelated averaging)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(deep trees)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Slightly higher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Predictive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Generally excellent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without pruning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— OOB self-regulates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Importance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Permutation-based (reliable)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Computational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(B × single tree)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54864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&amp;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Opposite Failure Modes in Model Fitting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D5F5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4023360" cy="4114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Underfitting (High Bias)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simple for true structure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Imposes constraints data does not satisfy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signature: High Bias, Low Variance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Diagnostics: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training AND test error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residual patterns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linear fit to curved data; 1D IRT on multidimensional construct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402336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ADADD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0233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Overfitting (High Variance)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5544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too complex for sample size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signal AND idiosyncratic noise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signature: Low Bias, High Variance</a:t>
            </a:r>
            <a:endParaRPr lang="en-US" sz="13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Diagnostics: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generalization gap (train ≪ test error)</a:t>
            </a:r>
            <a:endParaRPr lang="en-US" sz="1300" dirty="0"/>
          </a:p>
          <a:p>
            <a:pPr marL="685800" lvl="1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coefficients across samples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unpruned tree; high-degree polynomial interpolation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Complexity-Error Curve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51560"/>
          <a:ext cx="5303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1143000"/>
            <a:ext cx="2880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6B3FA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943600" y="1143000"/>
            <a:ext cx="64008" cy="82296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080760" y="118872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Underfitting Zone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080760" y="147218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train &amp; test 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Bias · Low Variance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0" y="2148840"/>
            <a:ext cx="2880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7377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943600" y="2148840"/>
            <a:ext cx="64008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80760" y="219456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Zone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080760" y="247802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test 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Bias-Variance balanced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43600" y="3154680"/>
            <a:ext cx="28803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943600" y="3154680"/>
            <a:ext cx="64008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320040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Zone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080760" y="348386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train, high test error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Bias · High Variance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Remedies for Overfitting &amp; Underfitting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Underfitting →  Reduce Bias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polynomial terms, interactions, or nonlinear transformations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to flexible model class (GAMs, trees, mixed models)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Reconsider measurement model — allow multidimensionality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Overfitting →  Reduce Variance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Regularization: Ridge, Lasso, Elastic Net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 (trees); Dropout (neural nets)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reduction: PCA, factor analysis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for tuning parameter selection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sample size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priors: principled shrinkage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54864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Bias-Variance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Tradeoff</a:t>
            </a:r>
            <a:endParaRPr lang="en-US" sz="3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1D6E2-A0F4-4FBF-DCE7-2669D7A9C3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F5F7092-25C1-B864-9F88-49954902AE83}"/>
              </a:ext>
            </a:extLst>
          </p:cNvPr>
          <p:cNvSpPr/>
          <p:nvPr/>
        </p:nvSpPr>
        <p:spPr>
          <a:xfrm>
            <a:off x="0" y="25146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72AB6D-04C2-D9DD-8A41-BBDC0E2AAD63}"/>
              </a:ext>
            </a:extLst>
          </p:cNvPr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2BB622-BEC9-CADA-8B51-5D102340D687}"/>
              </a:ext>
            </a:extLst>
          </p:cNvPr>
          <p:cNvSpPr/>
          <p:nvPr/>
        </p:nvSpPr>
        <p:spPr>
          <a:xfrm>
            <a:off x="368300" y="91440"/>
            <a:ext cx="83642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K-Means Clustering Models</a:t>
            </a:r>
            <a:endParaRPr lang="en-US" sz="2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CCC757-4D89-A74F-285E-12F4240D4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09" y="1712214"/>
            <a:ext cx="4376909" cy="30375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F9C991-69FD-CBAF-8D67-A0C52C486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874" y="1712214"/>
            <a:ext cx="4451517" cy="281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993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Prediction Error: The Fundamental Decomposition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EPE(x₀)  =  Bias²[f̂(x₀)]  +  Var[f̂(x₀)]  +  σ²ε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487168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487168"/>
            <a:ext cx="2743200" cy="50292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24871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Bias²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75488" y="2724912"/>
            <a:ext cx="2523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Error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044952"/>
            <a:ext cx="252374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of the model CLASS, not the sample.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Reflects structural assumptions imposed on f(x): linearity, additivity, parametric form.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cannot fix bias — the model is structurally wrong.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2487168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37560" y="2487168"/>
            <a:ext cx="2743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47288" y="24871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447288" y="2724912"/>
            <a:ext cx="2523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Instability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47288" y="3044952"/>
            <a:ext cx="252374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of sensitivity to the specific training sample.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high-variance model changes substantially across different samples — it fits noise alongside signal.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does not replicate.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487168"/>
            <a:ext cx="274320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C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309360" y="2487168"/>
            <a:ext cx="2743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19088" y="24871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σ²ε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419088" y="2724912"/>
            <a:ext cx="252374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Error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19088" y="3044952"/>
            <a:ext cx="2523744" cy="1801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stochasticity in the phenomenon — measurement error, unmeasured causes, intrinsic randomness.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a hard floor on achievable prediction error. No model, however perfect, can remove it.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Tradeoff: Opposite Responses to Complexity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051560"/>
          <a:ext cx="548640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989320" y="10972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89320" y="1463040"/>
            <a:ext cx="28346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complexity ↑: Bias² ↓ but Variance ↑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error is U-shaped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= minimum of Bias² + Variance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universally correct complexity level — depends on n and signal strength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n shifts the optimal point rightward (supports more complex models)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Levers for Managing the Tradeoff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24128"/>
          <a:ext cx="8503920" cy="3340608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Mechanism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 (Ridge, Lasso)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Penalize coefficient magnitude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Introduces bias → reduces variance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Cross-Validation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 test error directly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Locates optimal complexity empirically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Methods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many fitted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variance without increasing bias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Bayesian Informative Priors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 estimates toward prior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Principled bias-variance regulation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Dimensionality Reduction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effective parameter count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Lowers variance; small bias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Sample Size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Stabilizes estimation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variance; bias unchanged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73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645920"/>
            <a:ext cx="9144000" cy="54864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3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Boosting: The Core Idea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85800"/>
          </a:xfrm>
          <a:prstGeom prst="rect">
            <a:avLst/>
          </a:prstGeom>
          <a:solidFill>
            <a:srgbClr val="E8F0F2"/>
          </a:solidFill>
          <a:ln w="12700">
            <a:solidFill>
              <a:srgbClr val="C5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many trees in PARALLEL → average predictions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8412480" cy="6858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Boosting: trees built SEQUENTIALLY — each corrects errors of all previous trees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animating intuition: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fitting one complex model to the data, fit a sequence of simple models to the residuals of the residuals — iteratively steering the ensemble toward the truth by following the gradient of the loss function.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Stagewise Additive Model:   F̂M(x) = Σₘ ν · hₘ(x)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" y="446227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hₘ(x) = m-th weak learner (shallow tree)  ·  ν = learning rate  ·  M = total boosting rounds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Algorithm: Step by Step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600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600200" cy="502920"/>
          </a:xfrm>
          <a:prstGeom prst="rect">
            <a:avLst/>
          </a:prstGeom>
          <a:solidFill>
            <a:srgbClr val="5A7A8A"/>
          </a:solidFill>
          <a:ln w="12700">
            <a:solidFill>
              <a:srgbClr val="5A7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600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1417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F₀(x) = argmin Σ L(yᵢ, γ)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mean (regression) or log-odds (classification)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20824" y="1078992"/>
            <a:ext cx="1600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20824" y="1078992"/>
            <a:ext cx="1600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20824" y="10789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30552" y="1600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Pseudo-Residuals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12264" y="2084832"/>
            <a:ext cx="1417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rᵢₘ = −∂L(yᵢ, F(xᵢ))/∂F(xᵢ)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squared error: rᵢₘ = yᵢ − F̂ₘ₋₁(xᵢ)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targets for the next tree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21608" y="1078992"/>
            <a:ext cx="1600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721608" y="1078992"/>
            <a:ext cx="160020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721608" y="10789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831336" y="1600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Weak Learner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13048" y="2084832"/>
            <a:ext cx="1417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shallow tree hₘ(x) (4–8 terminal nodes)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pseudo-residuals {rᵢₘ} as response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22392" y="1078992"/>
            <a:ext cx="1600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22392" y="1078992"/>
            <a:ext cx="1600200" cy="502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22392" y="10789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1600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Leaf Weights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13832" y="2084832"/>
            <a:ext cx="1417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leaf j: γⱼₘ = argmin Σ L(yᵢ, F̂ₘ₋₁(xᵢ) + γ)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step size per leaf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23176" y="1078992"/>
            <a:ext cx="16002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E6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123176" y="1078992"/>
            <a:ext cx="160020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23176" y="10789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32904" y="160020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Ensemble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14616" y="2084832"/>
            <a:ext cx="1417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F̂ₘ(x) = F̂ₘ₋₁(x) + ν · hₘ(x)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learning rate ν prevents overfitting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Descent Connection (Friedman, 2001)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Ordinary Gradient Descent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3749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L(θ) over a parameter vector: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θ⁽ᵗ⁾ = θ⁽ᵗ⁻¹⁾ − η · ∇θ L(θ⁽ᵗ⁻¹⁾)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 finite vector of numbers.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3749040" cy="1097280"/>
          </a:xfrm>
          <a:prstGeom prst="rect">
            <a:avLst/>
          </a:prstGeom>
          <a:solidFill>
            <a:srgbClr val="E8F0F2"/>
          </a:solidFill>
          <a:ln w="12700">
            <a:solidFill>
              <a:srgbClr val="C5D8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3639312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live in ℝᵖ — a finite-dimensional space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= Gradient Descent in Function Space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64592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"parameters" are the function F(x) itself,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at every training point.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gradient = pseudo-residuals: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rᵢₘ = −∂L(yᵢ, F(xᵢ))/∂F(xᵢ)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fits these residuals — a step in function space.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92040" y="4160520"/>
            <a:ext cx="3749040" cy="5029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83480" y="423367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lives in an infinite-dimensional function space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 in Gradient Boosting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1600" y="1188720"/>
            <a:ext cx="731520" cy="7315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75488" y="2029968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(Shrinkage)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606040"/>
            <a:ext cx="252374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each tree's contribution.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ν → more trees needed but better generalization.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pair (ν, M) jointly controls effective complexity.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3756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43400" y="1188720"/>
            <a:ext cx="731520" cy="731520"/>
          </a:xfrm>
          <a:prstGeom prst="ellipse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434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47288" y="2029968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Depth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47288" y="2606040"/>
            <a:ext cx="252374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trees → weak learners with high bias, low variance.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Depth-2: pairwise interactions.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Depth-3: three-way interactions (often sufficient).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109728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5EC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1188720"/>
            <a:ext cx="731520" cy="7315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11887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19088" y="2029968"/>
            <a:ext cx="252374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19088" y="2606040"/>
            <a:ext cx="2523744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each tree on a random subsample (without replacement).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Introduces randomness → reduces variance, speeds computation.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gradient boosting to random forests.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Implementations: XGBoost · LightGBM · CatBoost</a:t>
            </a:r>
            <a:endParaRPr lang="en-US" sz="2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24128"/>
          <a:ext cx="8503920" cy="29260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Innovation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2nd-order Taylor expansion of loss; explicit L1/L2 regularization; approximate split-finding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precise leaf weight updates; handles large, sparse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GOSS (gradient-based one-side sampling); EFB (exclusive feature bundling); leaf-wise tree growth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Dramatically faster training on high-dimensional data; comparable 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CatBoost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boosting: statistics computed using only prior observations in a random permutation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Eliminates target leakage in categorical feature encoding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vs. Random Forests: Refined Comparison</a:t>
            </a:r>
            <a:endParaRPr lang="en-US" sz="2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24128"/>
          <a:ext cx="8503920" cy="351129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 construction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Parallel, independent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Sequential, corrective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reduction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Full-depth trees (inherently low bias)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residual fitting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reduction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Averaging decorrelated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Shrinkage + subsampling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learner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— plateaus with more trees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overfit — requires early stopping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state-of-the-art on tabular 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Parallelizable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Inherently sequential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9144000" cy="50292"/>
          </a:xfrm>
          <a:prstGeom prst="rect">
            <a:avLst/>
          </a:prstGeom>
          <a:solidFill>
            <a:srgbClr val="14A085"/>
          </a:solidFill>
          <a:ln w="12700">
            <a:solidFill>
              <a:srgbClr val="14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9144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Connections &amp; Educational Measurement Applications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Connections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Stagewise Regression &amp; LASSO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model building; each step reduces residual error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Algorithm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correction: fit → residuals → fit residuals → update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Data Analysis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Treats functions as objects to optimize, not finite parameter vectors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0F2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4023360" cy="4114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Measurement Applications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600200"/>
            <a:ext cx="374904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Essay Scoring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linguistic/syntactic/semantic feature interactions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Data Analysis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high-dimensional log files from computer-based assessments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&amp; Persistence Prediction</a:t>
            </a:r>
            <a:endParaRPr lang="en-US" sz="1300" dirty="0"/>
          </a:p>
          <a:p>
            <a:pPr marL="914400" lvl="1" indent="-4572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student data with mixed variable types; variable importance diagnostics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1CC88-9046-D331-1CF2-ACF96EE0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3B18722-1033-C592-6395-EACB79073EAA}"/>
              </a:ext>
            </a:extLst>
          </p:cNvPr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E4E9CB8-DE88-AE55-5D56-A1EAFE1ACEA9}"/>
              </a:ext>
            </a:extLst>
          </p:cNvPr>
          <p:cNvSpPr/>
          <p:nvPr/>
        </p:nvSpPr>
        <p:spPr>
          <a:xfrm>
            <a:off x="0" y="1645920"/>
            <a:ext cx="9144000" cy="54864"/>
          </a:xfrm>
          <a:prstGeom prst="rect">
            <a:avLst/>
          </a:prstGeom>
          <a:solidFill>
            <a:srgbClr val="32E0C4"/>
          </a:solidFill>
          <a:ln w="12700">
            <a:solidFill>
              <a:srgbClr val="32E0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F25112E-C5E2-1995-27B9-FD1994FEE94F}"/>
              </a:ext>
            </a:extLst>
          </p:cNvPr>
          <p:cNvSpPr/>
          <p:nvPr/>
        </p:nvSpPr>
        <p:spPr>
          <a:xfrm>
            <a:off x="548640" y="320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6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SECTION6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81D7323-2D5F-0BD6-8FF5-B00F7F373332}"/>
              </a:ext>
            </a:extLst>
          </p:cNvPr>
          <p:cNvSpPr/>
          <p:nvPr/>
        </p:nvSpPr>
        <p:spPr>
          <a:xfrm>
            <a:off x="548640" y="182880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comparison of how each paradigm</a:t>
            </a:r>
            <a:endParaRPr lang="en-US" sz="2800" dirty="0"/>
          </a:p>
          <a:p>
            <a:r>
              <a:rPr lang="en-US" sz="28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operates from raw data to deployment</a:t>
            </a:r>
            <a:endParaRPr lang="en-US" sz="2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 Boosting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145220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learning paradigms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77640" cy="3931920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977640" cy="4572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1572768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training data — every observation has a known outcome 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396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" y="2139696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learn a mapping f̂: X → y for prediction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066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706624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loss function; unambiguous evaluation criterion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27355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3273552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Subtypes: regression (continuous y) and classification (categorical y)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840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04672" y="3840480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status: Confirmatory — tests a pre-specified mapping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005840"/>
            <a:ext cx="3977640" cy="3931920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800600" y="1005840"/>
            <a:ext cx="3977640" cy="45720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37760" y="10058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15727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39512" y="1572768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X only — no outcome labels exist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21396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39512" y="2139696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discover latent structure inherent in 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27066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39512" y="2706624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objective; evaluation requires domain judgment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27355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39512" y="3273552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Tasks: clustering, dimensionality reduction, density estimation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37760" y="38404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9512" y="3840480"/>
            <a:ext cx="34015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Epistemic status: Exploratory — generates hypotheses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02920" y="4681728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fundamental divergence: supervised learning requires a known label y for every training observation; unsupervised learning operates without any labels.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— stages 1 through 3: data preparation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920240" y="987552"/>
            <a:ext cx="493776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29968" y="1133856"/>
            <a:ext cx="365760" cy="365760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29968" y="1133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078992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335024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with features X and a known outcome y for each row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0" cy="201168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20240" y="1847088"/>
            <a:ext cx="4937760" cy="65836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29968" y="1993392"/>
            <a:ext cx="365760" cy="36576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29968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1938528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every observation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2194560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ground-truth outcome y — categorical or continuous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505456"/>
            <a:ext cx="0" cy="201168"/>
          </a:xfrm>
          <a:prstGeom prst="line">
            <a:avLst/>
          </a:prstGeom>
          <a:noFill/>
          <a:ln w="19050">
            <a:solidFill>
              <a:srgbClr val="AFA9E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20240" y="2706624"/>
            <a:ext cx="493776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29968" y="2852928"/>
            <a:ext cx="365760" cy="365760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29968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798064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 split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3054096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data before any modeling; keep test set completely unseen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987552"/>
            <a:ext cx="2286000" cy="2377440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83680" y="10424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labels matter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1344168"/>
            <a:ext cx="2103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label y is the supervision signal. Every parameter update during training is driven by the discrepancy between ŷ and y. Without labels, there is no error signal.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706624"/>
            <a:ext cx="1920240" cy="658368"/>
          </a:xfrm>
          <a:prstGeom prst="rect">
            <a:avLst/>
          </a:prstGeom>
          <a:solidFill>
            <a:srgbClr val="FAEEDA"/>
          </a:solidFill>
          <a:ln w="12700">
            <a:solidFill>
              <a:srgbClr val="BA751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1480" y="27432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rule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298094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never seen until final evaluation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4–7 continue on the next slide →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— stages 4 through 7: training &amp; evaluation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920240" y="987552"/>
            <a:ext cx="493776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29968" y="1133856"/>
            <a:ext cx="365760" cy="365760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29968" y="1133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078992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335024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Scale, encode, and transform predictors before fitting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0" cy="201168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20240" y="1847088"/>
            <a:ext cx="4937760" cy="74980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29968" y="2039112"/>
            <a:ext cx="365760" cy="36576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29968" y="2039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1938528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2194560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loss L(y, ŷ) on the training set — the core learning step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596896"/>
            <a:ext cx="0" cy="201168"/>
          </a:xfrm>
          <a:prstGeom prst="line">
            <a:avLst/>
          </a:prstGeom>
          <a:noFill/>
          <a:ln w="19050">
            <a:solidFill>
              <a:srgbClr val="AFA9E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20240" y="2798064"/>
            <a:ext cx="493776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29968" y="2944368"/>
            <a:ext cx="365760" cy="365760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29968" y="29443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889504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hyperparameter tuning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3145536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complexity; use cross-validation to prevent overfitting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3127248"/>
            <a:ext cx="640080" cy="0"/>
          </a:xfrm>
          <a:prstGeom prst="line">
            <a:avLst/>
          </a:prstGeom>
          <a:noFill/>
          <a:ln w="1524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0" y="2221992"/>
            <a:ext cx="0" cy="905256"/>
          </a:xfrm>
          <a:prstGeom prst="line">
            <a:avLst/>
          </a:prstGeom>
          <a:noFill/>
          <a:ln w="1524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58000" y="2221992"/>
            <a:ext cx="640080" cy="0"/>
          </a:xfrm>
          <a:prstGeom prst="line">
            <a:avLst/>
          </a:prstGeom>
          <a:noFill/>
          <a:ln w="15240">
            <a:solidFill>
              <a:srgbClr val="AFA9E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3720" y="260604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89120" y="3456432"/>
            <a:ext cx="0" cy="201168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20240" y="3657600"/>
            <a:ext cx="4937760" cy="658368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029968" y="3803904"/>
            <a:ext cx="365760" cy="365760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029968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468880" y="3749040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evaluation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468880" y="4005072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accuracy, AUC, MSE — honest estimate of generalization error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1847088"/>
            <a:ext cx="2286000" cy="2468880"/>
          </a:xfrm>
          <a:prstGeom prst="rect">
            <a:avLst/>
          </a:prstGeom>
          <a:solidFill>
            <a:srgbClr val="EEEDFE"/>
          </a:solidFill>
          <a:ln w="12700">
            <a:solidFill>
              <a:srgbClr val="AFA9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0" y="19019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 options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583680" y="2231136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MSE — regression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2706624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Cross-entropy — classification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83680" y="3182112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Log-likelihood — probabilistic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36576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Hinge loss — SVMs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7731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Stage 3 completed on previous slide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— stage 8: deployment &amp; prediction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0" y="1051560"/>
            <a:ext cx="6400800" cy="1005840"/>
          </a:xfrm>
          <a:prstGeom prst="rect">
            <a:avLst/>
          </a:prstGeom>
          <a:solidFill>
            <a:srgbClr val="E1F5EE"/>
          </a:solidFill>
          <a:ln w="19050">
            <a:solidFill>
              <a:srgbClr val="5DCA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1328" y="1161288"/>
            <a:ext cx="548640" cy="54864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481328" y="11612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21408" y="11155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predict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21408" y="14447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new, unlabeled inputs x → ŷ on production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2743200" cy="251460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2331720"/>
            <a:ext cx="27432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" y="23317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779776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observation arrives with features X but no label — the model has never seen this data point.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108960" y="3593592"/>
            <a:ext cx="182880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91840" y="2331720"/>
            <a:ext cx="2743200" cy="251460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91840" y="2331720"/>
            <a:ext cx="27432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1568" y="23317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29000" y="2779776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fitted model f̂ maps x through its learned parameters to produce a predicted output ŷ.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3593592"/>
            <a:ext cx="182880" cy="0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17920" y="2331720"/>
            <a:ext cx="2743200" cy="2514600"/>
          </a:xfrm>
          <a:prstGeom prst="rect">
            <a:avLst/>
          </a:prstGeom>
          <a:solidFill>
            <a:srgbClr val="FFFFFF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17920" y="2331720"/>
            <a:ext cx="2743200" cy="38404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27648" y="2331720"/>
            <a:ext cx="25237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2779776"/>
            <a:ext cx="246888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ŷ is delivered: a class label (classification) or a continuous value (regression) with a confidence score.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 — complete workflow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33172" y="2103120"/>
            <a:ext cx="868680" cy="100584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2064" y="2176272"/>
            <a:ext cx="310896" cy="3108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12064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172" y="2560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3172" y="283464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01852" y="2606040"/>
            <a:ext cx="246888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48740" y="2103120"/>
            <a:ext cx="868680" cy="1005840"/>
          </a:xfrm>
          <a:prstGeom prst="rect">
            <a:avLst/>
          </a:prstGeom>
          <a:solidFill>
            <a:srgbClr val="EEEDFE"/>
          </a:solidFill>
          <a:ln w="10160">
            <a:solidFill>
              <a:srgbClr val="AFA9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627632" y="2176272"/>
            <a:ext cx="310896" cy="31089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27632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48740" y="2560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48740" y="283464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17420" y="2606040"/>
            <a:ext cx="246888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464308" y="2103120"/>
            <a:ext cx="868680" cy="100584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0" y="2176272"/>
            <a:ext cx="310896" cy="3108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0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464308" y="2560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4308" y="283464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32988" y="2606040"/>
            <a:ext cx="246888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579876" y="2103120"/>
            <a:ext cx="868680" cy="100584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858768" y="2176272"/>
            <a:ext cx="310896" cy="3108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858768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79876" y="2560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579876" y="283464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48556" y="2606040"/>
            <a:ext cx="246888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695444" y="2103120"/>
            <a:ext cx="868680" cy="1005840"/>
          </a:xfrm>
          <a:prstGeom prst="rect">
            <a:avLst/>
          </a:prstGeom>
          <a:solidFill>
            <a:srgbClr val="EEEDFE"/>
          </a:solidFill>
          <a:ln w="10160">
            <a:solidFill>
              <a:srgbClr val="AFA9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974336" y="2176272"/>
            <a:ext cx="310896" cy="31089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74336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95444" y="2560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95444" y="283464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 loss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64124" y="2606040"/>
            <a:ext cx="246888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811012" y="2103120"/>
            <a:ext cx="868680" cy="100584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89904" y="2176272"/>
            <a:ext cx="310896" cy="3108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089904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11012" y="2560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811012" y="283464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params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679692" y="2606040"/>
            <a:ext cx="246888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926580" y="2103120"/>
            <a:ext cx="868680" cy="1005840"/>
          </a:xfrm>
          <a:prstGeom prst="rect">
            <a:avLst/>
          </a:prstGeom>
          <a:solidFill>
            <a:srgbClr val="EEEDFE"/>
          </a:solidFill>
          <a:ln w="10160">
            <a:solidFill>
              <a:srgbClr val="AFA9EC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205472" y="2176272"/>
            <a:ext cx="310896" cy="310896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05472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26580" y="2560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26580" y="283464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795260" y="2606040"/>
            <a:ext cx="246888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042148" y="2103120"/>
            <a:ext cx="868680" cy="1005840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321040" y="2176272"/>
            <a:ext cx="310896" cy="31089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321040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42148" y="2560320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042148" y="2834640"/>
            <a:ext cx="868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ŷ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64124" y="1783080"/>
            <a:ext cx="1115568" cy="0"/>
          </a:xfrm>
          <a:prstGeom prst="line">
            <a:avLst/>
          </a:prstGeom>
          <a:noFill/>
          <a:ln w="12700">
            <a:solidFill>
              <a:srgbClr val="AFA9EC"/>
            </a:solidFill>
            <a:prstDash val="dash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564124" y="1783080"/>
            <a:ext cx="0" cy="320040"/>
          </a:xfrm>
          <a:prstGeom prst="line">
            <a:avLst/>
          </a:prstGeom>
          <a:noFill/>
          <a:ln w="12700">
            <a:solidFill>
              <a:srgbClr val="AFA9E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926580" y="1783080"/>
            <a:ext cx="0" cy="320040"/>
          </a:xfrm>
          <a:prstGeom prst="line">
            <a:avLst/>
          </a:prstGeom>
          <a:noFill/>
          <a:ln w="12700">
            <a:solidFill>
              <a:srgbClr val="AFA9EC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472684" y="1600200"/>
            <a:ext cx="12984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loop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3337560"/>
            <a:ext cx="8229600" cy="822960"/>
          </a:xfrm>
          <a:prstGeom prst="rect">
            <a:avLst/>
          </a:prstGeom>
          <a:solidFill>
            <a:srgbClr val="EEEDFE"/>
          </a:solidFill>
          <a:ln w="10160">
            <a:solidFill>
              <a:srgbClr val="AFA9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94360" y="3401568"/>
            <a:ext cx="79552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principle: supervision flows from label y through a loss function to drive every parameter update. The model learns by being shown what the correct answer is and minimizing the gap between its prediction ŷ and that answer.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94360" y="4361688"/>
            <a:ext cx="795528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 analog: predictive validity studies (regressing GPA or job performance on test scores) are supervised learning in classical form.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— stages 1 through 3: data &amp; discovery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920240" y="987552"/>
            <a:ext cx="493776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29968" y="1133856"/>
            <a:ext cx="365760" cy="365760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029968" y="11338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68880" y="1078992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(features only)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1335024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matrix X — no outcome labels exist or are required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0" cy="201168"/>
          </a:xfrm>
          <a:prstGeom prst="line">
            <a:avLst/>
          </a:prstGeom>
          <a:noFill/>
          <a:ln w="1905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920240" y="1847088"/>
            <a:ext cx="493776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029968" y="1993392"/>
            <a:ext cx="365760" cy="365760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029968" y="1993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1938528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feature scaling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2194560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Normalize; center; handle missing values — critical for distance-based algorithms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89120" y="2505456"/>
            <a:ext cx="0" cy="201168"/>
          </a:xfrm>
          <a:prstGeom prst="line">
            <a:avLst/>
          </a:prstGeom>
          <a:noFill/>
          <a:ln w="19050">
            <a:solidFill>
              <a:srgbClr val="5DCA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20240" y="2706624"/>
            <a:ext cx="4937760" cy="749808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029968" y="2898648"/>
            <a:ext cx="365760" cy="365760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029968" y="2898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68880" y="2798064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discovery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468880" y="3054096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Cluster, reduce dimensions, or model density — patterns emerge from X itself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0" y="3456432"/>
            <a:ext cx="0" cy="201168"/>
          </a:xfrm>
          <a:prstGeom prst="line">
            <a:avLst/>
          </a:prstGeom>
          <a:noFill/>
          <a:ln w="19050">
            <a:solidFill>
              <a:srgbClr val="5DCAA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920240" y="3657600"/>
            <a:ext cx="4937760" cy="658368"/>
          </a:xfrm>
          <a:prstGeom prst="rect">
            <a:avLst/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029968" y="3803904"/>
            <a:ext cx="365760" cy="365760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29968" y="380390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3749040"/>
            <a:ext cx="4279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&amp; validate structure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8880" y="4005072"/>
            <a:ext cx="42793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metrics (silhouette, gap statistic) + domain interpretation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987552"/>
            <a:ext cx="2286000" cy="3328416"/>
          </a:xfrm>
          <a:prstGeom prst="rect">
            <a:avLst/>
          </a:prstGeom>
          <a:solidFill>
            <a:srgbClr val="E1F5EE"/>
          </a:solidFill>
          <a:ln w="12700">
            <a:solidFill>
              <a:srgbClr val="5DCA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0" y="104241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scaling matters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1371600"/>
            <a:ext cx="210312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PCA, and hierarchical clustering compute distances or covariances. A variable measured in thousands dominates over one measured in single digits. Without normalization, the geometry of the feature space is distorted before any learning occurs.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— core structure discovery algorithms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206240" cy="1920240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206240" cy="43891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0058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00400" y="1005840"/>
            <a:ext cx="1216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observations to K clusters by minimizing within-cluster sum of squares.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Σₖ Σᵢ∈Cₖ ‖xᵢ − μₖ‖²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via silhouette, gap statistic, or elbow method.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4206240" cy="1920240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206240" cy="438912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64608" y="100584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35240" y="1005840"/>
            <a:ext cx="1216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Agglomerative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92040" y="1508760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dendrogram by merging (or splitting) observations based on linkage criteria (single, complete, average, Ward).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pre-specify K.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108960"/>
            <a:ext cx="4206240" cy="192024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4206240" cy="438912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9768" y="31089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0400" y="3108960"/>
            <a:ext cx="1216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orthogonal linear combinations of variables that capture maximum variance.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 features to d components (d &lt;&lt; p) for visualization and downstream modeling.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4206240" cy="192024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54880" y="3108960"/>
            <a:ext cx="4206240" cy="438912"/>
          </a:xfrm>
          <a:prstGeom prst="rect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31089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estimation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635240" y="3108960"/>
            <a:ext cx="12161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modeling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93192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the underlying probability distribution P(X).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Models, kernel density estimation.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detection: points in low-density regions.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— complete workflow at a glance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1097280" cy="100584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0392" y="1993392"/>
            <a:ext cx="310896" cy="3108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only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54480" y="2423160"/>
            <a:ext cx="329184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83664" y="1920240"/>
            <a:ext cx="1097280" cy="100584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276856" y="1993392"/>
            <a:ext cx="310896" cy="3108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76856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83664" y="23774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83664" y="26334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clean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80944" y="2423160"/>
            <a:ext cx="329184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10128" y="1920240"/>
            <a:ext cx="1097280" cy="1005840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03320" y="1993392"/>
            <a:ext cx="310896" cy="31089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03320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10128" y="23774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26334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Cluster/reduce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07408" y="2423160"/>
            <a:ext cx="329184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36592" y="1920240"/>
            <a:ext cx="1097280" cy="100584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129784" y="1993392"/>
            <a:ext cx="310896" cy="3108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9784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23774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36592" y="26334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metrics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33872" y="2423160"/>
            <a:ext cx="329184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63056" y="1920240"/>
            <a:ext cx="1097280" cy="1005840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556248" y="1993392"/>
            <a:ext cx="310896" cy="310896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56248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63056" y="23774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63056" y="26334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judgment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260336" y="2423160"/>
            <a:ext cx="329184" cy="0"/>
          </a:xfrm>
          <a:prstGeom prst="line">
            <a:avLst/>
          </a:prstGeom>
          <a:noFill/>
          <a:ln w="15240">
            <a:solidFill>
              <a:srgbClr val="B4B2A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589520" y="1920240"/>
            <a:ext cx="1097280" cy="100584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982712" y="1993392"/>
            <a:ext cx="310896" cy="310896"/>
          </a:xfrm>
          <a:prstGeom prst="ellipse">
            <a:avLst/>
          </a:prstGeom>
          <a:solidFill>
            <a:srgbClr val="5F5E5A"/>
          </a:solidFill>
          <a:ln w="12700">
            <a:solidFill>
              <a:srgbClr val="5F5E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982712" y="19933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589520" y="23774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589520" y="26334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check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solidFill>
            <a:srgbClr val="FAEEDA"/>
          </a:solidFill>
          <a:ln w="1016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94360" y="3200400"/>
            <a:ext cx="7955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absence: no label y anywhere in this pipeline. There is no loss function comparing predictions to ground truth — the model finds patterns that are simply there in X.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3767328"/>
            <a:ext cx="8229600" cy="694944"/>
          </a:xfrm>
          <a:prstGeom prst="rect">
            <a:avLst/>
          </a:prstGeom>
          <a:solidFill>
            <a:srgbClr val="E1F5EE"/>
          </a:solidFill>
          <a:ln w="10160">
            <a:solidFill>
              <a:srgbClr val="5DCA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94360" y="3831336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principle: without a criterion variable, evaluation is inherently more judgment-dependent. Discovered structure must be externally validated by asking whether clusters or components correspond to meaningful, theoretically coherent groupings.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" y="4562856"/>
            <a:ext cx="8229600" cy="411480"/>
          </a:xfrm>
          <a:prstGeom prst="rect">
            <a:avLst/>
          </a:prstGeom>
          <a:solidFill>
            <a:srgbClr val="F1EFE8"/>
          </a:solidFill>
          <a:ln w="10160">
            <a:solidFill>
              <a:srgbClr val="B4B2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94360" y="4608576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Psychometric analog: Exploratory Factor Analysis (EFA) and Latent Class Analysis (LCA) are classical unsupervised methods in psychometrics.</a:t>
            </a:r>
            <a:endParaRPr lang="en-US" sz="11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73152"/>
            <a:ext cx="8321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comparison — supervised vs. unsupervised, stage by stage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320040" y="960120"/>
          <a:ext cx="8503920" cy="382219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34AB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Unsupervised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X + labeled outcomes 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X only — no labels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Required — assigns y to every row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applicable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validation / test partition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no formal split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operation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L(y, ŷ) — supervised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Minimize within-cluster variance or maximize explained 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error on held-out test 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metrics + domain interpretation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Retrain until validation error stabilizes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 K or components; re-run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 ŷ for new 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labels, embeddings, components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Epistemic 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Confirmatory — tests a mapping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— generates structure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3200400"/>
            <a:ext cx="3200400" cy="3200400"/>
          </a:xfrm>
          <a:prstGeom prst="ellipse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32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SYNTHESIS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Unifying Themes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09928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7099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91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Bias-Variance Tradeoff is the unifying framework across all topics — from single trees to gradient boosting.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31720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3317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231343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methods (bagging, random forests, boosting) are fundamentally variance-reduction strategies — each with a different mechanism.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953512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35224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supervised/unsupervised distinction maps directly onto confirmatory/exploratory traditions in psychometrics.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575304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2920" y="357530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557016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= gradient descent in function space — connecting optimization theory to statistical learning.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197096"/>
            <a:ext cx="347472" cy="347472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1970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41788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concept connects to design &amp; measurement: model selection, latent class enumeration, predictive validity, process data analysis.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3190</Words>
  <Application>Microsoft Macintosh PowerPoint</Application>
  <PresentationFormat>On-screen Show (16:9)</PresentationFormat>
  <Paragraphs>591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Learning: Statistical Foundations</dc:title>
  <dc:subject>PptxGenJS Presentation</dc:subject>
  <dc:creator>Howard Everson</dc:creator>
  <cp:lastModifiedBy>Howard Everson</cp:lastModifiedBy>
  <cp:revision>6</cp:revision>
  <cp:lastPrinted>2026-04-23T18:24:15Z</cp:lastPrinted>
  <dcterms:created xsi:type="dcterms:W3CDTF">2026-04-23T17:12:40Z</dcterms:created>
  <dcterms:modified xsi:type="dcterms:W3CDTF">2026-04-23T19:13:23Z</dcterms:modified>
</cp:coreProperties>
</file>